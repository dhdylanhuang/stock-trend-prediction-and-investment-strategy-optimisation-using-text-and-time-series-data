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MiSans" pitchFamily="2" charset="-122"/>
      <p:regular r:id=""/>
    </p:embeddedFont>
    <p:embeddedFont>
      <p:font typeface="Liter" panose="02000503030000020004" pitchFamily="2" charset="0"/>
      <p:regular r:id=""/>
    </p:embeddedFont>
    <p:embeddedFont>
      <p:font typeface="Quattrocento Sans" panose="020B05020500000200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47"/>
    <p:restoredTop sz="94610"/>
  </p:normalViewPr>
  <p:slideViewPr>
    <p:cSldViewPr snapToGrid="0" snapToObjects="1">
      <p:cViewPr varScale="1">
        <p:scale>
          <a:sx n="204" d="100"/>
          <a:sy n="204" d="100"/>
        </p:scale>
        <p:origin x="23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445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c76d292a0ac80329fa1f94871f081e098543284c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4A5568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Shape 1"/>
          <p:cNvSpPr/>
          <p:nvPr/>
        </p:nvSpPr>
        <p:spPr>
          <a:xfrm>
            <a:off x="255062" y="342901"/>
            <a:ext cx="785275" cy="685799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B3ED">
              <a:alpha val="20000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3"/>
          <p:cNvSpPr/>
          <p:nvPr/>
        </p:nvSpPr>
        <p:spPr>
          <a:xfrm>
            <a:off x="1143000" y="438150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of Glasgow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" y="70485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 of Computing Science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81280" y="381000"/>
            <a:ext cx="24282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</a:rPr>
              <a:t>Level 4 Dissertation Presentation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771162" y="6096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March 19, 2026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2500313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Trust-Aware Stock Trend Prediction and</a:t>
            </a: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Strategy Optimisation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81000" y="3871913"/>
            <a:ext cx="115443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Deep Neural Networks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33797" y="4867275"/>
            <a:ext cx="3724405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Dylan </a:t>
            </a:r>
            <a:r>
              <a:rPr lang="en-US" sz="1500" dirty="0" err="1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ShengHong</a:t>
            </a:r>
            <a:r>
              <a:rPr lang="en-US" sz="15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Huang</a:t>
            </a:r>
          </a:p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chemeClr val="bg1"/>
                </a:solidFill>
                <a:latin typeface="Quattrocento Sans" pitchFamily="34" charset="0"/>
              </a:rPr>
              <a:t>2789356H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000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47700" y="62484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922562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170212" y="62484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Prediction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66691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014341" y="62484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Management</a:t>
            </a:r>
            <a:endParaRPr lang="en-US" sz="1600" dirty="0"/>
          </a:p>
        </p:txBody>
      </p:sp>
      <p:pic>
        <p:nvPicPr>
          <p:cNvPr id="21" name="Picture 20" descr="A blue shield with a fish and bell&#10;&#10;AI-generated content may be incorrect.">
            <a:extLst>
              <a:ext uri="{FF2B5EF4-FFF2-40B4-BE49-F238E27FC236}">
                <a16:creationId xmlns:a16="http://schemas.microsoft.com/office/drawing/2014/main" id="{7684C85B-F4B2-6658-17CA-CA4A27E7B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25" y="419100"/>
            <a:ext cx="372548" cy="571500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A55F933B-2620-818D-A988-8A395A725842}"/>
              </a:ext>
            </a:extLst>
          </p:cNvPr>
          <p:cNvSpPr/>
          <p:nvPr/>
        </p:nvSpPr>
        <p:spPr>
          <a:xfrm>
            <a:off x="5019805" y="5534026"/>
            <a:ext cx="2380989" cy="243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by Prof. Jose </a:t>
            </a:r>
            <a:r>
              <a:rPr lang="en-US" sz="1200" dirty="0" err="1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Joemon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3876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Prediction Paradox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3783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3B3ED"/>
                </a:solidFill>
                <a:latin typeface="Quattrocento Sans" pitchFamily="34" charset="0"/>
              </a:rPr>
              <a:t>“A predicted probability of 0.7 doesn’t mean the event happens 70% of the time” – Guo et al. (2017)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69231"/>
            <a:ext cx="5619750" cy="1695450"/>
          </a:xfrm>
          <a:custGeom>
            <a:avLst/>
            <a:gdLst/>
            <a:ahLst/>
            <a:cxnLst/>
            <a:rect l="l" t="t" r="r" b="b"/>
            <a:pathLst>
              <a:path w="5619750" h="1695450">
                <a:moveTo>
                  <a:pt x="38100" y="0"/>
                </a:moveTo>
                <a:lnTo>
                  <a:pt x="5505443" y="0"/>
                </a:lnTo>
                <a:cubicBezTo>
                  <a:pt x="5568573" y="0"/>
                  <a:pt x="5619750" y="51177"/>
                  <a:pt x="5619750" y="114307"/>
                </a:cubicBezTo>
                <a:lnTo>
                  <a:pt x="5619750" y="1581143"/>
                </a:lnTo>
                <a:cubicBezTo>
                  <a:pt x="5619750" y="1644273"/>
                  <a:pt x="5568573" y="1695450"/>
                  <a:pt x="5505443" y="1695450"/>
                </a:cubicBez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81000" y="1469231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3810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90550" y="16597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56565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23900" y="17930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162050" y="1740694"/>
            <a:ext cx="2762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Overconfidence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0550" y="2231231"/>
            <a:ext cx="5295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neural networks produce </a:t>
            </a: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miscalibrated probabilities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 predicted 70% confidence may only correspond to 50% empirical frequency. This systematic overconfidence leads to oversized positions.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3424237"/>
            <a:ext cx="5619750" cy="1885950"/>
          </a:xfrm>
          <a:custGeom>
            <a:avLst/>
            <a:gdLst/>
            <a:ahLst/>
            <a:cxnLst/>
            <a:rect l="l" t="t" r="r" b="b"/>
            <a:pathLst>
              <a:path w="5619750" h="1695450">
                <a:moveTo>
                  <a:pt x="38100" y="0"/>
                </a:moveTo>
                <a:lnTo>
                  <a:pt x="5505443" y="0"/>
                </a:lnTo>
                <a:cubicBezTo>
                  <a:pt x="5568573" y="0"/>
                  <a:pt x="5619750" y="51177"/>
                  <a:pt x="5619750" y="114307"/>
                </a:cubicBezTo>
                <a:lnTo>
                  <a:pt x="5619750" y="1581143"/>
                </a:lnTo>
                <a:cubicBezTo>
                  <a:pt x="5619750" y="1644273"/>
                  <a:pt x="5568573" y="1695450"/>
                  <a:pt x="5505443" y="1695450"/>
                </a:cubicBez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73381" y="3424237"/>
            <a:ext cx="45719" cy="18859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3810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90550" y="3753866"/>
            <a:ext cx="457200" cy="508571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56565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23900" y="3917183"/>
            <a:ext cx="190500" cy="211904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162050" y="3853024"/>
            <a:ext cx="1838325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Reliability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0550" y="4293259"/>
            <a:ext cx="5295900" cy="82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assume </a:t>
            </a: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constant predictive quality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all market regimes. In reality, performance fluctuates due to volatility clustering and regime shifts—models should know when NOT to trust themselves.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0" y="1469231"/>
            <a:ext cx="5619750" cy="1695450"/>
          </a:xfrm>
          <a:custGeom>
            <a:avLst/>
            <a:gdLst/>
            <a:ahLst/>
            <a:cxnLst/>
            <a:rect l="l" t="t" r="r" b="b"/>
            <a:pathLst>
              <a:path w="5619750" h="1695450">
                <a:moveTo>
                  <a:pt x="38100" y="0"/>
                </a:moveTo>
                <a:lnTo>
                  <a:pt x="5505443" y="0"/>
                </a:lnTo>
                <a:cubicBezTo>
                  <a:pt x="5568573" y="0"/>
                  <a:pt x="5619750" y="51177"/>
                  <a:pt x="5619750" y="114307"/>
                </a:cubicBezTo>
                <a:lnTo>
                  <a:pt x="5619750" y="1581143"/>
                </a:lnTo>
                <a:cubicBezTo>
                  <a:pt x="5619750" y="1644273"/>
                  <a:pt x="5568573" y="1695450"/>
                  <a:pt x="5505443" y="1695450"/>
                </a:cubicBez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172200" y="1469231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3810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381750" y="16597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56565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503194" y="179308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255" y="-9265"/>
                </a:moveTo>
                <a:cubicBezTo>
                  <a:pt x="11757" y="-12762"/>
                  <a:pt x="6102" y="-12762"/>
                  <a:pt x="2642" y="-9265"/>
                </a:cubicBezTo>
                <a:cubicBezTo>
                  <a:pt x="-819" y="-5767"/>
                  <a:pt x="-856" y="-112"/>
                  <a:pt x="2604" y="3386"/>
                </a:cubicBezTo>
                <a:lnTo>
                  <a:pt x="199058" y="199839"/>
                </a:lnTo>
                <a:cubicBezTo>
                  <a:pt x="202555" y="203336"/>
                  <a:pt x="208211" y="203336"/>
                  <a:pt x="211671" y="199839"/>
                </a:cubicBezTo>
                <a:cubicBezTo>
                  <a:pt x="215131" y="196342"/>
                  <a:pt x="215168" y="190686"/>
                  <a:pt x="211671" y="187226"/>
                </a:cubicBezTo>
                <a:lnTo>
                  <a:pt x="166278" y="141833"/>
                </a:lnTo>
                <a:cubicBezTo>
                  <a:pt x="167841" y="140568"/>
                  <a:pt x="169366" y="139192"/>
                  <a:pt x="170780" y="137778"/>
                </a:cubicBezTo>
                <a:lnTo>
                  <a:pt x="197234" y="111323"/>
                </a:lnTo>
                <a:cubicBezTo>
                  <a:pt x="208136" y="100422"/>
                  <a:pt x="214275" y="85613"/>
                  <a:pt x="214275" y="70172"/>
                </a:cubicBezTo>
                <a:cubicBezTo>
                  <a:pt x="214275" y="38026"/>
                  <a:pt x="188230" y="11943"/>
                  <a:pt x="156046" y="11943"/>
                </a:cubicBezTo>
                <a:cubicBezTo>
                  <a:pt x="142168" y="11943"/>
                  <a:pt x="128848" y="16892"/>
                  <a:pt x="118356" y="25784"/>
                </a:cubicBezTo>
                <a:cubicBezTo>
                  <a:pt x="125909" y="29542"/>
                  <a:pt x="132755" y="34528"/>
                  <a:pt x="138633" y="40481"/>
                </a:cubicBezTo>
                <a:cubicBezTo>
                  <a:pt x="143880" y="37393"/>
                  <a:pt x="149870" y="35756"/>
                  <a:pt x="156046" y="35756"/>
                </a:cubicBezTo>
                <a:cubicBezTo>
                  <a:pt x="175059" y="35756"/>
                  <a:pt x="190463" y="51160"/>
                  <a:pt x="190463" y="70172"/>
                </a:cubicBezTo>
                <a:cubicBezTo>
                  <a:pt x="190463" y="79288"/>
                  <a:pt x="186854" y="88032"/>
                  <a:pt x="180380" y="94506"/>
                </a:cubicBezTo>
                <a:lnTo>
                  <a:pt x="153925" y="120960"/>
                </a:lnTo>
                <a:cubicBezTo>
                  <a:pt x="152474" y="122411"/>
                  <a:pt x="150912" y="123713"/>
                  <a:pt x="149237" y="124867"/>
                </a:cubicBezTo>
                <a:lnTo>
                  <a:pt x="131564" y="107193"/>
                </a:lnTo>
                <a:cubicBezTo>
                  <a:pt x="137703" y="106859"/>
                  <a:pt x="142615" y="101836"/>
                  <a:pt x="142801" y="95622"/>
                </a:cubicBezTo>
                <a:cubicBezTo>
                  <a:pt x="142801" y="95138"/>
                  <a:pt x="142801" y="94655"/>
                  <a:pt x="142801" y="94171"/>
                </a:cubicBezTo>
                <a:cubicBezTo>
                  <a:pt x="142801" y="62061"/>
                  <a:pt x="116793" y="35793"/>
                  <a:pt x="84572" y="35793"/>
                </a:cubicBezTo>
                <a:cubicBezTo>
                  <a:pt x="77428" y="35793"/>
                  <a:pt x="70470" y="37095"/>
                  <a:pt x="63922" y="39588"/>
                </a:cubicBezTo>
                <a:lnTo>
                  <a:pt x="15255" y="-9265"/>
                </a:lnTo>
                <a:close/>
                <a:moveTo>
                  <a:pt x="84051" y="59531"/>
                </a:moveTo>
                <a:cubicBezTo>
                  <a:pt x="84274" y="59531"/>
                  <a:pt x="84460" y="59531"/>
                  <a:pt x="84683" y="59531"/>
                </a:cubicBezTo>
                <a:cubicBezTo>
                  <a:pt x="90301" y="59531"/>
                  <a:pt x="95659" y="60908"/>
                  <a:pt x="100347" y="63326"/>
                </a:cubicBezTo>
                <a:cubicBezTo>
                  <a:pt x="101017" y="63773"/>
                  <a:pt x="101687" y="64182"/>
                  <a:pt x="102394" y="64480"/>
                </a:cubicBezTo>
                <a:cubicBezTo>
                  <a:pt x="112365" y="70545"/>
                  <a:pt x="119063" y="81558"/>
                  <a:pt x="119063" y="94097"/>
                </a:cubicBezTo>
                <a:cubicBezTo>
                  <a:pt x="119063" y="94245"/>
                  <a:pt x="119063" y="94394"/>
                  <a:pt x="119063" y="94543"/>
                </a:cubicBezTo>
                <a:lnTo>
                  <a:pt x="84051" y="59531"/>
                </a:lnTo>
                <a:close/>
                <a:moveTo>
                  <a:pt x="128811" y="154781"/>
                </a:moveTo>
                <a:lnTo>
                  <a:pt x="71438" y="97408"/>
                </a:lnTo>
                <a:cubicBezTo>
                  <a:pt x="71884" y="128885"/>
                  <a:pt x="97334" y="154298"/>
                  <a:pt x="128774" y="154744"/>
                </a:cubicBezTo>
                <a:close/>
                <a:moveTo>
                  <a:pt x="51978" y="77949"/>
                </a:moveTo>
                <a:lnTo>
                  <a:pt x="35123" y="61094"/>
                </a:lnTo>
                <a:lnTo>
                  <a:pt x="17041" y="79177"/>
                </a:lnTo>
                <a:cubicBezTo>
                  <a:pt x="6139" y="90078"/>
                  <a:pt x="0" y="104887"/>
                  <a:pt x="0" y="120328"/>
                </a:cubicBezTo>
                <a:cubicBezTo>
                  <a:pt x="0" y="152474"/>
                  <a:pt x="26045" y="178557"/>
                  <a:pt x="58229" y="178557"/>
                </a:cubicBezTo>
                <a:cubicBezTo>
                  <a:pt x="72070" y="178557"/>
                  <a:pt x="85427" y="173608"/>
                  <a:pt x="95920" y="164716"/>
                </a:cubicBezTo>
                <a:cubicBezTo>
                  <a:pt x="88367" y="160958"/>
                  <a:pt x="81483" y="155972"/>
                  <a:pt x="75605" y="150019"/>
                </a:cubicBezTo>
                <a:cubicBezTo>
                  <a:pt x="70396" y="153070"/>
                  <a:pt x="64405" y="154707"/>
                  <a:pt x="58229" y="154707"/>
                </a:cubicBezTo>
                <a:cubicBezTo>
                  <a:pt x="39216" y="154707"/>
                  <a:pt x="23812" y="139303"/>
                  <a:pt x="23812" y="120290"/>
                </a:cubicBezTo>
                <a:cubicBezTo>
                  <a:pt x="23812" y="111175"/>
                  <a:pt x="27422" y="102431"/>
                  <a:pt x="33896" y="95957"/>
                </a:cubicBezTo>
                <a:lnTo>
                  <a:pt x="51978" y="77874"/>
                </a:ln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953250" y="1740694"/>
            <a:ext cx="28575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Prediction-Allocation Gap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1750" y="2231231"/>
            <a:ext cx="53175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evaluates models on </a:t>
            </a: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metrics alone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ignoring how predictions translate to capital allocation. </a:t>
            </a:r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model with 52% accuracy can be </a:t>
            </a: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profitable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catastrophic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depending on position sizing.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53150" y="3424237"/>
            <a:ext cx="5638800" cy="1905000"/>
          </a:xfrm>
          <a:custGeom>
            <a:avLst/>
            <a:gdLst/>
            <a:ahLst/>
            <a:cxnLst/>
            <a:rect l="l" t="t" r="r" b="b"/>
            <a:pathLst>
              <a:path w="5638800" h="1905000">
                <a:moveTo>
                  <a:pt x="114300" y="0"/>
                </a:moveTo>
                <a:lnTo>
                  <a:pt x="5524500" y="0"/>
                </a:lnTo>
                <a:cubicBezTo>
                  <a:pt x="5587584" y="0"/>
                  <a:pt x="5638800" y="51216"/>
                  <a:pt x="5638800" y="114300"/>
                </a:cubicBezTo>
                <a:lnTo>
                  <a:pt x="5638800" y="1790700"/>
                </a:lnTo>
                <a:cubicBezTo>
                  <a:pt x="5638800" y="1853784"/>
                  <a:pt x="5587584" y="1905000"/>
                  <a:pt x="5524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63B3ED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200775" y="3614737"/>
            <a:ext cx="5543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96025" y="4262437"/>
            <a:ext cx="535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≠ Profitability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5550" y="4643437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calibration, reliability modeling, and principled allocation, </a:t>
            </a:r>
            <a:r>
              <a:rPr lang="en-US" sz="1200" b="1" dirty="0">
                <a:solidFill>
                  <a:srgbClr val="F56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 high-accuracy models can generate losses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000" y="6019800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76202" y="0"/>
                </a:moveTo>
                <a:lnTo>
                  <a:pt x="11353798" y="0"/>
                </a:lnTo>
                <a:cubicBezTo>
                  <a:pt x="11395883" y="0"/>
                  <a:pt x="11430000" y="34117"/>
                  <a:pt x="11430000" y="76202"/>
                </a:cubicBezTo>
                <a:lnTo>
                  <a:pt x="11430000" y="380998"/>
                </a:lnTo>
                <a:cubicBezTo>
                  <a:pt x="11430000" y="423083"/>
                  <a:pt x="11395883" y="457200"/>
                  <a:pt x="113537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42925" y="6153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47725" y="6134100"/>
            <a:ext cx="675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Financial prediction must be evaluated as a </a:t>
            </a:r>
            <a:r>
              <a:rPr lang="en-US" sz="1200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system</a:t>
            </a: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not just a classification task.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3971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Everyone Else Did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baseline and the gap they left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11430000" cy="1943100"/>
          </a:xfrm>
          <a:custGeom>
            <a:avLst/>
            <a:gdLst/>
            <a:ahLst/>
            <a:cxnLst/>
            <a:rect l="l" t="t" r="r" b="b"/>
            <a:pathLst>
              <a:path w="11430000" h="1943100">
                <a:moveTo>
                  <a:pt x="114293" y="0"/>
                </a:moveTo>
                <a:lnTo>
                  <a:pt x="11315707" y="0"/>
                </a:lnTo>
                <a:cubicBezTo>
                  <a:pt x="11378787" y="0"/>
                  <a:pt x="11430000" y="51213"/>
                  <a:pt x="11430000" y="114293"/>
                </a:cubicBezTo>
                <a:lnTo>
                  <a:pt x="11430000" y="1828807"/>
                </a:lnTo>
                <a:cubicBezTo>
                  <a:pt x="11430000" y="1891887"/>
                  <a:pt x="11378787" y="1943100"/>
                  <a:pt x="11315707" y="1943100"/>
                </a:cubicBezTo>
                <a:lnTo>
                  <a:pt x="114293" y="1943100"/>
                </a:lnTo>
                <a:cubicBezTo>
                  <a:pt x="51213" y="1943100"/>
                  <a:pt x="0" y="1891887"/>
                  <a:pt x="0" y="18288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2D3748">
                  <a:alpha val="4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71500" y="1509713"/>
            <a:ext cx="38576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StockNet (Xu &amp; Cohen, 2018)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843088"/>
            <a:ext cx="3819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State-of-the-art baseline for multimodal stock prediction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75664" y="1447800"/>
            <a:ext cx="1543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6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0.080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28064" y="19050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Score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286000"/>
            <a:ext cx="3581400" cy="723900"/>
          </a:xfrm>
          <a:custGeom>
            <a:avLst/>
            <a:gdLst/>
            <a:ahLst/>
            <a:cxnLst/>
            <a:rect l="l" t="t" r="r" b="b"/>
            <a:pathLst>
              <a:path w="3581400" h="723900">
                <a:moveTo>
                  <a:pt x="76198" y="0"/>
                </a:moveTo>
                <a:lnTo>
                  <a:pt x="3505202" y="0"/>
                </a:lnTo>
                <a:cubicBezTo>
                  <a:pt x="3547257" y="0"/>
                  <a:pt x="3581400" y="34143"/>
                  <a:pt x="3581400" y="76198"/>
                </a:cubicBezTo>
                <a:lnTo>
                  <a:pt x="3581400" y="647702"/>
                </a:lnTo>
                <a:cubicBezTo>
                  <a:pt x="3581400" y="689757"/>
                  <a:pt x="3547257" y="723900"/>
                  <a:pt x="35052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85800" y="24003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667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Variational autoencoder with temporal attention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05300" y="2286000"/>
            <a:ext cx="3581400" cy="723900"/>
          </a:xfrm>
          <a:custGeom>
            <a:avLst/>
            <a:gdLst/>
            <a:ahLst/>
            <a:cxnLst/>
            <a:rect l="l" t="t" r="r" b="b"/>
            <a:pathLst>
              <a:path w="3581400" h="723900">
                <a:moveTo>
                  <a:pt x="76198" y="0"/>
                </a:moveTo>
                <a:lnTo>
                  <a:pt x="3505202" y="0"/>
                </a:lnTo>
                <a:cubicBezTo>
                  <a:pt x="3547257" y="0"/>
                  <a:pt x="3581400" y="34143"/>
                  <a:pt x="3581400" y="76198"/>
                </a:cubicBezTo>
                <a:lnTo>
                  <a:pt x="3581400" y="647702"/>
                </a:lnTo>
                <a:cubicBezTo>
                  <a:pt x="3581400" y="689757"/>
                  <a:pt x="3547257" y="723900"/>
                  <a:pt x="35052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419600" y="24003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19600" y="2667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88 U.S. stocks, Twitter + price data (2014-2016)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39100" y="2286000"/>
            <a:ext cx="3581400" cy="723900"/>
          </a:xfrm>
          <a:custGeom>
            <a:avLst/>
            <a:gdLst/>
            <a:ahLst/>
            <a:cxnLst/>
            <a:rect l="l" t="t" r="r" b="b"/>
            <a:pathLst>
              <a:path w="3581400" h="723900">
                <a:moveTo>
                  <a:pt x="76198" y="0"/>
                </a:moveTo>
                <a:lnTo>
                  <a:pt x="3505202" y="0"/>
                </a:lnTo>
                <a:cubicBezTo>
                  <a:pt x="3547257" y="0"/>
                  <a:pt x="3581400" y="34143"/>
                  <a:pt x="3581400" y="76198"/>
                </a:cubicBezTo>
                <a:lnTo>
                  <a:pt x="3581400" y="647702"/>
                </a:lnTo>
                <a:cubicBezTo>
                  <a:pt x="3581400" y="689757"/>
                  <a:pt x="3547257" y="723900"/>
                  <a:pt x="35052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153400" y="24003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53400" y="2667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Accuracy, MCC on next-day prediction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352800"/>
            <a:ext cx="5619750" cy="3124200"/>
          </a:xfrm>
          <a:custGeom>
            <a:avLst/>
            <a:gdLst/>
            <a:ahLst/>
            <a:cxnLst/>
            <a:rect l="l" t="t" r="r" b="b"/>
            <a:pathLst>
              <a:path w="5619750" h="3124200">
                <a:moveTo>
                  <a:pt x="38100" y="0"/>
                </a:moveTo>
                <a:lnTo>
                  <a:pt x="5505436" y="0"/>
                </a:lnTo>
                <a:cubicBezTo>
                  <a:pt x="5568570" y="0"/>
                  <a:pt x="5619750" y="51180"/>
                  <a:pt x="5619750" y="114314"/>
                </a:cubicBezTo>
                <a:lnTo>
                  <a:pt x="5619750" y="3009886"/>
                </a:lnTo>
                <a:cubicBezTo>
                  <a:pt x="5619750" y="3073020"/>
                  <a:pt x="5568570" y="3124200"/>
                  <a:pt x="5505436" y="3124200"/>
                </a:cubicBezTo>
                <a:lnTo>
                  <a:pt x="38100" y="3124200"/>
                </a:lnTo>
                <a:cubicBezTo>
                  <a:pt x="17072" y="3124200"/>
                  <a:pt x="0" y="3107128"/>
                  <a:pt x="0" y="3086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00050" y="3352800"/>
            <a:ext cx="38100" cy="3124200"/>
          </a:xfrm>
          <a:custGeom>
            <a:avLst/>
            <a:gdLst/>
            <a:ahLst/>
            <a:cxnLst/>
            <a:rect l="l" t="t" r="r" b="b"/>
            <a:pathLst>
              <a:path w="38100" h="3124200">
                <a:moveTo>
                  <a:pt x="38100" y="0"/>
                </a:moveTo>
                <a:lnTo>
                  <a:pt x="38100" y="0"/>
                </a:lnTo>
                <a:lnTo>
                  <a:pt x="38100" y="3124200"/>
                </a:lnTo>
                <a:lnTo>
                  <a:pt x="38100" y="3124200"/>
                </a:lnTo>
                <a:cubicBezTo>
                  <a:pt x="17072" y="3124200"/>
                  <a:pt x="0" y="3107128"/>
                  <a:pt x="0" y="3086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38175" y="35766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95350" y="3543300"/>
            <a:ext cx="5048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40290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6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5806" y="3990975"/>
            <a:ext cx="5172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probability calibration: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Raw neural outputs treated as reliable probabilities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600" y="46005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6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5806" y="4562475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reliability: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confidence assumed constant across regimes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49815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6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5806" y="4943475"/>
            <a:ext cx="402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horizon only: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exploration of multi-day predictions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9600" y="53625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6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5806" y="532447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economic evaluation: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Predictions never tested in investment simulation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9600" y="57435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6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5806" y="5705475"/>
            <a:ext cx="454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Dead-zone filtering: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Small movements excluded, inflating accuracy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1250" y="3352800"/>
            <a:ext cx="5619750" cy="3124200"/>
          </a:xfrm>
          <a:custGeom>
            <a:avLst/>
            <a:gdLst/>
            <a:ahLst/>
            <a:cxnLst/>
            <a:rect l="l" t="t" r="r" b="b"/>
            <a:pathLst>
              <a:path w="5619750" h="3124200">
                <a:moveTo>
                  <a:pt x="38100" y="0"/>
                </a:moveTo>
                <a:lnTo>
                  <a:pt x="5505436" y="0"/>
                </a:lnTo>
                <a:cubicBezTo>
                  <a:pt x="5568570" y="0"/>
                  <a:pt x="5619750" y="51180"/>
                  <a:pt x="5619750" y="114314"/>
                </a:cubicBezTo>
                <a:lnTo>
                  <a:pt x="5619750" y="3009886"/>
                </a:lnTo>
                <a:cubicBezTo>
                  <a:pt x="5619750" y="3073020"/>
                  <a:pt x="5568570" y="3124200"/>
                  <a:pt x="5505436" y="3124200"/>
                </a:cubicBezTo>
                <a:lnTo>
                  <a:pt x="38100" y="3124200"/>
                </a:lnTo>
                <a:cubicBezTo>
                  <a:pt x="17072" y="3124200"/>
                  <a:pt x="0" y="3107128"/>
                  <a:pt x="0" y="3086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191250" y="3352800"/>
            <a:ext cx="38100" cy="3124200"/>
          </a:xfrm>
          <a:custGeom>
            <a:avLst/>
            <a:gdLst/>
            <a:ahLst/>
            <a:cxnLst/>
            <a:rect l="l" t="t" r="r" b="b"/>
            <a:pathLst>
              <a:path w="38100" h="3124200">
                <a:moveTo>
                  <a:pt x="38100" y="0"/>
                </a:moveTo>
                <a:lnTo>
                  <a:pt x="38100" y="0"/>
                </a:lnTo>
                <a:lnTo>
                  <a:pt x="38100" y="3124200"/>
                </a:lnTo>
                <a:lnTo>
                  <a:pt x="38100" y="3124200"/>
                </a:lnTo>
                <a:cubicBezTo>
                  <a:pt x="17072" y="3124200"/>
                  <a:pt x="0" y="3107128"/>
                  <a:pt x="0" y="3086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429375" y="35766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686550" y="3543300"/>
            <a:ext cx="5048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Extensions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0" y="40290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27006" y="3990975"/>
            <a:ext cx="440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 calibration: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Isotonic regression &amp; temperature scaling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0" y="44100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27006" y="4371975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Meta-features: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Prior errors as reliability signals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0800" y="47910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27006" y="4752975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horizons: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1-day and 5-day predictions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00800" y="51720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27006" y="5133975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 simulation: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economic evaluation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0800" y="55530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27006" y="5514975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filtering: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trading days included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4362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Integrated Framework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pipeline from data to decisions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76350"/>
            <a:ext cx="2743200" cy="4857750"/>
          </a:xfrm>
          <a:custGeom>
            <a:avLst/>
            <a:gdLst/>
            <a:ahLst/>
            <a:cxnLst/>
            <a:rect l="l" t="t" r="r" b="b"/>
            <a:pathLst>
              <a:path w="2743200" h="48577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4743441"/>
                </a:lnTo>
                <a:cubicBezTo>
                  <a:pt x="2743200" y="4806572"/>
                  <a:pt x="2692022" y="4857750"/>
                  <a:pt x="2628891" y="4857750"/>
                </a:cubicBezTo>
                <a:lnTo>
                  <a:pt x="114309" y="4857750"/>
                </a:lnTo>
                <a:cubicBezTo>
                  <a:pt x="51178" y="4857750"/>
                  <a:pt x="0" y="4806572"/>
                  <a:pt x="0" y="47434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63B3ED">
                  <a:alpha val="30000"/>
                </a:srgbClr>
              </a:gs>
              <a:gs pos="100000">
                <a:srgbClr val="4A5568">
                  <a:alpha val="2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81000" y="12763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334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5775" y="14478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4900" y="154305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Input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2019300"/>
            <a:ext cx="2438400" cy="1181100"/>
          </a:xfrm>
          <a:custGeom>
            <a:avLst/>
            <a:gdLst/>
            <a:ahLst/>
            <a:cxnLst/>
            <a:rect l="l" t="t" r="r" b="b"/>
            <a:pathLst>
              <a:path w="2438400" h="1181100">
                <a:moveTo>
                  <a:pt x="76205" y="0"/>
                </a:moveTo>
                <a:lnTo>
                  <a:pt x="2362195" y="0"/>
                </a:lnTo>
                <a:cubicBezTo>
                  <a:pt x="2404254" y="0"/>
                  <a:pt x="2438400" y="34146"/>
                  <a:pt x="2438400" y="76205"/>
                </a:cubicBezTo>
                <a:lnTo>
                  <a:pt x="2438400" y="1104895"/>
                </a:lnTo>
                <a:cubicBezTo>
                  <a:pt x="2438400" y="1146954"/>
                  <a:pt x="2404254" y="1181100"/>
                  <a:pt x="2362195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66750" y="2171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95350" y="21336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" y="24003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OHLCV, technical indicators (EMA, MACD, RSI, Bollinger Bands)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33400" y="3276600"/>
            <a:ext cx="2438400" cy="952500"/>
          </a:xfrm>
          <a:custGeom>
            <a:avLst/>
            <a:gdLst/>
            <a:ahLst/>
            <a:cxnLst/>
            <a:rect l="l" t="t" r="r" b="b"/>
            <a:pathLst>
              <a:path w="2438400" h="952500">
                <a:moveTo>
                  <a:pt x="76200" y="0"/>
                </a:moveTo>
                <a:lnTo>
                  <a:pt x="2362200" y="0"/>
                </a:lnTo>
                <a:cubicBezTo>
                  <a:pt x="2404256" y="0"/>
                  <a:pt x="2438400" y="34144"/>
                  <a:pt x="2438400" y="76200"/>
                </a:cubicBezTo>
                <a:lnTo>
                  <a:pt x="2438400" y="876300"/>
                </a:lnTo>
                <a:cubicBezTo>
                  <a:pt x="2438400" y="918356"/>
                  <a:pt x="2404256" y="952500"/>
                  <a:pt x="23622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66750" y="3429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1438"/>
                </a:moveTo>
                <a:cubicBezTo>
                  <a:pt x="152400" y="110877"/>
                  <a:pt x="118289" y="142875"/>
                  <a:pt x="76200" y="142875"/>
                </a:cubicBezTo>
                <a:cubicBezTo>
                  <a:pt x="65157" y="142875"/>
                  <a:pt x="54679" y="140672"/>
                  <a:pt x="45214" y="136714"/>
                </a:cubicBezTo>
                <a:lnTo>
                  <a:pt x="9971" y="151834"/>
                </a:lnTo>
                <a:cubicBezTo>
                  <a:pt x="7174" y="153025"/>
                  <a:pt x="3959" y="152340"/>
                  <a:pt x="1905" y="150108"/>
                </a:cubicBezTo>
                <a:cubicBezTo>
                  <a:pt x="-149" y="147876"/>
                  <a:pt x="-595" y="144601"/>
                  <a:pt x="833" y="141923"/>
                </a:cubicBezTo>
                <a:lnTo>
                  <a:pt x="15359" y="114479"/>
                </a:lnTo>
                <a:cubicBezTo>
                  <a:pt x="5715" y="102483"/>
                  <a:pt x="0" y="87600"/>
                  <a:pt x="0" y="71438"/>
                </a:cubicBezTo>
                <a:cubicBezTo>
                  <a:pt x="0" y="31998"/>
                  <a:pt x="34111" y="0"/>
                  <a:pt x="76200" y="0"/>
                </a:cubicBezTo>
                <a:cubicBezTo>
                  <a:pt x="118289" y="0"/>
                  <a:pt x="152400" y="31998"/>
                  <a:pt x="152400" y="71438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95350" y="33909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Textual Features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70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 sentiment, emotion scores, FinBERT, stance detection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3400" y="4305300"/>
            <a:ext cx="2438400" cy="952500"/>
          </a:xfrm>
          <a:custGeom>
            <a:avLst/>
            <a:gdLst/>
            <a:ahLst/>
            <a:cxnLst/>
            <a:rect l="l" t="t" r="r" b="b"/>
            <a:pathLst>
              <a:path w="2438400" h="952500">
                <a:moveTo>
                  <a:pt x="76200" y="0"/>
                </a:moveTo>
                <a:lnTo>
                  <a:pt x="2362200" y="0"/>
                </a:lnTo>
                <a:cubicBezTo>
                  <a:pt x="2404256" y="0"/>
                  <a:pt x="2438400" y="34144"/>
                  <a:pt x="2438400" y="76200"/>
                </a:cubicBezTo>
                <a:lnTo>
                  <a:pt x="2438400" y="876300"/>
                </a:lnTo>
                <a:cubicBezTo>
                  <a:pt x="2438400" y="918356"/>
                  <a:pt x="2404256" y="952500"/>
                  <a:pt x="23622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85800" y="4457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95350" y="44196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Sector Context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700" y="46863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Sector-level aggregates, cross-asset relationships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76600" y="1276350"/>
            <a:ext cx="2743200" cy="4857750"/>
          </a:xfrm>
          <a:custGeom>
            <a:avLst/>
            <a:gdLst/>
            <a:ahLst/>
            <a:cxnLst/>
            <a:rect l="l" t="t" r="r" b="b"/>
            <a:pathLst>
              <a:path w="2743200" h="48577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4743441"/>
                </a:lnTo>
                <a:cubicBezTo>
                  <a:pt x="2743200" y="4806572"/>
                  <a:pt x="2692022" y="4857750"/>
                  <a:pt x="2628891" y="4857750"/>
                </a:cubicBezTo>
                <a:lnTo>
                  <a:pt x="114309" y="4857750"/>
                </a:lnTo>
                <a:cubicBezTo>
                  <a:pt x="51178" y="4857750"/>
                  <a:pt x="0" y="4806572"/>
                  <a:pt x="0" y="47434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63B3ED">
                  <a:alpha val="30000"/>
                </a:srgbClr>
              </a:gs>
              <a:gs pos="100000">
                <a:srgbClr val="4A5568">
                  <a:alpha val="2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276600" y="12763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4290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381375" y="14478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000500" y="154305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29000" y="2019300"/>
            <a:ext cx="2438400" cy="1219200"/>
          </a:xfrm>
          <a:custGeom>
            <a:avLst/>
            <a:gdLst/>
            <a:ahLst/>
            <a:cxnLst/>
            <a:rect l="l" t="t" r="r" b="b"/>
            <a:pathLst>
              <a:path w="2438400" h="1219200">
                <a:moveTo>
                  <a:pt x="76200" y="0"/>
                </a:moveTo>
                <a:lnTo>
                  <a:pt x="2362200" y="0"/>
                </a:lnTo>
                <a:cubicBezTo>
                  <a:pt x="2404256" y="0"/>
                  <a:pt x="2438400" y="34144"/>
                  <a:pt x="2438400" y="76200"/>
                </a:cubicBezTo>
                <a:lnTo>
                  <a:pt x="2438400" y="1143000"/>
                </a:lnTo>
                <a:cubicBezTo>
                  <a:pt x="2438400" y="1185056"/>
                  <a:pt x="2404256" y="1219200"/>
                  <a:pt x="23622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543300" y="2133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543300" y="2438400"/>
            <a:ext cx="1066800" cy="304800"/>
          </a:xfrm>
          <a:custGeom>
            <a:avLst/>
            <a:gdLst/>
            <a:ahLst/>
            <a:cxnLst/>
            <a:rect l="l" t="t" r="r" b="b"/>
            <a:pathLst>
              <a:path w="1066800" h="304800">
                <a:moveTo>
                  <a:pt x="38100" y="0"/>
                </a:moveTo>
                <a:lnTo>
                  <a:pt x="1028700" y="0"/>
                </a:lnTo>
                <a:cubicBezTo>
                  <a:pt x="1049728" y="0"/>
                  <a:pt x="1066800" y="17072"/>
                  <a:pt x="1066800" y="38100"/>
                </a:cubicBezTo>
                <a:lnTo>
                  <a:pt x="1066800" y="266700"/>
                </a:lnTo>
                <a:cubicBezTo>
                  <a:pt x="1066800" y="287728"/>
                  <a:pt x="1049728" y="304800"/>
                  <a:pt x="1028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505200" y="2438400"/>
            <a:ext cx="1143000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LSTM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86300" y="2438400"/>
            <a:ext cx="1066800" cy="304800"/>
          </a:xfrm>
          <a:custGeom>
            <a:avLst/>
            <a:gdLst/>
            <a:ahLst/>
            <a:cxnLst/>
            <a:rect l="l" t="t" r="r" b="b"/>
            <a:pathLst>
              <a:path w="1066800" h="304800">
                <a:moveTo>
                  <a:pt x="38100" y="0"/>
                </a:moveTo>
                <a:lnTo>
                  <a:pt x="1028700" y="0"/>
                </a:lnTo>
                <a:cubicBezTo>
                  <a:pt x="1049728" y="0"/>
                  <a:pt x="1066800" y="17072"/>
                  <a:pt x="1066800" y="38100"/>
                </a:cubicBezTo>
                <a:lnTo>
                  <a:pt x="1066800" y="266700"/>
                </a:lnTo>
                <a:cubicBezTo>
                  <a:pt x="1066800" y="287728"/>
                  <a:pt x="1049728" y="304800"/>
                  <a:pt x="1028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648200" y="2438400"/>
            <a:ext cx="1143000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BiLSTM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543300" y="2819400"/>
            <a:ext cx="1066800" cy="304800"/>
          </a:xfrm>
          <a:custGeom>
            <a:avLst/>
            <a:gdLst/>
            <a:ahLst/>
            <a:cxnLst/>
            <a:rect l="l" t="t" r="r" b="b"/>
            <a:pathLst>
              <a:path w="1066800" h="304800">
                <a:moveTo>
                  <a:pt x="38100" y="0"/>
                </a:moveTo>
                <a:lnTo>
                  <a:pt x="1028700" y="0"/>
                </a:lnTo>
                <a:cubicBezTo>
                  <a:pt x="1049728" y="0"/>
                  <a:pt x="1066800" y="17072"/>
                  <a:pt x="1066800" y="38100"/>
                </a:cubicBezTo>
                <a:lnTo>
                  <a:pt x="1066800" y="266700"/>
                </a:lnTo>
                <a:cubicBezTo>
                  <a:pt x="1066800" y="287728"/>
                  <a:pt x="1049728" y="304800"/>
                  <a:pt x="1028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3505200" y="2819400"/>
            <a:ext cx="1143000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86300" y="2819400"/>
            <a:ext cx="1066800" cy="304800"/>
          </a:xfrm>
          <a:custGeom>
            <a:avLst/>
            <a:gdLst/>
            <a:ahLst/>
            <a:cxnLst/>
            <a:rect l="l" t="t" r="r" b="b"/>
            <a:pathLst>
              <a:path w="1066800" h="304800">
                <a:moveTo>
                  <a:pt x="38100" y="0"/>
                </a:moveTo>
                <a:lnTo>
                  <a:pt x="1028700" y="0"/>
                </a:lnTo>
                <a:cubicBezTo>
                  <a:pt x="1049728" y="0"/>
                  <a:pt x="1066800" y="17072"/>
                  <a:pt x="1066800" y="38100"/>
                </a:cubicBezTo>
                <a:lnTo>
                  <a:pt x="1066800" y="266700"/>
                </a:lnTo>
                <a:cubicBezTo>
                  <a:pt x="1066800" y="287728"/>
                  <a:pt x="1049728" y="304800"/>
                  <a:pt x="1028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648200" y="2819400"/>
            <a:ext cx="1143000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BiGRU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429000" y="3314700"/>
            <a:ext cx="2438400" cy="1295400"/>
          </a:xfrm>
          <a:custGeom>
            <a:avLst/>
            <a:gdLst/>
            <a:ahLst/>
            <a:cxnLst/>
            <a:rect l="l" t="t" r="r" b="b"/>
            <a:pathLst>
              <a:path w="2438400" h="1295400">
                <a:moveTo>
                  <a:pt x="76195" y="0"/>
                </a:moveTo>
                <a:lnTo>
                  <a:pt x="2362205" y="0"/>
                </a:lnTo>
                <a:cubicBezTo>
                  <a:pt x="2404258" y="0"/>
                  <a:pt x="2438400" y="34142"/>
                  <a:pt x="2438400" y="76195"/>
                </a:cubicBezTo>
                <a:lnTo>
                  <a:pt x="2438400" y="1219205"/>
                </a:lnTo>
                <a:cubicBezTo>
                  <a:pt x="2438400" y="1261286"/>
                  <a:pt x="2404286" y="1295400"/>
                  <a:pt x="23622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354330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Tasks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543300" y="3733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Binary: Up/Down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3543300" y="40005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Ordinal: Return buckets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3543300" y="4267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Regression: Magnitude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429000" y="4686300"/>
            <a:ext cx="2438400" cy="723900"/>
          </a:xfrm>
          <a:custGeom>
            <a:avLst/>
            <a:gdLst/>
            <a:ahLst/>
            <a:cxnLst/>
            <a:rect l="l" t="t" r="r" b="b"/>
            <a:pathLst>
              <a:path w="2438400" h="723900">
                <a:moveTo>
                  <a:pt x="76198" y="0"/>
                </a:moveTo>
                <a:lnTo>
                  <a:pt x="2362202" y="0"/>
                </a:lnTo>
                <a:cubicBezTo>
                  <a:pt x="2404257" y="0"/>
                  <a:pt x="2438400" y="34143"/>
                  <a:pt x="2438400" y="76198"/>
                </a:cubicBezTo>
                <a:lnTo>
                  <a:pt x="2438400" y="647702"/>
                </a:lnTo>
                <a:cubicBezTo>
                  <a:pt x="2438400" y="689757"/>
                  <a:pt x="2404257" y="723900"/>
                  <a:pt x="23622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35433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543300" y="5067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1-day and 5-day forecasts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172200" y="1276350"/>
            <a:ext cx="2743200" cy="4857750"/>
          </a:xfrm>
          <a:custGeom>
            <a:avLst/>
            <a:gdLst/>
            <a:ahLst/>
            <a:cxnLst/>
            <a:rect l="l" t="t" r="r" b="b"/>
            <a:pathLst>
              <a:path w="2743200" h="48577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4743441"/>
                </a:lnTo>
                <a:cubicBezTo>
                  <a:pt x="2743200" y="4806572"/>
                  <a:pt x="2692022" y="4857750"/>
                  <a:pt x="2628891" y="4857750"/>
                </a:cubicBezTo>
                <a:lnTo>
                  <a:pt x="114309" y="4857750"/>
                </a:lnTo>
                <a:cubicBezTo>
                  <a:pt x="51178" y="4857750"/>
                  <a:pt x="0" y="4806572"/>
                  <a:pt x="0" y="47434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63B3ED">
                  <a:alpha val="30000"/>
                </a:srgbClr>
              </a:gs>
              <a:gs pos="100000">
                <a:srgbClr val="4A5568">
                  <a:alpha val="2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6172200" y="12763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63246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6276975" y="14478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96100" y="1543050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 Layer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24600" y="3238500"/>
            <a:ext cx="2438400" cy="1181100"/>
          </a:xfrm>
          <a:custGeom>
            <a:avLst/>
            <a:gdLst/>
            <a:ahLst/>
            <a:cxnLst/>
            <a:rect l="l" t="t" r="r" b="b"/>
            <a:pathLst>
              <a:path w="2438400" h="1181100">
                <a:moveTo>
                  <a:pt x="76205" y="0"/>
                </a:moveTo>
                <a:lnTo>
                  <a:pt x="2362195" y="0"/>
                </a:lnTo>
                <a:cubicBezTo>
                  <a:pt x="2404254" y="0"/>
                  <a:pt x="2438400" y="34146"/>
                  <a:pt x="2438400" y="76205"/>
                </a:cubicBezTo>
                <a:lnTo>
                  <a:pt x="2438400" y="1104895"/>
                </a:lnTo>
                <a:cubicBezTo>
                  <a:pt x="2438400" y="1146954"/>
                  <a:pt x="2404254" y="1181100"/>
                  <a:pt x="2362195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6440727" y="345692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6686550" y="3400425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Calibration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38900" y="3652903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Isotonic regression &amp; temperature scaling for reliable probabilities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324600" y="1981200"/>
            <a:ext cx="2438400" cy="1181100"/>
          </a:xfrm>
          <a:custGeom>
            <a:avLst/>
            <a:gdLst/>
            <a:ahLst/>
            <a:cxnLst/>
            <a:rect l="l" t="t" r="r" b="b"/>
            <a:pathLst>
              <a:path w="2438400" h="1181100">
                <a:moveTo>
                  <a:pt x="76205" y="0"/>
                </a:moveTo>
                <a:lnTo>
                  <a:pt x="2362195" y="0"/>
                </a:lnTo>
                <a:cubicBezTo>
                  <a:pt x="2404254" y="0"/>
                  <a:pt x="2438400" y="34146"/>
                  <a:pt x="2438400" y="76205"/>
                </a:cubicBezTo>
                <a:lnTo>
                  <a:pt x="2438400" y="1104895"/>
                </a:lnTo>
                <a:cubicBezTo>
                  <a:pt x="2438400" y="1146954"/>
                  <a:pt x="2404254" y="1181100"/>
                  <a:pt x="2362195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55" name="Shape 53"/>
          <p:cNvSpPr/>
          <p:nvPr/>
        </p:nvSpPr>
        <p:spPr>
          <a:xfrm>
            <a:off x="6448425" y="21717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6686550" y="2137384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Meta-Features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57950" y="2438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 predictions &amp; errors as reliability signals (Brier, log-loss, MAE)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324600" y="4533900"/>
            <a:ext cx="2438400" cy="952500"/>
          </a:xfrm>
          <a:custGeom>
            <a:avLst/>
            <a:gdLst/>
            <a:ahLst/>
            <a:cxnLst/>
            <a:rect l="l" t="t" r="r" b="b"/>
            <a:pathLst>
              <a:path w="2438400" h="952500">
                <a:moveTo>
                  <a:pt x="76200" y="0"/>
                </a:moveTo>
                <a:lnTo>
                  <a:pt x="2362200" y="0"/>
                </a:lnTo>
                <a:cubicBezTo>
                  <a:pt x="2404256" y="0"/>
                  <a:pt x="2438400" y="34144"/>
                  <a:pt x="2438400" y="76200"/>
                </a:cubicBezTo>
                <a:lnTo>
                  <a:pt x="2438400" y="876300"/>
                </a:lnTo>
                <a:cubicBezTo>
                  <a:pt x="2438400" y="918356"/>
                  <a:pt x="2404256" y="952500"/>
                  <a:pt x="23622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6457950" y="4686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6686550" y="46482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Self-Assessment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38900" y="49149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learns when to trust its outputs under non-stationarity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2" name="Shape 60"/>
          <p:cNvSpPr/>
          <p:nvPr/>
        </p:nvSpPr>
        <p:spPr>
          <a:xfrm>
            <a:off x="9067800" y="1276350"/>
            <a:ext cx="2743200" cy="4857750"/>
          </a:xfrm>
          <a:custGeom>
            <a:avLst/>
            <a:gdLst/>
            <a:ahLst/>
            <a:cxnLst/>
            <a:rect l="l" t="t" r="r" b="b"/>
            <a:pathLst>
              <a:path w="2743200" h="48577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4743441"/>
                </a:lnTo>
                <a:cubicBezTo>
                  <a:pt x="2743200" y="4806572"/>
                  <a:pt x="2692022" y="4857750"/>
                  <a:pt x="2628891" y="4857750"/>
                </a:cubicBezTo>
                <a:lnTo>
                  <a:pt x="114309" y="4857750"/>
                </a:lnTo>
                <a:cubicBezTo>
                  <a:pt x="51178" y="4857750"/>
                  <a:pt x="0" y="4806572"/>
                  <a:pt x="0" y="47434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8BB78">
                  <a:alpha val="30000"/>
                </a:srgbClr>
              </a:gs>
              <a:gs pos="100000">
                <a:srgbClr val="4A5568">
                  <a:alpha val="2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9067800" y="12763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92202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9172575" y="14478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791700" y="154305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Layer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220200" y="2019300"/>
            <a:ext cx="2438400" cy="1524000"/>
          </a:xfrm>
          <a:custGeom>
            <a:avLst/>
            <a:gdLst/>
            <a:ahLst/>
            <a:cxnLst/>
            <a:rect l="l" t="t" r="r" b="b"/>
            <a:pathLst>
              <a:path w="2438400" h="1524000">
                <a:moveTo>
                  <a:pt x="76200" y="0"/>
                </a:moveTo>
                <a:lnTo>
                  <a:pt x="2362200" y="0"/>
                </a:lnTo>
                <a:cubicBezTo>
                  <a:pt x="2404256" y="0"/>
                  <a:pt x="2438400" y="34144"/>
                  <a:pt x="2438400" y="76200"/>
                </a:cubicBezTo>
                <a:lnTo>
                  <a:pt x="2438400" y="1447800"/>
                </a:lnTo>
                <a:cubicBezTo>
                  <a:pt x="2438400" y="1489856"/>
                  <a:pt x="2404256" y="1524000"/>
                  <a:pt x="236220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9334500" y="2133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Allocation Strategies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334500" y="2438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Kelly: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Growth-optimal sizing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334500" y="27051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MPT: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Mean-variance optimization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334500" y="3200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Hybrid:</a:t>
            </a: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Combined approach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220200" y="3619500"/>
            <a:ext cx="2438400" cy="952500"/>
          </a:xfrm>
          <a:custGeom>
            <a:avLst/>
            <a:gdLst/>
            <a:ahLst/>
            <a:cxnLst/>
            <a:rect l="l" t="t" r="r" b="b"/>
            <a:pathLst>
              <a:path w="2438400" h="952500">
                <a:moveTo>
                  <a:pt x="76200" y="0"/>
                </a:moveTo>
                <a:lnTo>
                  <a:pt x="2362200" y="0"/>
                </a:lnTo>
                <a:cubicBezTo>
                  <a:pt x="2404256" y="0"/>
                  <a:pt x="2438400" y="34144"/>
                  <a:pt x="2438400" y="76200"/>
                </a:cubicBezTo>
                <a:lnTo>
                  <a:pt x="2438400" y="876300"/>
                </a:lnTo>
                <a:cubicBezTo>
                  <a:pt x="2438400" y="918356"/>
                  <a:pt x="2404256" y="952500"/>
                  <a:pt x="23622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9363075" y="3771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19050"/>
                </a:moveTo>
                <a:lnTo>
                  <a:pt x="104775" y="19050"/>
                </a:lnTo>
                <a:lnTo>
                  <a:pt x="104775" y="142875"/>
                </a:lnTo>
                <a:cubicBezTo>
                  <a:pt x="104775" y="148144"/>
                  <a:pt x="109031" y="152400"/>
                  <a:pt x="114300" y="152400"/>
                </a:cubicBezTo>
                <a:lnTo>
                  <a:pt x="123825" y="152400"/>
                </a:lnTo>
                <a:cubicBezTo>
                  <a:pt x="129094" y="152400"/>
                  <a:pt x="133350" y="148144"/>
                  <a:pt x="133350" y="142875"/>
                </a:cubicBezTo>
                <a:cubicBezTo>
                  <a:pt x="133350" y="137606"/>
                  <a:pt x="129094" y="133350"/>
                  <a:pt x="123825" y="133350"/>
                </a:cubicBezTo>
                <a:lnTo>
                  <a:pt x="123825" y="19050"/>
                </a:lnTo>
                <a:cubicBezTo>
                  <a:pt x="123825" y="8543"/>
                  <a:pt x="115282" y="0"/>
                  <a:pt x="104775" y="0"/>
                </a:cubicBezTo>
                <a:lnTo>
                  <a:pt x="76200" y="0"/>
                </a:lnTo>
                <a:lnTo>
                  <a:pt x="76200" y="0"/>
                </a:lnTo>
                <a:lnTo>
                  <a:pt x="28575" y="0"/>
                </a:lnTo>
                <a:cubicBezTo>
                  <a:pt x="18068" y="0"/>
                  <a:pt x="9525" y="8543"/>
                  <a:pt x="9525" y="19050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76200" y="152400"/>
                </a:lnTo>
                <a:cubicBezTo>
                  <a:pt x="81469" y="152400"/>
                  <a:pt x="85725" y="148144"/>
                  <a:pt x="85725" y="142875"/>
                </a:cubicBezTo>
                <a:lnTo>
                  <a:pt x="85725" y="19050"/>
                </a:lnTo>
                <a:close/>
                <a:moveTo>
                  <a:pt x="47625" y="76200"/>
                </a:moveTo>
                <a:cubicBezTo>
                  <a:pt x="47625" y="70943"/>
                  <a:pt x="51893" y="66675"/>
                  <a:pt x="57150" y="66675"/>
                </a:cubicBezTo>
                <a:cubicBezTo>
                  <a:pt x="62407" y="66675"/>
                  <a:pt x="66675" y="70943"/>
                  <a:pt x="66675" y="76200"/>
                </a:cubicBezTo>
                <a:cubicBezTo>
                  <a:pt x="66675" y="81457"/>
                  <a:pt x="62407" y="85725"/>
                  <a:pt x="57150" y="85725"/>
                </a:cubicBezTo>
                <a:cubicBezTo>
                  <a:pt x="51893" y="85725"/>
                  <a:pt x="47625" y="81457"/>
                  <a:pt x="47625" y="76200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9582150" y="37338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Exit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9334500" y="40005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position liquidation when signals deteriorate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6" name="Shape 74"/>
          <p:cNvSpPr/>
          <p:nvPr/>
        </p:nvSpPr>
        <p:spPr>
          <a:xfrm>
            <a:off x="9220200" y="4648200"/>
            <a:ext cx="2438400" cy="952500"/>
          </a:xfrm>
          <a:custGeom>
            <a:avLst/>
            <a:gdLst/>
            <a:ahLst/>
            <a:cxnLst/>
            <a:rect l="l" t="t" r="r" b="b"/>
            <a:pathLst>
              <a:path w="2438400" h="952500">
                <a:moveTo>
                  <a:pt x="76200" y="0"/>
                </a:moveTo>
                <a:lnTo>
                  <a:pt x="2362200" y="0"/>
                </a:lnTo>
                <a:cubicBezTo>
                  <a:pt x="2404256" y="0"/>
                  <a:pt x="2438400" y="34144"/>
                  <a:pt x="2438400" y="76200"/>
                </a:cubicBezTo>
                <a:lnTo>
                  <a:pt x="2438400" y="876300"/>
                </a:lnTo>
                <a:cubicBezTo>
                  <a:pt x="2438400" y="918356"/>
                  <a:pt x="2404256" y="952500"/>
                  <a:pt x="23622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9353550" y="4800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9582150" y="47625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Walk-Forward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9334500" y="5029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Realistic simulation with temporal integrity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0" name="Shape 78"/>
          <p:cNvSpPr/>
          <p:nvPr/>
        </p:nvSpPr>
        <p:spPr>
          <a:xfrm>
            <a:off x="2083296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2330946" y="624840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flows strictly left-to-right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4678412" y="6286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4907012" y="624840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integrity enforced throughout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7816602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/>
          <p:nvPr/>
        </p:nvSpPr>
        <p:spPr>
          <a:xfrm>
            <a:off x="8064252" y="624840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Periodic retraining in simulation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7275" y="393002"/>
            <a:ext cx="71455" cy="285820"/>
          </a:xfrm>
          <a:custGeom>
            <a:avLst/>
            <a:gdLst/>
            <a:ahLst/>
            <a:cxnLst/>
            <a:rect l="l" t="t" r="r" b="b"/>
            <a:pathLst>
              <a:path w="71455" h="285820">
                <a:moveTo>
                  <a:pt x="0" y="0"/>
                </a:moveTo>
                <a:lnTo>
                  <a:pt x="71455" y="0"/>
                </a:lnTo>
                <a:lnTo>
                  <a:pt x="71455" y="285820"/>
                </a:lnTo>
                <a:lnTo>
                  <a:pt x="0" y="285820"/>
                </a:lnTo>
                <a:lnTo>
                  <a:pt x="0" y="0"/>
                </a:ln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35912" y="357275"/>
            <a:ext cx="5162620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Meta-Features: The Secret Sauce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912" y="786004"/>
            <a:ext cx="1138813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prior prediction errors become features for future reliability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7275" y="1179007"/>
            <a:ext cx="6832879" cy="5144756"/>
          </a:xfrm>
          <a:custGeom>
            <a:avLst/>
            <a:gdLst/>
            <a:ahLst/>
            <a:cxnLst/>
            <a:rect l="l" t="t" r="r" b="b"/>
            <a:pathLst>
              <a:path w="6832879" h="5144756">
                <a:moveTo>
                  <a:pt x="107165" y="0"/>
                </a:moveTo>
                <a:lnTo>
                  <a:pt x="6725714" y="0"/>
                </a:lnTo>
                <a:cubicBezTo>
                  <a:pt x="6784900" y="0"/>
                  <a:pt x="6832879" y="47980"/>
                  <a:pt x="6832879" y="107165"/>
                </a:cubicBezTo>
                <a:lnTo>
                  <a:pt x="6832879" y="5037591"/>
                </a:lnTo>
                <a:cubicBezTo>
                  <a:pt x="6832879" y="5096777"/>
                  <a:pt x="6784900" y="5144756"/>
                  <a:pt x="6725714" y="5144756"/>
                </a:cubicBezTo>
                <a:lnTo>
                  <a:pt x="107165" y="5144756"/>
                </a:lnTo>
                <a:cubicBezTo>
                  <a:pt x="47980" y="5144756"/>
                  <a:pt x="0" y="5096777"/>
                  <a:pt x="0" y="5037591"/>
                </a:cubicBezTo>
                <a:lnTo>
                  <a:pt x="0" y="107165"/>
                </a:lnTo>
                <a:cubicBezTo>
                  <a:pt x="0" y="47980"/>
                  <a:pt x="47980" y="0"/>
                  <a:pt x="10716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62708" y="1388905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201009" y="80387"/>
                </a:moveTo>
                <a:lnTo>
                  <a:pt x="204316" y="80387"/>
                </a:lnTo>
                <a:cubicBezTo>
                  <a:pt x="209885" y="80387"/>
                  <a:pt x="214365" y="75907"/>
                  <a:pt x="214365" y="70338"/>
                </a:cubicBezTo>
                <a:lnTo>
                  <a:pt x="214365" y="10048"/>
                </a:lnTo>
                <a:cubicBezTo>
                  <a:pt x="214365" y="5987"/>
                  <a:pt x="211936" y="2303"/>
                  <a:pt x="208168" y="754"/>
                </a:cubicBezTo>
                <a:cubicBezTo>
                  <a:pt x="204400" y="-795"/>
                  <a:pt x="200088" y="84"/>
                  <a:pt x="197199" y="2931"/>
                </a:cubicBezTo>
                <a:lnTo>
                  <a:pt x="175553" y="24618"/>
                </a:lnTo>
                <a:cubicBezTo>
                  <a:pt x="157005" y="9253"/>
                  <a:pt x="133141" y="0"/>
                  <a:pt x="107182" y="0"/>
                </a:cubicBezTo>
                <a:cubicBezTo>
                  <a:pt x="53173" y="0"/>
                  <a:pt x="8499" y="39942"/>
                  <a:pt x="1089" y="91901"/>
                </a:cubicBezTo>
                <a:cubicBezTo>
                  <a:pt x="42" y="99227"/>
                  <a:pt x="5108" y="106010"/>
                  <a:pt x="12435" y="107057"/>
                </a:cubicBezTo>
                <a:cubicBezTo>
                  <a:pt x="19762" y="108104"/>
                  <a:pt x="26544" y="102996"/>
                  <a:pt x="27591" y="95711"/>
                </a:cubicBezTo>
                <a:cubicBezTo>
                  <a:pt x="33160" y="56731"/>
                  <a:pt x="66696" y="26796"/>
                  <a:pt x="107182" y="26796"/>
                </a:cubicBezTo>
                <a:cubicBezTo>
                  <a:pt x="125772" y="26796"/>
                  <a:pt x="142854" y="33076"/>
                  <a:pt x="156461" y="43668"/>
                </a:cubicBezTo>
                <a:lnTo>
                  <a:pt x="136909" y="63221"/>
                </a:lnTo>
                <a:cubicBezTo>
                  <a:pt x="134020" y="66110"/>
                  <a:pt x="133183" y="70422"/>
                  <a:pt x="134732" y="74190"/>
                </a:cubicBezTo>
                <a:cubicBezTo>
                  <a:pt x="136281" y="77958"/>
                  <a:pt x="139965" y="80387"/>
                  <a:pt x="144026" y="80387"/>
                </a:cubicBezTo>
                <a:lnTo>
                  <a:pt x="201009" y="80387"/>
                </a:lnTo>
                <a:close/>
                <a:moveTo>
                  <a:pt x="213318" y="122464"/>
                </a:moveTo>
                <a:cubicBezTo>
                  <a:pt x="214365" y="115137"/>
                  <a:pt x="209257" y="108355"/>
                  <a:pt x="201972" y="107308"/>
                </a:cubicBezTo>
                <a:cubicBezTo>
                  <a:pt x="194687" y="106261"/>
                  <a:pt x="187862" y="111369"/>
                  <a:pt x="186816" y="118654"/>
                </a:cubicBezTo>
                <a:cubicBezTo>
                  <a:pt x="181247" y="157592"/>
                  <a:pt x="147711" y="187527"/>
                  <a:pt x="107224" y="187527"/>
                </a:cubicBezTo>
                <a:cubicBezTo>
                  <a:pt x="88635" y="187527"/>
                  <a:pt x="71553" y="181247"/>
                  <a:pt x="57945" y="170655"/>
                </a:cubicBezTo>
                <a:lnTo>
                  <a:pt x="77456" y="151144"/>
                </a:lnTo>
                <a:cubicBezTo>
                  <a:pt x="80345" y="148255"/>
                  <a:pt x="81182" y="143943"/>
                  <a:pt x="79633" y="140175"/>
                </a:cubicBezTo>
                <a:cubicBezTo>
                  <a:pt x="78084" y="136406"/>
                  <a:pt x="74400" y="133978"/>
                  <a:pt x="70338" y="133978"/>
                </a:cubicBezTo>
                <a:lnTo>
                  <a:pt x="10048" y="133978"/>
                </a:lnTo>
                <a:cubicBezTo>
                  <a:pt x="4480" y="133978"/>
                  <a:pt x="0" y="138458"/>
                  <a:pt x="0" y="144026"/>
                </a:cubicBezTo>
                <a:lnTo>
                  <a:pt x="0" y="204316"/>
                </a:lnTo>
                <a:cubicBezTo>
                  <a:pt x="0" y="208378"/>
                  <a:pt x="2428" y="212062"/>
                  <a:pt x="6196" y="213611"/>
                </a:cubicBezTo>
                <a:cubicBezTo>
                  <a:pt x="9965" y="215160"/>
                  <a:pt x="14277" y="214281"/>
                  <a:pt x="17166" y="211434"/>
                </a:cubicBezTo>
                <a:lnTo>
                  <a:pt x="38854" y="189746"/>
                </a:lnTo>
                <a:cubicBezTo>
                  <a:pt x="57359" y="205112"/>
                  <a:pt x="81224" y="214365"/>
                  <a:pt x="107182" y="214365"/>
                </a:cubicBezTo>
                <a:cubicBezTo>
                  <a:pt x="161192" y="214365"/>
                  <a:pt x="205866" y="174423"/>
                  <a:pt x="213276" y="122464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03868" y="1357644"/>
            <a:ext cx="6314831" cy="27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Feedback Loop Mechanism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5912" y="1777442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0185" y="1777442"/>
            <a:ext cx="428730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36097" y="1777442"/>
            <a:ext cx="5975420" cy="678822"/>
          </a:xfrm>
          <a:custGeom>
            <a:avLst/>
            <a:gdLst/>
            <a:ahLst/>
            <a:cxnLst/>
            <a:rect l="l" t="t" r="r" b="b"/>
            <a:pathLst>
              <a:path w="5975420" h="678822">
                <a:moveTo>
                  <a:pt x="71453" y="0"/>
                </a:moveTo>
                <a:lnTo>
                  <a:pt x="5903967" y="0"/>
                </a:lnTo>
                <a:cubicBezTo>
                  <a:pt x="5943429" y="0"/>
                  <a:pt x="5975420" y="31991"/>
                  <a:pt x="5975420" y="71453"/>
                </a:cubicBezTo>
                <a:lnTo>
                  <a:pt x="5975420" y="607369"/>
                </a:lnTo>
                <a:cubicBezTo>
                  <a:pt x="5975420" y="646831"/>
                  <a:pt x="5943429" y="678822"/>
                  <a:pt x="5903967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143279" y="1884624"/>
            <a:ext cx="583251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Walk-Forward Prediction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279" y="2134716"/>
            <a:ext cx="583251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trained on historical window, generates out-of-sample predictions for next block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5912" y="2563446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00185" y="2563446"/>
            <a:ext cx="428730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36097" y="2563446"/>
            <a:ext cx="5975420" cy="893187"/>
          </a:xfrm>
          <a:custGeom>
            <a:avLst/>
            <a:gdLst/>
            <a:ahLst/>
            <a:cxnLst/>
            <a:rect l="l" t="t" r="r" b="b"/>
            <a:pathLst>
              <a:path w="5975420" h="893187">
                <a:moveTo>
                  <a:pt x="71455" y="0"/>
                </a:moveTo>
                <a:lnTo>
                  <a:pt x="5903965" y="0"/>
                </a:lnTo>
                <a:cubicBezTo>
                  <a:pt x="5943428" y="0"/>
                  <a:pt x="5975420" y="31991"/>
                  <a:pt x="5975420" y="71455"/>
                </a:cubicBezTo>
                <a:lnTo>
                  <a:pt x="5975420" y="821732"/>
                </a:lnTo>
                <a:cubicBezTo>
                  <a:pt x="5975420" y="861195"/>
                  <a:pt x="5943428" y="893187"/>
                  <a:pt x="5903965" y="893187"/>
                </a:cubicBezTo>
                <a:lnTo>
                  <a:pt x="71455" y="893187"/>
                </a:lnTo>
                <a:cubicBezTo>
                  <a:pt x="31991" y="893187"/>
                  <a:pt x="0" y="861195"/>
                  <a:pt x="0" y="821732"/>
                </a:cubicBezTo>
                <a:lnTo>
                  <a:pt x="0" y="71455"/>
                </a:lnTo>
                <a:cubicBezTo>
                  <a:pt x="0" y="32018"/>
                  <a:pt x="32018" y="0"/>
                  <a:pt x="7145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143279" y="2670629"/>
            <a:ext cx="583251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Computation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279" y="2920721"/>
            <a:ext cx="5832510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predictions with realized outcomes, compute error statistics (Brier, log-loss, MAE, directional accuracy)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5912" y="3563815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0185" y="3563815"/>
            <a:ext cx="428730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36097" y="3563815"/>
            <a:ext cx="5975420" cy="678822"/>
          </a:xfrm>
          <a:custGeom>
            <a:avLst/>
            <a:gdLst/>
            <a:ahLst/>
            <a:cxnLst/>
            <a:rect l="l" t="t" r="r" b="b"/>
            <a:pathLst>
              <a:path w="5975420" h="678822">
                <a:moveTo>
                  <a:pt x="71453" y="0"/>
                </a:moveTo>
                <a:lnTo>
                  <a:pt x="5903967" y="0"/>
                </a:lnTo>
                <a:cubicBezTo>
                  <a:pt x="5943429" y="0"/>
                  <a:pt x="5975420" y="31991"/>
                  <a:pt x="5975420" y="71453"/>
                </a:cubicBezTo>
                <a:lnTo>
                  <a:pt x="5975420" y="607369"/>
                </a:lnTo>
                <a:cubicBezTo>
                  <a:pt x="5975420" y="646831"/>
                  <a:pt x="5943429" y="678822"/>
                  <a:pt x="5903967" y="678822"/>
                </a:cubicBezTo>
                <a:lnTo>
                  <a:pt x="71453" y="678822"/>
                </a:lnTo>
                <a:cubicBezTo>
                  <a:pt x="32017" y="678822"/>
                  <a:pt x="0" y="646805"/>
                  <a:pt x="0" y="607369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143279" y="3670998"/>
            <a:ext cx="583251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 Aggregation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279" y="3921090"/>
            <a:ext cx="583251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lagged rolling features (20-day window) to capture recent reliability trends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35912" y="4349820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178637" y="0"/>
                </a:moveTo>
                <a:lnTo>
                  <a:pt x="178637" y="0"/>
                </a:lnTo>
                <a:cubicBezTo>
                  <a:pt x="277230" y="0"/>
                  <a:pt x="357275" y="80045"/>
                  <a:pt x="357275" y="178637"/>
                </a:cubicBezTo>
                <a:lnTo>
                  <a:pt x="357275" y="178637"/>
                </a:lnTo>
                <a:cubicBezTo>
                  <a:pt x="357275" y="277230"/>
                  <a:pt x="277230" y="357275"/>
                  <a:pt x="178637" y="357275"/>
                </a:cubicBezTo>
                <a:lnTo>
                  <a:pt x="178637" y="357275"/>
                </a:lnTo>
                <a:cubicBezTo>
                  <a:pt x="80045" y="357275"/>
                  <a:pt x="0" y="277230"/>
                  <a:pt x="0" y="178637"/>
                </a:cubicBezTo>
                <a:lnTo>
                  <a:pt x="0" y="178637"/>
                </a:lnTo>
                <a:cubicBezTo>
                  <a:pt x="0" y="80045"/>
                  <a:pt x="80045" y="0"/>
                  <a:pt x="178637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00185" y="4349820"/>
            <a:ext cx="428730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36097" y="4349820"/>
            <a:ext cx="5975420" cy="893187"/>
          </a:xfrm>
          <a:custGeom>
            <a:avLst/>
            <a:gdLst/>
            <a:ahLst/>
            <a:cxnLst/>
            <a:rect l="l" t="t" r="r" b="b"/>
            <a:pathLst>
              <a:path w="5975420" h="893187">
                <a:moveTo>
                  <a:pt x="71455" y="0"/>
                </a:moveTo>
                <a:lnTo>
                  <a:pt x="5903965" y="0"/>
                </a:lnTo>
                <a:cubicBezTo>
                  <a:pt x="5943428" y="0"/>
                  <a:pt x="5975420" y="31991"/>
                  <a:pt x="5975420" y="71455"/>
                </a:cubicBezTo>
                <a:lnTo>
                  <a:pt x="5975420" y="821732"/>
                </a:lnTo>
                <a:cubicBezTo>
                  <a:pt x="5975420" y="861195"/>
                  <a:pt x="5943428" y="893187"/>
                  <a:pt x="5903965" y="893187"/>
                </a:cubicBezTo>
                <a:lnTo>
                  <a:pt x="71455" y="893187"/>
                </a:lnTo>
                <a:cubicBezTo>
                  <a:pt x="31991" y="893187"/>
                  <a:pt x="0" y="861195"/>
                  <a:pt x="0" y="821732"/>
                </a:cubicBezTo>
                <a:lnTo>
                  <a:pt x="0" y="71455"/>
                </a:lnTo>
                <a:cubicBezTo>
                  <a:pt x="0" y="32018"/>
                  <a:pt x="32018" y="0"/>
                  <a:pt x="7145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143279" y="4457002"/>
            <a:ext cx="583251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Augmentation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279" y="4707095"/>
            <a:ext cx="5832510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Meta-features added to base features, model learns to condition predictions on recent performance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331249" y="1179007"/>
            <a:ext cx="4510593" cy="2500923"/>
          </a:xfrm>
          <a:custGeom>
            <a:avLst/>
            <a:gdLst/>
            <a:ahLst/>
            <a:cxnLst/>
            <a:rect l="l" t="t" r="r" b="b"/>
            <a:pathLst>
              <a:path w="4510593" h="2500923">
                <a:moveTo>
                  <a:pt x="107190" y="0"/>
                </a:moveTo>
                <a:lnTo>
                  <a:pt x="4403404" y="0"/>
                </a:lnTo>
                <a:cubicBezTo>
                  <a:pt x="4462603" y="0"/>
                  <a:pt x="4510593" y="47990"/>
                  <a:pt x="4510593" y="107190"/>
                </a:cubicBezTo>
                <a:lnTo>
                  <a:pt x="4510593" y="2393734"/>
                </a:lnTo>
                <a:cubicBezTo>
                  <a:pt x="4510593" y="2452933"/>
                  <a:pt x="4462603" y="2500923"/>
                  <a:pt x="4403404" y="2500923"/>
                </a:cubicBezTo>
                <a:lnTo>
                  <a:pt x="107190" y="2500923"/>
                </a:lnTo>
                <a:cubicBezTo>
                  <a:pt x="47990" y="2500923"/>
                  <a:pt x="0" y="2452933"/>
                  <a:pt x="0" y="2393734"/>
                </a:cubicBezTo>
                <a:lnTo>
                  <a:pt x="0" y="107190"/>
                </a:lnTo>
                <a:cubicBezTo>
                  <a:pt x="0" y="48030"/>
                  <a:pt x="48030" y="0"/>
                  <a:pt x="10719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474159" y="1321916"/>
            <a:ext cx="431409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Meta-Features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74159" y="1679191"/>
            <a:ext cx="4224774" cy="571640"/>
          </a:xfrm>
          <a:custGeom>
            <a:avLst/>
            <a:gdLst/>
            <a:ahLst/>
            <a:cxnLst/>
            <a:rect l="l" t="t" r="r" b="b"/>
            <a:pathLst>
              <a:path w="4224774" h="571640">
                <a:moveTo>
                  <a:pt x="71455" y="0"/>
                </a:moveTo>
                <a:lnTo>
                  <a:pt x="4153319" y="0"/>
                </a:lnTo>
                <a:cubicBezTo>
                  <a:pt x="4192782" y="0"/>
                  <a:pt x="4224774" y="31991"/>
                  <a:pt x="4224774" y="71455"/>
                </a:cubicBezTo>
                <a:lnTo>
                  <a:pt x="4224774" y="500185"/>
                </a:lnTo>
                <a:cubicBezTo>
                  <a:pt x="4224774" y="539648"/>
                  <a:pt x="4192782" y="571640"/>
                  <a:pt x="4153319" y="571640"/>
                </a:cubicBezTo>
                <a:lnTo>
                  <a:pt x="71455" y="571640"/>
                </a:lnTo>
                <a:cubicBezTo>
                  <a:pt x="32018" y="571640"/>
                  <a:pt x="0" y="539622"/>
                  <a:pt x="0" y="500185"/>
                </a:cubicBezTo>
                <a:lnTo>
                  <a:pt x="0" y="71455"/>
                </a:lnTo>
                <a:cubicBezTo>
                  <a:pt x="0" y="32018"/>
                  <a:pt x="32018" y="0"/>
                  <a:pt x="7145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545614" y="1750646"/>
            <a:ext cx="415331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Brier Score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45614" y="1965011"/>
            <a:ext cx="415331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squared error of predicted probabilities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74159" y="2322286"/>
            <a:ext cx="4224774" cy="571640"/>
          </a:xfrm>
          <a:custGeom>
            <a:avLst/>
            <a:gdLst/>
            <a:ahLst/>
            <a:cxnLst/>
            <a:rect l="l" t="t" r="r" b="b"/>
            <a:pathLst>
              <a:path w="4224774" h="571640">
                <a:moveTo>
                  <a:pt x="71455" y="0"/>
                </a:moveTo>
                <a:lnTo>
                  <a:pt x="4153319" y="0"/>
                </a:lnTo>
                <a:cubicBezTo>
                  <a:pt x="4192782" y="0"/>
                  <a:pt x="4224774" y="31991"/>
                  <a:pt x="4224774" y="71455"/>
                </a:cubicBezTo>
                <a:lnTo>
                  <a:pt x="4224774" y="500185"/>
                </a:lnTo>
                <a:cubicBezTo>
                  <a:pt x="4224774" y="539648"/>
                  <a:pt x="4192782" y="571640"/>
                  <a:pt x="4153319" y="571640"/>
                </a:cubicBezTo>
                <a:lnTo>
                  <a:pt x="71455" y="571640"/>
                </a:lnTo>
                <a:cubicBezTo>
                  <a:pt x="32018" y="571640"/>
                  <a:pt x="0" y="539622"/>
                  <a:pt x="0" y="500185"/>
                </a:cubicBezTo>
                <a:lnTo>
                  <a:pt x="0" y="71455"/>
                </a:lnTo>
                <a:cubicBezTo>
                  <a:pt x="0" y="32018"/>
                  <a:pt x="32018" y="0"/>
                  <a:pt x="7145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7545614" y="2393741"/>
            <a:ext cx="415331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Log-Loss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45614" y="2608105"/>
            <a:ext cx="415331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Cross-entropy between predictions and outcomes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74159" y="2965380"/>
            <a:ext cx="4224774" cy="571640"/>
          </a:xfrm>
          <a:custGeom>
            <a:avLst/>
            <a:gdLst/>
            <a:ahLst/>
            <a:cxnLst/>
            <a:rect l="l" t="t" r="r" b="b"/>
            <a:pathLst>
              <a:path w="4224774" h="571640">
                <a:moveTo>
                  <a:pt x="71455" y="0"/>
                </a:moveTo>
                <a:lnTo>
                  <a:pt x="4153319" y="0"/>
                </a:lnTo>
                <a:cubicBezTo>
                  <a:pt x="4192782" y="0"/>
                  <a:pt x="4224774" y="31991"/>
                  <a:pt x="4224774" y="71455"/>
                </a:cubicBezTo>
                <a:lnTo>
                  <a:pt x="4224774" y="500185"/>
                </a:lnTo>
                <a:cubicBezTo>
                  <a:pt x="4224774" y="539648"/>
                  <a:pt x="4192782" y="571640"/>
                  <a:pt x="4153319" y="571640"/>
                </a:cubicBezTo>
                <a:lnTo>
                  <a:pt x="71455" y="571640"/>
                </a:lnTo>
                <a:cubicBezTo>
                  <a:pt x="32018" y="571640"/>
                  <a:pt x="0" y="539622"/>
                  <a:pt x="0" y="500185"/>
                </a:cubicBezTo>
                <a:lnTo>
                  <a:pt x="0" y="71455"/>
                </a:lnTo>
                <a:cubicBezTo>
                  <a:pt x="0" y="32018"/>
                  <a:pt x="32018" y="0"/>
                  <a:pt x="7145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7545614" y="3036835"/>
            <a:ext cx="415331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Directional Accuracy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45614" y="3251200"/>
            <a:ext cx="415331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Percentage of correct up/down predictions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31249" y="3822840"/>
            <a:ext cx="4510593" cy="2500923"/>
          </a:xfrm>
          <a:custGeom>
            <a:avLst/>
            <a:gdLst/>
            <a:ahLst/>
            <a:cxnLst/>
            <a:rect l="l" t="t" r="r" b="b"/>
            <a:pathLst>
              <a:path w="4510593" h="2500923">
                <a:moveTo>
                  <a:pt x="107190" y="0"/>
                </a:moveTo>
                <a:lnTo>
                  <a:pt x="4403404" y="0"/>
                </a:lnTo>
                <a:cubicBezTo>
                  <a:pt x="4462603" y="0"/>
                  <a:pt x="4510593" y="47990"/>
                  <a:pt x="4510593" y="107190"/>
                </a:cubicBezTo>
                <a:lnTo>
                  <a:pt x="4510593" y="2393734"/>
                </a:lnTo>
                <a:cubicBezTo>
                  <a:pt x="4510593" y="2452933"/>
                  <a:pt x="4462603" y="2500923"/>
                  <a:pt x="4403404" y="2500923"/>
                </a:cubicBezTo>
                <a:lnTo>
                  <a:pt x="107190" y="2500923"/>
                </a:lnTo>
                <a:cubicBezTo>
                  <a:pt x="47990" y="2500923"/>
                  <a:pt x="0" y="2452933"/>
                  <a:pt x="0" y="2393734"/>
                </a:cubicBezTo>
                <a:lnTo>
                  <a:pt x="0" y="107190"/>
                </a:lnTo>
                <a:cubicBezTo>
                  <a:pt x="0" y="48030"/>
                  <a:pt x="48030" y="0"/>
                  <a:pt x="10719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7474159" y="3965749"/>
            <a:ext cx="431409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 Meta-Features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74159" y="4323024"/>
            <a:ext cx="4224774" cy="571640"/>
          </a:xfrm>
          <a:custGeom>
            <a:avLst/>
            <a:gdLst/>
            <a:ahLst/>
            <a:cxnLst/>
            <a:rect l="l" t="t" r="r" b="b"/>
            <a:pathLst>
              <a:path w="4224774" h="571640">
                <a:moveTo>
                  <a:pt x="71455" y="0"/>
                </a:moveTo>
                <a:lnTo>
                  <a:pt x="4153319" y="0"/>
                </a:lnTo>
                <a:cubicBezTo>
                  <a:pt x="4192782" y="0"/>
                  <a:pt x="4224774" y="31991"/>
                  <a:pt x="4224774" y="71455"/>
                </a:cubicBezTo>
                <a:lnTo>
                  <a:pt x="4224774" y="500185"/>
                </a:lnTo>
                <a:cubicBezTo>
                  <a:pt x="4224774" y="539648"/>
                  <a:pt x="4192782" y="571640"/>
                  <a:pt x="4153319" y="571640"/>
                </a:cubicBezTo>
                <a:lnTo>
                  <a:pt x="71455" y="571640"/>
                </a:lnTo>
                <a:cubicBezTo>
                  <a:pt x="32018" y="571640"/>
                  <a:pt x="0" y="539622"/>
                  <a:pt x="0" y="500185"/>
                </a:cubicBezTo>
                <a:lnTo>
                  <a:pt x="0" y="71455"/>
                </a:lnTo>
                <a:cubicBezTo>
                  <a:pt x="0" y="32018"/>
                  <a:pt x="32018" y="0"/>
                  <a:pt x="7145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7545614" y="4394479"/>
            <a:ext cx="415331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 / MSE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45614" y="4608844"/>
            <a:ext cx="415331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absolute and squared errors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74159" y="4966119"/>
            <a:ext cx="4224774" cy="571640"/>
          </a:xfrm>
          <a:custGeom>
            <a:avLst/>
            <a:gdLst/>
            <a:ahLst/>
            <a:cxnLst/>
            <a:rect l="l" t="t" r="r" b="b"/>
            <a:pathLst>
              <a:path w="4224774" h="571640">
                <a:moveTo>
                  <a:pt x="71455" y="0"/>
                </a:moveTo>
                <a:lnTo>
                  <a:pt x="4153319" y="0"/>
                </a:lnTo>
                <a:cubicBezTo>
                  <a:pt x="4192782" y="0"/>
                  <a:pt x="4224774" y="31991"/>
                  <a:pt x="4224774" y="71455"/>
                </a:cubicBezTo>
                <a:lnTo>
                  <a:pt x="4224774" y="500185"/>
                </a:lnTo>
                <a:cubicBezTo>
                  <a:pt x="4224774" y="539648"/>
                  <a:pt x="4192782" y="571640"/>
                  <a:pt x="4153319" y="571640"/>
                </a:cubicBezTo>
                <a:lnTo>
                  <a:pt x="71455" y="571640"/>
                </a:lnTo>
                <a:cubicBezTo>
                  <a:pt x="32018" y="571640"/>
                  <a:pt x="0" y="539622"/>
                  <a:pt x="0" y="500185"/>
                </a:cubicBezTo>
                <a:lnTo>
                  <a:pt x="0" y="71455"/>
                </a:lnTo>
                <a:cubicBezTo>
                  <a:pt x="0" y="32018"/>
                  <a:pt x="32018" y="0"/>
                  <a:pt x="7145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7545614" y="5037574"/>
            <a:ext cx="415331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45614" y="5251938"/>
            <a:ext cx="415331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mean squared error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74159" y="5609213"/>
            <a:ext cx="4224774" cy="571640"/>
          </a:xfrm>
          <a:custGeom>
            <a:avLst/>
            <a:gdLst/>
            <a:ahLst/>
            <a:cxnLst/>
            <a:rect l="l" t="t" r="r" b="b"/>
            <a:pathLst>
              <a:path w="4224774" h="571640">
                <a:moveTo>
                  <a:pt x="71455" y="0"/>
                </a:moveTo>
                <a:lnTo>
                  <a:pt x="4153319" y="0"/>
                </a:lnTo>
                <a:cubicBezTo>
                  <a:pt x="4192782" y="0"/>
                  <a:pt x="4224774" y="31991"/>
                  <a:pt x="4224774" y="71455"/>
                </a:cubicBezTo>
                <a:lnTo>
                  <a:pt x="4224774" y="500185"/>
                </a:lnTo>
                <a:cubicBezTo>
                  <a:pt x="4224774" y="539648"/>
                  <a:pt x="4192782" y="571640"/>
                  <a:pt x="4153319" y="571640"/>
                </a:cubicBezTo>
                <a:lnTo>
                  <a:pt x="71455" y="571640"/>
                </a:lnTo>
                <a:cubicBezTo>
                  <a:pt x="32018" y="571640"/>
                  <a:pt x="0" y="539622"/>
                  <a:pt x="0" y="500185"/>
                </a:cubicBezTo>
                <a:lnTo>
                  <a:pt x="0" y="71455"/>
                </a:lnTo>
                <a:cubicBezTo>
                  <a:pt x="0" y="32018"/>
                  <a:pt x="32018" y="0"/>
                  <a:pt x="7145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7545614" y="5680668"/>
            <a:ext cx="415331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Directional Accuracy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45614" y="5895033"/>
            <a:ext cx="415331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 agreement between predicted and actual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57275" y="6430945"/>
            <a:ext cx="11477451" cy="428730"/>
          </a:xfrm>
          <a:custGeom>
            <a:avLst/>
            <a:gdLst/>
            <a:ahLst/>
            <a:cxnLst/>
            <a:rect l="l" t="t" r="r" b="b"/>
            <a:pathLst>
              <a:path w="11477451" h="428730">
                <a:moveTo>
                  <a:pt x="71456" y="0"/>
                </a:moveTo>
                <a:lnTo>
                  <a:pt x="11405994" y="0"/>
                </a:lnTo>
                <a:cubicBezTo>
                  <a:pt x="11445458" y="0"/>
                  <a:pt x="11477451" y="31992"/>
                  <a:pt x="11477451" y="71456"/>
                </a:cubicBezTo>
                <a:lnTo>
                  <a:pt x="11477451" y="357273"/>
                </a:lnTo>
                <a:cubicBezTo>
                  <a:pt x="11477451" y="396738"/>
                  <a:pt x="11445458" y="428730"/>
                  <a:pt x="11405994" y="428730"/>
                </a:cubicBezTo>
                <a:lnTo>
                  <a:pt x="71456" y="428730"/>
                </a:lnTo>
                <a:cubicBezTo>
                  <a:pt x="32019" y="428730"/>
                  <a:pt x="0" y="396711"/>
                  <a:pt x="0" y="357273"/>
                </a:cubicBezTo>
                <a:lnTo>
                  <a:pt x="0" y="71456"/>
                </a:lnTo>
                <a:cubicBezTo>
                  <a:pt x="0" y="32019"/>
                  <a:pt x="32019" y="0"/>
                  <a:pt x="71456" y="0"/>
                </a:cubicBezTo>
                <a:close/>
              </a:path>
            </a:pathLst>
          </a:custGeom>
          <a:gradFill flip="none" rotWithShape="1">
            <a:gsLst>
              <a:gs pos="0">
                <a:srgbClr val="63B3ED">
                  <a:alpha val="20000"/>
                </a:srgbClr>
              </a:gs>
              <a:gs pos="100000">
                <a:srgbClr val="48BB78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509116" y="6555991"/>
            <a:ext cx="133978" cy="178637"/>
          </a:xfrm>
          <a:custGeom>
            <a:avLst/>
            <a:gdLst/>
            <a:ahLst/>
            <a:cxnLst/>
            <a:rect l="l" t="t" r="r" b="b"/>
            <a:pathLst>
              <a:path w="133978" h="178637">
                <a:moveTo>
                  <a:pt x="102193" y="133978"/>
                </a:moveTo>
                <a:cubicBezTo>
                  <a:pt x="104740" y="126198"/>
                  <a:pt x="109834" y="119150"/>
                  <a:pt x="115591" y="113079"/>
                </a:cubicBezTo>
                <a:cubicBezTo>
                  <a:pt x="127000" y="101077"/>
                  <a:pt x="133978" y="84853"/>
                  <a:pt x="133978" y="66989"/>
                </a:cubicBezTo>
                <a:cubicBezTo>
                  <a:pt x="133978" y="30005"/>
                  <a:pt x="103973" y="0"/>
                  <a:pt x="66989" y="0"/>
                </a:cubicBezTo>
                <a:cubicBezTo>
                  <a:pt x="30005" y="0"/>
                  <a:pt x="0" y="30005"/>
                  <a:pt x="0" y="66989"/>
                </a:cubicBezTo>
                <a:cubicBezTo>
                  <a:pt x="0" y="84853"/>
                  <a:pt x="6978" y="101077"/>
                  <a:pt x="18387" y="113079"/>
                </a:cubicBezTo>
                <a:cubicBezTo>
                  <a:pt x="24144" y="119150"/>
                  <a:pt x="29273" y="126198"/>
                  <a:pt x="31785" y="133978"/>
                </a:cubicBezTo>
                <a:lnTo>
                  <a:pt x="102158" y="133978"/>
                </a:lnTo>
                <a:close/>
                <a:moveTo>
                  <a:pt x="100484" y="150725"/>
                </a:moveTo>
                <a:lnTo>
                  <a:pt x="33495" y="150725"/>
                </a:lnTo>
                <a:lnTo>
                  <a:pt x="33495" y="156308"/>
                </a:lnTo>
                <a:cubicBezTo>
                  <a:pt x="33495" y="171729"/>
                  <a:pt x="45985" y="184220"/>
                  <a:pt x="61407" y="184220"/>
                </a:cubicBezTo>
                <a:lnTo>
                  <a:pt x="72571" y="184220"/>
                </a:lnTo>
                <a:cubicBezTo>
                  <a:pt x="87993" y="184220"/>
                  <a:pt x="100484" y="171729"/>
                  <a:pt x="100484" y="156308"/>
                </a:cubicBezTo>
                <a:lnTo>
                  <a:pt x="100484" y="150725"/>
                </a:lnTo>
                <a:close/>
                <a:moveTo>
                  <a:pt x="64198" y="39077"/>
                </a:moveTo>
                <a:cubicBezTo>
                  <a:pt x="50312" y="39077"/>
                  <a:pt x="39077" y="50312"/>
                  <a:pt x="39077" y="64198"/>
                </a:cubicBezTo>
                <a:cubicBezTo>
                  <a:pt x="39077" y="68838"/>
                  <a:pt x="35344" y="72571"/>
                  <a:pt x="30703" y="72571"/>
                </a:cubicBezTo>
                <a:cubicBezTo>
                  <a:pt x="26063" y="72571"/>
                  <a:pt x="22330" y="68838"/>
                  <a:pt x="22330" y="64198"/>
                </a:cubicBezTo>
                <a:cubicBezTo>
                  <a:pt x="22330" y="41066"/>
                  <a:pt x="41066" y="22330"/>
                  <a:pt x="64198" y="22330"/>
                </a:cubicBezTo>
                <a:cubicBezTo>
                  <a:pt x="68838" y="22330"/>
                  <a:pt x="72571" y="26063"/>
                  <a:pt x="72571" y="30703"/>
                </a:cubicBezTo>
                <a:cubicBezTo>
                  <a:pt x="72571" y="35344"/>
                  <a:pt x="68838" y="39077"/>
                  <a:pt x="64198" y="39077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794936" y="6538127"/>
            <a:ext cx="8985459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Innovation:</a:t>
            </a:r>
            <a:r>
              <a:rPr lang="en-US" sz="1125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learns </a:t>
            </a:r>
            <a:r>
              <a:rPr lang="en-US" sz="1125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to trust itself</a:t>
            </a:r>
            <a:r>
              <a:rPr lang="en-US" sz="1125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conditioning on recent prediction quality, enabling adaptive behavior under non-stationarity.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0"/>
                </a:moveTo>
                <a:lnTo>
                  <a:pt x="76200" y="0"/>
                </a:lnTo>
                <a:lnTo>
                  <a:pt x="762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3781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Does It Predict Better?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001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performance results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43000"/>
            <a:ext cx="5638800" cy="4953000"/>
          </a:xfrm>
          <a:custGeom>
            <a:avLst/>
            <a:gdLst/>
            <a:ahLst/>
            <a:cxnLst/>
            <a:rect l="l" t="t" r="r" b="b"/>
            <a:pathLst>
              <a:path w="5638800" h="4953000">
                <a:moveTo>
                  <a:pt x="114315" y="0"/>
                </a:moveTo>
                <a:lnTo>
                  <a:pt x="5524485" y="0"/>
                </a:lnTo>
                <a:cubicBezTo>
                  <a:pt x="5587619" y="0"/>
                  <a:pt x="5638800" y="51181"/>
                  <a:pt x="5638800" y="114315"/>
                </a:cubicBezTo>
                <a:lnTo>
                  <a:pt x="5638800" y="4838685"/>
                </a:lnTo>
                <a:cubicBezTo>
                  <a:pt x="5638800" y="4901819"/>
                  <a:pt x="5587619" y="4953000"/>
                  <a:pt x="5524485" y="4953000"/>
                </a:cubicBezTo>
                <a:lnTo>
                  <a:pt x="114315" y="4953000"/>
                </a:lnTo>
                <a:cubicBezTo>
                  <a:pt x="51181" y="4953000"/>
                  <a:pt x="0" y="4901819"/>
                  <a:pt x="0" y="4838685"/>
                </a:cubicBezTo>
                <a:lnTo>
                  <a:pt x="0" y="114315"/>
                </a:lnTo>
                <a:cubicBezTo>
                  <a:pt x="0" y="51181"/>
                  <a:pt x="51181" y="0"/>
                  <a:pt x="11431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85775" y="1295400"/>
            <a:ext cx="542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MCC Comparison: Our Model vs Baseline</a:t>
            </a:r>
            <a:endParaRPr lang="en-US" sz="1600" dirty="0"/>
          </a:p>
        </p:txBody>
      </p:sp>
      <p:pic>
        <p:nvPicPr>
          <p:cNvPr id="7" name="Image 0" descr="https://kimi-img.moonshot.cn/pub/slides/26-03-18-00:19:21-d6snu2f826pjlqv90bo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400" y="1638300"/>
            <a:ext cx="5334000" cy="43053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172200" y="1143000"/>
            <a:ext cx="5638800" cy="2828925"/>
          </a:xfrm>
          <a:custGeom>
            <a:avLst/>
            <a:gdLst/>
            <a:ahLst/>
            <a:cxnLst/>
            <a:rect l="l" t="t" r="r" b="b"/>
            <a:pathLst>
              <a:path w="5638800" h="2828925">
                <a:moveTo>
                  <a:pt x="114289" y="0"/>
                </a:moveTo>
                <a:lnTo>
                  <a:pt x="5524511" y="0"/>
                </a:lnTo>
                <a:cubicBezTo>
                  <a:pt x="5587589" y="0"/>
                  <a:pt x="5638800" y="51211"/>
                  <a:pt x="5638800" y="114289"/>
                </a:cubicBezTo>
                <a:lnTo>
                  <a:pt x="5638800" y="2714636"/>
                </a:lnTo>
                <a:cubicBezTo>
                  <a:pt x="5638800" y="2777756"/>
                  <a:pt x="5587631" y="2828925"/>
                  <a:pt x="5524511" y="2828925"/>
                </a:cubicBezTo>
                <a:lnTo>
                  <a:pt x="114289" y="2828925"/>
                </a:lnTo>
                <a:cubicBezTo>
                  <a:pt x="51211" y="2828925"/>
                  <a:pt x="0" y="2777714"/>
                  <a:pt x="0" y="2714636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gradFill flip="none" rotWithShape="1">
            <a:gsLst>
              <a:gs pos="0">
                <a:srgbClr val="48BB78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324600" y="129540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01425" y="1314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6324600" y="1638300"/>
            <a:ext cx="5334000" cy="676275"/>
          </a:xfrm>
          <a:custGeom>
            <a:avLst/>
            <a:gdLst/>
            <a:ahLst/>
            <a:cxnLst/>
            <a:rect l="l" t="t" r="r" b="b"/>
            <a:pathLst>
              <a:path w="5334000" h="676275">
                <a:moveTo>
                  <a:pt x="76203" y="0"/>
                </a:moveTo>
                <a:lnTo>
                  <a:pt x="5257797" y="0"/>
                </a:lnTo>
                <a:cubicBezTo>
                  <a:pt x="5299883" y="0"/>
                  <a:pt x="5334000" y="34117"/>
                  <a:pt x="5334000" y="76203"/>
                </a:cubicBezTo>
                <a:lnTo>
                  <a:pt x="5334000" y="600072"/>
                </a:lnTo>
                <a:cubicBezTo>
                  <a:pt x="5334000" y="642158"/>
                  <a:pt x="5299883" y="676275"/>
                  <a:pt x="5257797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400800" y="1747838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BiGRU (1-day)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0" y="1976438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Beats StockNet baseline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832306" y="1714500"/>
            <a:ext cx="7524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0.086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870406" y="2009775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0.080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24600" y="2390775"/>
            <a:ext cx="5334000" cy="676275"/>
          </a:xfrm>
          <a:custGeom>
            <a:avLst/>
            <a:gdLst/>
            <a:ahLst/>
            <a:cxnLst/>
            <a:rect l="l" t="t" r="r" b="b"/>
            <a:pathLst>
              <a:path w="5334000" h="676275">
                <a:moveTo>
                  <a:pt x="76203" y="0"/>
                </a:moveTo>
                <a:lnTo>
                  <a:pt x="5257797" y="0"/>
                </a:lnTo>
                <a:cubicBezTo>
                  <a:pt x="5299883" y="0"/>
                  <a:pt x="5334000" y="34117"/>
                  <a:pt x="5334000" y="76203"/>
                </a:cubicBezTo>
                <a:lnTo>
                  <a:pt x="5334000" y="600072"/>
                </a:lnTo>
                <a:cubicBezTo>
                  <a:pt x="5334000" y="642158"/>
                  <a:pt x="5299883" y="676275"/>
                  <a:pt x="5257797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00800" y="2500313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5-Day Horizon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0" y="2728913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improvement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881420" y="2466975"/>
            <a:ext cx="7048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0.152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919520" y="2762250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0.086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324600" y="3143250"/>
            <a:ext cx="5334000" cy="676275"/>
          </a:xfrm>
          <a:custGeom>
            <a:avLst/>
            <a:gdLst/>
            <a:ahLst/>
            <a:cxnLst/>
            <a:rect l="l" t="t" r="r" b="b"/>
            <a:pathLst>
              <a:path w="5334000" h="676275">
                <a:moveTo>
                  <a:pt x="76203" y="0"/>
                </a:moveTo>
                <a:lnTo>
                  <a:pt x="5257797" y="0"/>
                </a:lnTo>
                <a:cubicBezTo>
                  <a:pt x="5299883" y="0"/>
                  <a:pt x="5334000" y="34117"/>
                  <a:pt x="5334000" y="76203"/>
                </a:cubicBezTo>
                <a:lnTo>
                  <a:pt x="5334000" y="600072"/>
                </a:lnTo>
                <a:cubicBezTo>
                  <a:pt x="5334000" y="642158"/>
                  <a:pt x="5299883" y="676275"/>
                  <a:pt x="5257797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400799" y="3252788"/>
            <a:ext cx="1565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1-Day Ordinal + Meta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00800" y="3481388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Meta-features help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836027" y="3219450"/>
            <a:ext cx="7429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0.081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874127" y="3514725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0.080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72200" y="4086225"/>
            <a:ext cx="5638800" cy="2009775"/>
          </a:xfrm>
          <a:custGeom>
            <a:avLst/>
            <a:gdLst/>
            <a:ahLst/>
            <a:cxnLst/>
            <a:rect l="l" t="t" r="r" b="b"/>
            <a:pathLst>
              <a:path w="5638800" h="2009775">
                <a:moveTo>
                  <a:pt x="114296" y="0"/>
                </a:moveTo>
                <a:lnTo>
                  <a:pt x="5524504" y="0"/>
                </a:lnTo>
                <a:cubicBezTo>
                  <a:pt x="5587628" y="0"/>
                  <a:pt x="5638800" y="51172"/>
                  <a:pt x="5638800" y="114296"/>
                </a:cubicBezTo>
                <a:lnTo>
                  <a:pt x="5638800" y="1895479"/>
                </a:lnTo>
                <a:cubicBezTo>
                  <a:pt x="5638800" y="1958603"/>
                  <a:pt x="5587628" y="2009775"/>
                  <a:pt x="5524504" y="2009775"/>
                </a:cubicBezTo>
                <a:lnTo>
                  <a:pt x="114296" y="2009775"/>
                </a:lnTo>
                <a:cubicBezTo>
                  <a:pt x="51172" y="2009775"/>
                  <a:pt x="0" y="1958603"/>
                  <a:pt x="0" y="189547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324600" y="4238625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Summary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324600" y="4891088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  <a:lnTo>
                  <a:pt x="533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324600" y="4619625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1-Day Binary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352038" y="4619625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BiGRU + Sentiment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24600" y="5243513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  <a:lnTo>
                  <a:pt x="533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6324600" y="497205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5-Day Binary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356800" y="4972050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 + Sector/Sent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24600" y="5595938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  <a:lnTo>
                  <a:pt x="5334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6324600" y="5324475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1-Day Ordinal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734526" y="5324475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BiGRU + Base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324600" y="5676900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Regression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0658624" y="567690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BiLSTM + Base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81000" y="6172200"/>
            <a:ext cx="11430000" cy="381000"/>
          </a:xfrm>
          <a:custGeom>
            <a:avLst/>
            <a:gdLst/>
            <a:ahLst/>
            <a:cxnLst/>
            <a:rect l="l" t="t" r="r" b="b"/>
            <a:pathLst>
              <a:path w="11430000" h="381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304800"/>
                </a:lnTo>
                <a:cubicBezTo>
                  <a:pt x="11430000" y="346856"/>
                  <a:pt x="11395856" y="381000"/>
                  <a:pt x="11353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481012" y="6276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785813" y="6248400"/>
            <a:ext cx="1066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Longer horizons (5-day) substantially outperform 1-day predictions, likely because short-term noise is reduced and directional structure becomes clearer.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928" y="416821"/>
            <a:ext cx="75786" cy="303142"/>
          </a:xfrm>
          <a:custGeom>
            <a:avLst/>
            <a:gdLst/>
            <a:ahLst/>
            <a:cxnLst/>
            <a:rect l="l" t="t" r="r" b="b"/>
            <a:pathLst>
              <a:path w="75786" h="303142">
                <a:moveTo>
                  <a:pt x="0" y="0"/>
                </a:moveTo>
                <a:lnTo>
                  <a:pt x="75786" y="0"/>
                </a:lnTo>
                <a:lnTo>
                  <a:pt x="75786" y="303142"/>
                </a:lnTo>
                <a:lnTo>
                  <a:pt x="0" y="303142"/>
                </a:lnTo>
                <a:lnTo>
                  <a:pt x="0" y="0"/>
                </a:ln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8392" y="378928"/>
            <a:ext cx="3571394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Does It Make Money?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8392" y="795748"/>
            <a:ext cx="1133941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 simulation results over 100 trading days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8928" y="1136783"/>
            <a:ext cx="6801753" cy="5039739"/>
          </a:xfrm>
          <a:custGeom>
            <a:avLst/>
            <a:gdLst/>
            <a:ahLst/>
            <a:cxnLst/>
            <a:rect l="l" t="t" r="r" b="b"/>
            <a:pathLst>
              <a:path w="6801753" h="5039739">
                <a:moveTo>
                  <a:pt x="113697" y="0"/>
                </a:moveTo>
                <a:lnTo>
                  <a:pt x="6688056" y="0"/>
                </a:lnTo>
                <a:cubicBezTo>
                  <a:pt x="6750849" y="0"/>
                  <a:pt x="6801753" y="50904"/>
                  <a:pt x="6801753" y="113697"/>
                </a:cubicBezTo>
                <a:lnTo>
                  <a:pt x="6801753" y="4926042"/>
                </a:lnTo>
                <a:cubicBezTo>
                  <a:pt x="6801753" y="4988835"/>
                  <a:pt x="6750849" y="5039739"/>
                  <a:pt x="6688056" y="5039739"/>
                </a:cubicBezTo>
                <a:lnTo>
                  <a:pt x="113697" y="5039739"/>
                </a:lnTo>
                <a:cubicBezTo>
                  <a:pt x="50904" y="5039739"/>
                  <a:pt x="0" y="4988835"/>
                  <a:pt x="0" y="4926042"/>
                </a:cubicBezTo>
                <a:lnTo>
                  <a:pt x="0" y="113697"/>
                </a:lnTo>
                <a:cubicBezTo>
                  <a:pt x="0" y="50946"/>
                  <a:pt x="50946" y="0"/>
                  <a:pt x="113697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483133" y="1288354"/>
            <a:ext cx="659334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Cumulative Portfolio Returns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30920" y="1136783"/>
            <a:ext cx="4480821" cy="2576709"/>
          </a:xfrm>
          <a:custGeom>
            <a:avLst/>
            <a:gdLst/>
            <a:ahLst/>
            <a:cxnLst/>
            <a:rect l="l" t="t" r="r" b="b"/>
            <a:pathLst>
              <a:path w="4480821" h="2576709">
                <a:moveTo>
                  <a:pt x="113684" y="0"/>
                </a:moveTo>
                <a:lnTo>
                  <a:pt x="4367136" y="0"/>
                </a:lnTo>
                <a:cubicBezTo>
                  <a:pt x="4429922" y="0"/>
                  <a:pt x="4480821" y="50898"/>
                  <a:pt x="4480821" y="113684"/>
                </a:cubicBezTo>
                <a:lnTo>
                  <a:pt x="4480821" y="2463024"/>
                </a:lnTo>
                <a:cubicBezTo>
                  <a:pt x="4480821" y="2525810"/>
                  <a:pt x="4429922" y="2576709"/>
                  <a:pt x="4367136" y="2576709"/>
                </a:cubicBezTo>
                <a:lnTo>
                  <a:pt x="113684" y="2576709"/>
                </a:lnTo>
                <a:cubicBezTo>
                  <a:pt x="50898" y="2576709"/>
                  <a:pt x="0" y="2525810"/>
                  <a:pt x="0" y="2463024"/>
                </a:cubicBezTo>
                <a:lnTo>
                  <a:pt x="0" y="113684"/>
                </a:lnTo>
                <a:cubicBezTo>
                  <a:pt x="0" y="50940"/>
                  <a:pt x="50940" y="0"/>
                  <a:pt x="113684" y="0"/>
                </a:cubicBezTo>
                <a:close/>
              </a:path>
            </a:pathLst>
          </a:custGeom>
          <a:gradFill flip="none" rotWithShape="1">
            <a:gsLst>
              <a:gs pos="0">
                <a:srgbClr val="48BB78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482491" y="1288354"/>
            <a:ext cx="205568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Meta-Features Impact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06613" y="1307301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56839" y="142098"/>
                </a:moveTo>
                <a:lnTo>
                  <a:pt x="10879" y="142098"/>
                </a:lnTo>
                <a:cubicBezTo>
                  <a:pt x="-178" y="142098"/>
                  <a:pt x="-6972" y="130064"/>
                  <a:pt x="-1288" y="120561"/>
                </a:cubicBezTo>
                <a:lnTo>
                  <a:pt x="22203" y="81395"/>
                </a:lnTo>
                <a:cubicBezTo>
                  <a:pt x="26066" y="74957"/>
                  <a:pt x="32993" y="71049"/>
                  <a:pt x="40498" y="71049"/>
                </a:cubicBezTo>
                <a:lnTo>
                  <a:pt x="82683" y="71049"/>
                </a:lnTo>
                <a:cubicBezTo>
                  <a:pt x="116476" y="13810"/>
                  <a:pt x="166876" y="10924"/>
                  <a:pt x="200580" y="15853"/>
                </a:cubicBezTo>
                <a:cubicBezTo>
                  <a:pt x="206264" y="16697"/>
                  <a:pt x="210705" y="21137"/>
                  <a:pt x="211504" y="26777"/>
                </a:cubicBezTo>
                <a:cubicBezTo>
                  <a:pt x="216433" y="60480"/>
                  <a:pt x="213547" y="110881"/>
                  <a:pt x="156308" y="144673"/>
                </a:cubicBezTo>
                <a:lnTo>
                  <a:pt x="156308" y="186859"/>
                </a:lnTo>
                <a:cubicBezTo>
                  <a:pt x="156308" y="194363"/>
                  <a:pt x="152400" y="201291"/>
                  <a:pt x="145961" y="205154"/>
                </a:cubicBezTo>
                <a:lnTo>
                  <a:pt x="106795" y="228644"/>
                </a:lnTo>
                <a:cubicBezTo>
                  <a:pt x="97337" y="234328"/>
                  <a:pt x="85259" y="227490"/>
                  <a:pt x="85259" y="216477"/>
                </a:cubicBezTo>
                <a:lnTo>
                  <a:pt x="85259" y="170517"/>
                </a:lnTo>
                <a:cubicBezTo>
                  <a:pt x="85259" y="154842"/>
                  <a:pt x="72514" y="142098"/>
                  <a:pt x="56839" y="142098"/>
                </a:cubicBezTo>
                <a:lnTo>
                  <a:pt x="56795" y="142098"/>
                </a:lnTo>
                <a:close/>
                <a:moveTo>
                  <a:pt x="177622" y="71049"/>
                </a:moveTo>
                <a:cubicBezTo>
                  <a:pt x="177622" y="59285"/>
                  <a:pt x="168072" y="49734"/>
                  <a:pt x="156308" y="49734"/>
                </a:cubicBezTo>
                <a:cubicBezTo>
                  <a:pt x="144544" y="49734"/>
                  <a:pt x="134993" y="59285"/>
                  <a:pt x="134993" y="71049"/>
                </a:cubicBezTo>
                <a:cubicBezTo>
                  <a:pt x="134993" y="82813"/>
                  <a:pt x="144544" y="92364"/>
                  <a:pt x="156308" y="92364"/>
                </a:cubicBezTo>
                <a:cubicBezTo>
                  <a:pt x="168072" y="92364"/>
                  <a:pt x="177622" y="82813"/>
                  <a:pt x="177622" y="71049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7482491" y="1629389"/>
            <a:ext cx="4177678" cy="682070"/>
          </a:xfrm>
          <a:custGeom>
            <a:avLst/>
            <a:gdLst/>
            <a:ahLst/>
            <a:cxnLst/>
            <a:rect l="l" t="t" r="r" b="b"/>
            <a:pathLst>
              <a:path w="4177678" h="682070">
                <a:moveTo>
                  <a:pt x="75785" y="0"/>
                </a:moveTo>
                <a:lnTo>
                  <a:pt x="4101894" y="0"/>
                </a:lnTo>
                <a:cubicBezTo>
                  <a:pt x="4143748" y="0"/>
                  <a:pt x="4177678" y="33930"/>
                  <a:pt x="4177678" y="75785"/>
                </a:cubicBezTo>
                <a:lnTo>
                  <a:pt x="4177678" y="606285"/>
                </a:lnTo>
                <a:cubicBezTo>
                  <a:pt x="4177678" y="648140"/>
                  <a:pt x="4143748" y="682070"/>
                  <a:pt x="4101894" y="682070"/>
                </a:cubicBezTo>
                <a:lnTo>
                  <a:pt x="75785" y="682070"/>
                </a:lnTo>
                <a:cubicBezTo>
                  <a:pt x="33958" y="682070"/>
                  <a:pt x="0" y="648112"/>
                  <a:pt x="0" y="606285"/>
                </a:cubicBezTo>
                <a:lnTo>
                  <a:pt x="0" y="75785"/>
                </a:lnTo>
                <a:cubicBezTo>
                  <a:pt x="0" y="33958"/>
                  <a:pt x="33958" y="0"/>
                  <a:pt x="7578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558276" y="1724121"/>
            <a:ext cx="169570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Meta-Features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058473" y="1705175"/>
            <a:ext cx="625231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3.94%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58276" y="2008317"/>
            <a:ext cx="4101893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Kelly-only, 5-day horizon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491964" y="2396718"/>
            <a:ext cx="4158732" cy="701016"/>
          </a:xfrm>
          <a:custGeom>
            <a:avLst/>
            <a:gdLst/>
            <a:ahLst/>
            <a:cxnLst/>
            <a:rect l="l" t="t" r="r" b="b"/>
            <a:pathLst>
              <a:path w="4158732" h="701016">
                <a:moveTo>
                  <a:pt x="75787" y="0"/>
                </a:moveTo>
                <a:lnTo>
                  <a:pt x="4082945" y="0"/>
                </a:lnTo>
                <a:cubicBezTo>
                  <a:pt x="4124801" y="0"/>
                  <a:pt x="4158732" y="33931"/>
                  <a:pt x="4158732" y="75787"/>
                </a:cubicBezTo>
                <a:lnTo>
                  <a:pt x="4158732" y="625229"/>
                </a:lnTo>
                <a:cubicBezTo>
                  <a:pt x="4158732" y="667085"/>
                  <a:pt x="4124801" y="701016"/>
                  <a:pt x="4082945" y="701016"/>
                </a:cubicBezTo>
                <a:lnTo>
                  <a:pt x="75787" y="701016"/>
                </a:lnTo>
                <a:cubicBezTo>
                  <a:pt x="33959" y="701016"/>
                  <a:pt x="0" y="667057"/>
                  <a:pt x="0" y="625229"/>
                </a:cubicBezTo>
                <a:lnTo>
                  <a:pt x="0" y="75787"/>
                </a:lnTo>
                <a:cubicBezTo>
                  <a:pt x="0" y="33959"/>
                  <a:pt x="33959" y="0"/>
                  <a:pt x="7578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254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577223" y="2500923"/>
            <a:ext cx="1468345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Meta-Features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97193" y="2481977"/>
            <a:ext cx="66312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12.47%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77223" y="2785119"/>
            <a:ext cx="406400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MPT-only, 5-day horizon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482491" y="3182993"/>
            <a:ext cx="4177678" cy="378928"/>
          </a:xfrm>
          <a:custGeom>
            <a:avLst/>
            <a:gdLst/>
            <a:ahLst/>
            <a:cxnLst/>
            <a:rect l="l" t="t" r="r" b="b"/>
            <a:pathLst>
              <a:path w="4177678" h="378928">
                <a:moveTo>
                  <a:pt x="75786" y="0"/>
                </a:moveTo>
                <a:lnTo>
                  <a:pt x="4101893" y="0"/>
                </a:lnTo>
                <a:cubicBezTo>
                  <a:pt x="4143748" y="0"/>
                  <a:pt x="4177678" y="33930"/>
                  <a:pt x="4177678" y="75786"/>
                </a:cubicBezTo>
                <a:lnTo>
                  <a:pt x="4177678" y="303142"/>
                </a:lnTo>
                <a:cubicBezTo>
                  <a:pt x="4177678" y="344997"/>
                  <a:pt x="4143748" y="378928"/>
                  <a:pt x="4101893" y="378928"/>
                </a:cubicBezTo>
                <a:lnTo>
                  <a:pt x="75786" y="378928"/>
                </a:lnTo>
                <a:cubicBezTo>
                  <a:pt x="33958" y="378928"/>
                  <a:pt x="0" y="344969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7520383" y="3258779"/>
            <a:ext cx="4101893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3.2× improvement</a:t>
            </a:r>
            <a:r>
              <a:rPr lang="en-US" sz="119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meta-features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30920" y="3827170"/>
            <a:ext cx="4480821" cy="2349352"/>
          </a:xfrm>
          <a:custGeom>
            <a:avLst/>
            <a:gdLst/>
            <a:ahLst/>
            <a:cxnLst/>
            <a:rect l="l" t="t" r="r" b="b"/>
            <a:pathLst>
              <a:path w="4480821" h="2349352">
                <a:moveTo>
                  <a:pt x="113685" y="0"/>
                </a:moveTo>
                <a:lnTo>
                  <a:pt x="4367135" y="0"/>
                </a:lnTo>
                <a:cubicBezTo>
                  <a:pt x="4429922" y="0"/>
                  <a:pt x="4480821" y="50899"/>
                  <a:pt x="4480821" y="113685"/>
                </a:cubicBezTo>
                <a:lnTo>
                  <a:pt x="4480821" y="2235667"/>
                </a:lnTo>
                <a:cubicBezTo>
                  <a:pt x="4480821" y="2298453"/>
                  <a:pt x="4429922" y="2349352"/>
                  <a:pt x="4367135" y="2349352"/>
                </a:cubicBezTo>
                <a:lnTo>
                  <a:pt x="113685" y="2349352"/>
                </a:lnTo>
                <a:cubicBezTo>
                  <a:pt x="50899" y="2349352"/>
                  <a:pt x="0" y="2298453"/>
                  <a:pt x="0" y="2235667"/>
                </a:cubicBezTo>
                <a:lnTo>
                  <a:pt x="0" y="113685"/>
                </a:lnTo>
                <a:cubicBezTo>
                  <a:pt x="0" y="50899"/>
                  <a:pt x="50899" y="0"/>
                  <a:pt x="11368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482491" y="3978741"/>
            <a:ext cx="4262937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Configuration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482491" y="4627655"/>
            <a:ext cx="4177678" cy="9473"/>
          </a:xfrm>
          <a:custGeom>
            <a:avLst/>
            <a:gdLst/>
            <a:ahLst/>
            <a:cxnLst/>
            <a:rect l="l" t="t" r="r" b="b"/>
            <a:pathLst>
              <a:path w="4177678" h="9473">
                <a:moveTo>
                  <a:pt x="0" y="0"/>
                </a:moveTo>
                <a:lnTo>
                  <a:pt x="4177678" y="0"/>
                </a:lnTo>
                <a:lnTo>
                  <a:pt x="4177678" y="9473"/>
                </a:lnTo>
                <a:lnTo>
                  <a:pt x="0" y="9473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7482491" y="4357669"/>
            <a:ext cx="49260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721287" y="4357669"/>
            <a:ext cx="101363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BiGRU + Meta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482491" y="4978163"/>
            <a:ext cx="4177678" cy="9473"/>
          </a:xfrm>
          <a:custGeom>
            <a:avLst/>
            <a:gdLst/>
            <a:ahLst/>
            <a:cxnLst/>
            <a:rect l="l" t="t" r="r" b="b"/>
            <a:pathLst>
              <a:path w="4177678" h="9473">
                <a:moveTo>
                  <a:pt x="0" y="0"/>
                </a:moveTo>
                <a:lnTo>
                  <a:pt x="4177678" y="0"/>
                </a:lnTo>
                <a:lnTo>
                  <a:pt x="4177678" y="9473"/>
                </a:lnTo>
                <a:lnTo>
                  <a:pt x="0" y="9473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7482491" y="4708177"/>
            <a:ext cx="58733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245569" y="4708177"/>
            <a:ext cx="49260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5-day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482491" y="5328671"/>
            <a:ext cx="4177678" cy="9473"/>
          </a:xfrm>
          <a:custGeom>
            <a:avLst/>
            <a:gdLst/>
            <a:ahLst/>
            <a:cxnLst/>
            <a:rect l="l" t="t" r="r" b="b"/>
            <a:pathLst>
              <a:path w="4177678" h="9473">
                <a:moveTo>
                  <a:pt x="0" y="0"/>
                </a:moveTo>
                <a:lnTo>
                  <a:pt x="4177678" y="0"/>
                </a:lnTo>
                <a:lnTo>
                  <a:pt x="4177678" y="9473"/>
                </a:lnTo>
                <a:lnTo>
                  <a:pt x="0" y="9473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7482491" y="5058685"/>
            <a:ext cx="72943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Allocation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991865" y="5058685"/>
            <a:ext cx="74838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MPT-only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482491" y="5679179"/>
            <a:ext cx="4177678" cy="9473"/>
          </a:xfrm>
          <a:custGeom>
            <a:avLst/>
            <a:gdLst/>
            <a:ahLst/>
            <a:cxnLst/>
            <a:rect l="l" t="t" r="r" b="b"/>
            <a:pathLst>
              <a:path w="4177678" h="9473">
                <a:moveTo>
                  <a:pt x="0" y="0"/>
                </a:moveTo>
                <a:lnTo>
                  <a:pt x="4177678" y="0"/>
                </a:lnTo>
                <a:lnTo>
                  <a:pt x="4177678" y="9473"/>
                </a:lnTo>
                <a:lnTo>
                  <a:pt x="0" y="9473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7482491" y="5409193"/>
            <a:ext cx="51155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206048" y="5409193"/>
            <a:ext cx="530499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12.47%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482491" y="5759702"/>
            <a:ext cx="90942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Sharpe Ratio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376861" y="5759702"/>
            <a:ext cx="359981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4.34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78928" y="6252308"/>
            <a:ext cx="11434145" cy="606284"/>
          </a:xfrm>
          <a:custGeom>
            <a:avLst/>
            <a:gdLst/>
            <a:ahLst/>
            <a:cxnLst/>
            <a:rect l="l" t="t" r="r" b="b"/>
            <a:pathLst>
              <a:path w="11434145" h="606284">
                <a:moveTo>
                  <a:pt x="75786" y="0"/>
                </a:moveTo>
                <a:lnTo>
                  <a:pt x="11358359" y="0"/>
                </a:lnTo>
                <a:cubicBezTo>
                  <a:pt x="11400214" y="0"/>
                  <a:pt x="11434145" y="33930"/>
                  <a:pt x="11434145" y="75786"/>
                </a:cubicBezTo>
                <a:lnTo>
                  <a:pt x="11434145" y="530499"/>
                </a:lnTo>
                <a:cubicBezTo>
                  <a:pt x="11434145" y="572354"/>
                  <a:pt x="11400214" y="606284"/>
                  <a:pt x="11358359" y="606284"/>
                </a:cubicBezTo>
                <a:lnTo>
                  <a:pt x="75786" y="606284"/>
                </a:lnTo>
                <a:cubicBezTo>
                  <a:pt x="33930" y="606284"/>
                  <a:pt x="0" y="572354"/>
                  <a:pt x="0" y="530499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473660" y="6470191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21315" y="21315"/>
                </a:moveTo>
                <a:cubicBezTo>
                  <a:pt x="21315" y="15420"/>
                  <a:pt x="16552" y="10657"/>
                  <a:pt x="10657" y="10657"/>
                </a:cubicBezTo>
                <a:cubicBezTo>
                  <a:pt x="4762" y="10657"/>
                  <a:pt x="0" y="15420"/>
                  <a:pt x="0" y="21315"/>
                </a:cubicBezTo>
                <a:lnTo>
                  <a:pt x="0" y="133217"/>
                </a:lnTo>
                <a:cubicBezTo>
                  <a:pt x="0" y="147937"/>
                  <a:pt x="11923" y="159860"/>
                  <a:pt x="26643" y="159860"/>
                </a:cubicBezTo>
                <a:lnTo>
                  <a:pt x="159860" y="159860"/>
                </a:lnTo>
                <a:cubicBezTo>
                  <a:pt x="165755" y="159860"/>
                  <a:pt x="170517" y="155098"/>
                  <a:pt x="170517" y="149203"/>
                </a:cubicBezTo>
                <a:cubicBezTo>
                  <a:pt x="170517" y="143308"/>
                  <a:pt x="165755" y="138545"/>
                  <a:pt x="159860" y="138545"/>
                </a:cubicBezTo>
                <a:lnTo>
                  <a:pt x="26643" y="138545"/>
                </a:lnTo>
                <a:cubicBezTo>
                  <a:pt x="23713" y="138545"/>
                  <a:pt x="21315" y="136148"/>
                  <a:pt x="21315" y="133217"/>
                </a:cubicBezTo>
                <a:lnTo>
                  <a:pt x="21315" y="21315"/>
                </a:lnTo>
                <a:close/>
                <a:moveTo>
                  <a:pt x="156730" y="50156"/>
                </a:moveTo>
                <a:cubicBezTo>
                  <a:pt x="160893" y="45993"/>
                  <a:pt x="160893" y="39232"/>
                  <a:pt x="156730" y="35069"/>
                </a:cubicBezTo>
                <a:cubicBezTo>
                  <a:pt x="152567" y="30906"/>
                  <a:pt x="145806" y="30906"/>
                  <a:pt x="141643" y="35069"/>
                </a:cubicBezTo>
                <a:lnTo>
                  <a:pt x="106573" y="70172"/>
                </a:lnTo>
                <a:lnTo>
                  <a:pt x="87457" y="51089"/>
                </a:lnTo>
                <a:cubicBezTo>
                  <a:pt x="83294" y="46926"/>
                  <a:pt x="76533" y="46926"/>
                  <a:pt x="72370" y="51089"/>
                </a:cubicBezTo>
                <a:lnTo>
                  <a:pt x="40398" y="83061"/>
                </a:lnTo>
                <a:cubicBezTo>
                  <a:pt x="36235" y="87224"/>
                  <a:pt x="36235" y="93984"/>
                  <a:pt x="40398" y="98147"/>
                </a:cubicBezTo>
                <a:cubicBezTo>
                  <a:pt x="44561" y="102310"/>
                  <a:pt x="51322" y="102310"/>
                  <a:pt x="55485" y="98147"/>
                </a:cubicBezTo>
                <a:lnTo>
                  <a:pt x="79930" y="73702"/>
                </a:lnTo>
                <a:lnTo>
                  <a:pt x="99047" y="92819"/>
                </a:lnTo>
                <a:cubicBezTo>
                  <a:pt x="103210" y="96982"/>
                  <a:pt x="109970" y="96982"/>
                  <a:pt x="114133" y="92819"/>
                </a:cubicBezTo>
                <a:lnTo>
                  <a:pt x="156763" y="50189"/>
                </a:ln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778430" y="6328093"/>
            <a:ext cx="11036270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Finding:</a:t>
            </a:r>
            <a:r>
              <a:rPr lang="en-US" sz="119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Meta-features dramatically improve economic outcomes, with the 5-day horizon consistently outperforming 1-day predictions across all allocation strategies.</a:t>
            </a:r>
            <a:endParaRPr lang="en-US" sz="1600" dirty="0"/>
          </a:p>
        </p:txBody>
      </p:sp>
      <p:pic>
        <p:nvPicPr>
          <p:cNvPr id="45" name="Picture 4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C1F73F4-4DD0-BA47-5116-FD939FD8F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68" y="1288354"/>
            <a:ext cx="6560959" cy="2213575"/>
          </a:xfrm>
          <a:prstGeom prst="rect">
            <a:avLst/>
          </a:prstGeom>
        </p:spPr>
      </p:pic>
      <p:pic>
        <p:nvPicPr>
          <p:cNvPr id="51" name="Picture 50" descr="A graph of 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3F0CE06C-B7A2-0A15-F2F4-754423EA7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68" y="3631081"/>
            <a:ext cx="6560071" cy="246887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341" y="384275"/>
            <a:ext cx="69868" cy="279473"/>
          </a:xfrm>
          <a:custGeom>
            <a:avLst/>
            <a:gdLst/>
            <a:ahLst/>
            <a:cxnLst/>
            <a:rect l="l" t="t" r="r" b="b"/>
            <a:pathLst>
              <a:path w="69868" h="279473">
                <a:moveTo>
                  <a:pt x="0" y="0"/>
                </a:moveTo>
                <a:lnTo>
                  <a:pt x="69868" y="0"/>
                </a:lnTo>
                <a:lnTo>
                  <a:pt x="69868" y="279473"/>
                </a:lnTo>
                <a:lnTo>
                  <a:pt x="0" y="279473"/>
                </a:lnTo>
                <a:lnTo>
                  <a:pt x="0" y="0"/>
                </a:ln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24011" y="349341"/>
            <a:ext cx="3720481" cy="34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6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Risk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4011" y="768550"/>
            <a:ext cx="11405983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exit mechanism for adaptive horizon control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341" y="1152825"/>
            <a:ext cx="5676791" cy="4873307"/>
          </a:xfrm>
          <a:custGeom>
            <a:avLst/>
            <a:gdLst/>
            <a:ahLst/>
            <a:cxnLst/>
            <a:rect l="l" t="t" r="r" b="b"/>
            <a:pathLst>
              <a:path w="5676791" h="4873307">
                <a:moveTo>
                  <a:pt x="104825" y="0"/>
                </a:moveTo>
                <a:lnTo>
                  <a:pt x="5571966" y="0"/>
                </a:lnTo>
                <a:cubicBezTo>
                  <a:pt x="5629859" y="0"/>
                  <a:pt x="5676791" y="46932"/>
                  <a:pt x="5676791" y="104825"/>
                </a:cubicBezTo>
                <a:lnTo>
                  <a:pt x="5676791" y="4768482"/>
                </a:lnTo>
                <a:cubicBezTo>
                  <a:pt x="5676791" y="4826375"/>
                  <a:pt x="5629859" y="4873307"/>
                  <a:pt x="5571966" y="4873307"/>
                </a:cubicBezTo>
                <a:lnTo>
                  <a:pt x="104825" y="4873307"/>
                </a:lnTo>
                <a:cubicBezTo>
                  <a:pt x="46932" y="4873307"/>
                  <a:pt x="0" y="4826375"/>
                  <a:pt x="0" y="4768482"/>
                </a:cubicBezTo>
                <a:lnTo>
                  <a:pt x="0" y="104825"/>
                </a:lnTo>
                <a:cubicBezTo>
                  <a:pt x="0" y="46970"/>
                  <a:pt x="46970" y="0"/>
                  <a:pt x="10482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71610" y="1327496"/>
            <a:ext cx="5432252" cy="270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Drawdown Comparison for Binary System with no Meta Features</a:t>
            </a:r>
            <a:endParaRPr lang="en-US" sz="1600" dirty="0"/>
          </a:p>
        </p:txBody>
      </p:sp>
      <p:pic>
        <p:nvPicPr>
          <p:cNvPr id="7" name="Image 0" descr="https://kimi-img.moonshot.cn/pub/slides/26-03-18-00:19:21-d6snu2f7ajp9mps3l6r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5927" y="1648740"/>
            <a:ext cx="5192255" cy="3762504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163821" y="1152825"/>
            <a:ext cx="5676791" cy="3056734"/>
          </a:xfrm>
          <a:custGeom>
            <a:avLst/>
            <a:gdLst/>
            <a:ahLst/>
            <a:cxnLst/>
            <a:rect l="l" t="t" r="r" b="b"/>
            <a:pathLst>
              <a:path w="5676791" h="3056734">
                <a:moveTo>
                  <a:pt x="104815" y="0"/>
                </a:moveTo>
                <a:lnTo>
                  <a:pt x="5571975" y="0"/>
                </a:lnTo>
                <a:cubicBezTo>
                  <a:pt x="5629863" y="0"/>
                  <a:pt x="5676791" y="46927"/>
                  <a:pt x="5676791" y="104815"/>
                </a:cubicBezTo>
                <a:lnTo>
                  <a:pt x="5676791" y="2951918"/>
                </a:lnTo>
                <a:cubicBezTo>
                  <a:pt x="5676791" y="3009806"/>
                  <a:pt x="5629863" y="3056734"/>
                  <a:pt x="5571975" y="3056734"/>
                </a:cubicBezTo>
                <a:lnTo>
                  <a:pt x="104815" y="3056734"/>
                </a:lnTo>
                <a:cubicBezTo>
                  <a:pt x="46927" y="3056734"/>
                  <a:pt x="0" y="3009806"/>
                  <a:pt x="0" y="2951918"/>
                </a:cubicBezTo>
                <a:lnTo>
                  <a:pt x="0" y="104815"/>
                </a:lnTo>
                <a:cubicBezTo>
                  <a:pt x="0" y="46966"/>
                  <a:pt x="46966" y="0"/>
                  <a:pt x="104815" y="0"/>
                </a:cubicBezTo>
                <a:close/>
              </a:path>
            </a:pathLst>
          </a:custGeom>
          <a:gradFill flip="none" rotWithShape="1">
            <a:gsLst>
              <a:gs pos="0">
                <a:srgbClr val="63B3ED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6338492" y="1327496"/>
            <a:ext cx="419209" cy="419209"/>
          </a:xfrm>
          <a:custGeom>
            <a:avLst/>
            <a:gdLst/>
            <a:ahLst/>
            <a:cxnLst/>
            <a:rect l="l" t="t" r="r" b="b"/>
            <a:pathLst>
              <a:path w="419209" h="419209">
                <a:moveTo>
                  <a:pt x="209605" y="0"/>
                </a:moveTo>
                <a:lnTo>
                  <a:pt x="209605" y="0"/>
                </a:lnTo>
                <a:cubicBezTo>
                  <a:pt x="325289" y="0"/>
                  <a:pt x="419209" y="93921"/>
                  <a:pt x="419209" y="209605"/>
                </a:cubicBezTo>
                <a:lnTo>
                  <a:pt x="419209" y="209605"/>
                </a:lnTo>
                <a:cubicBezTo>
                  <a:pt x="419209" y="325289"/>
                  <a:pt x="325289" y="419209"/>
                  <a:pt x="209605" y="419209"/>
                </a:cubicBezTo>
                <a:lnTo>
                  <a:pt x="209605" y="419209"/>
                </a:lnTo>
                <a:cubicBezTo>
                  <a:pt x="93921" y="419209"/>
                  <a:pt x="0" y="325289"/>
                  <a:pt x="0" y="209605"/>
                </a:cubicBezTo>
                <a:lnTo>
                  <a:pt x="0" y="209605"/>
                </a:lnTo>
                <a:cubicBezTo>
                  <a:pt x="0" y="93921"/>
                  <a:pt x="93921" y="0"/>
                  <a:pt x="209605" y="0"/>
                </a:cubicBezTo>
                <a:close/>
              </a:path>
            </a:pathLst>
          </a:custGeom>
          <a:solidFill>
            <a:srgbClr val="63B3ED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6456394" y="1432298"/>
            <a:ext cx="183404" cy="209605"/>
          </a:xfrm>
          <a:custGeom>
            <a:avLst/>
            <a:gdLst/>
            <a:ahLst/>
            <a:cxnLst/>
            <a:rect l="l" t="t" r="r" b="b"/>
            <a:pathLst>
              <a:path w="183404" h="209605">
                <a:moveTo>
                  <a:pt x="117903" y="26201"/>
                </a:moveTo>
                <a:lnTo>
                  <a:pt x="144103" y="26201"/>
                </a:lnTo>
                <a:lnTo>
                  <a:pt x="144103" y="196504"/>
                </a:lnTo>
                <a:cubicBezTo>
                  <a:pt x="144103" y="203750"/>
                  <a:pt x="149957" y="209605"/>
                  <a:pt x="157203" y="209605"/>
                </a:cubicBezTo>
                <a:lnTo>
                  <a:pt x="170304" y="209605"/>
                </a:lnTo>
                <a:cubicBezTo>
                  <a:pt x="177550" y="209605"/>
                  <a:pt x="183404" y="203750"/>
                  <a:pt x="183404" y="196504"/>
                </a:cubicBezTo>
                <a:cubicBezTo>
                  <a:pt x="183404" y="189258"/>
                  <a:pt x="177550" y="183404"/>
                  <a:pt x="170304" y="183404"/>
                </a:cubicBezTo>
                <a:lnTo>
                  <a:pt x="170304" y="26201"/>
                </a:lnTo>
                <a:cubicBezTo>
                  <a:pt x="170304" y="11749"/>
                  <a:pt x="158554" y="0"/>
                  <a:pt x="144103" y="0"/>
                </a:cubicBezTo>
                <a:lnTo>
                  <a:pt x="104802" y="0"/>
                </a:lnTo>
                <a:lnTo>
                  <a:pt x="104802" y="0"/>
                </a:lnTo>
                <a:lnTo>
                  <a:pt x="39301" y="0"/>
                </a:lnTo>
                <a:cubicBezTo>
                  <a:pt x="24850" y="0"/>
                  <a:pt x="13100" y="11749"/>
                  <a:pt x="13100" y="26201"/>
                </a:cubicBezTo>
                <a:lnTo>
                  <a:pt x="13100" y="183404"/>
                </a:lnTo>
                <a:cubicBezTo>
                  <a:pt x="5854" y="183404"/>
                  <a:pt x="0" y="189258"/>
                  <a:pt x="0" y="196504"/>
                </a:cubicBezTo>
                <a:cubicBezTo>
                  <a:pt x="0" y="203750"/>
                  <a:pt x="5854" y="209605"/>
                  <a:pt x="13100" y="209605"/>
                </a:cubicBezTo>
                <a:lnTo>
                  <a:pt x="104802" y="209605"/>
                </a:lnTo>
                <a:cubicBezTo>
                  <a:pt x="112048" y="209605"/>
                  <a:pt x="117903" y="203750"/>
                  <a:pt x="117903" y="196504"/>
                </a:cubicBezTo>
                <a:lnTo>
                  <a:pt x="117903" y="26201"/>
                </a:lnTo>
                <a:close/>
                <a:moveTo>
                  <a:pt x="65501" y="104802"/>
                </a:moveTo>
                <a:cubicBezTo>
                  <a:pt x="65501" y="97572"/>
                  <a:pt x="71371" y="91702"/>
                  <a:pt x="78602" y="91702"/>
                </a:cubicBezTo>
                <a:cubicBezTo>
                  <a:pt x="85832" y="91702"/>
                  <a:pt x="91702" y="97572"/>
                  <a:pt x="91702" y="104802"/>
                </a:cubicBezTo>
                <a:cubicBezTo>
                  <a:pt x="91702" y="112033"/>
                  <a:pt x="85832" y="117903"/>
                  <a:pt x="78602" y="117903"/>
                </a:cubicBezTo>
                <a:cubicBezTo>
                  <a:pt x="71371" y="117903"/>
                  <a:pt x="65501" y="112033"/>
                  <a:pt x="65501" y="104802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62503" y="1401731"/>
            <a:ext cx="2183381" cy="270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Exit Mechanism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38492" y="1886441"/>
            <a:ext cx="5397318" cy="68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Positions are liquidated early when next-day predictions indicate deteriorating conditions. This acts as </a:t>
            </a:r>
            <a:r>
              <a:rPr lang="en-US" sz="11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horizon control</a:t>
            </a:r>
            <a:r>
              <a:rPr lang="en-US" sz="11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truncating loss trajectories before they compound.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38492" y="2707393"/>
            <a:ext cx="5327450" cy="1327496"/>
          </a:xfrm>
          <a:custGeom>
            <a:avLst/>
            <a:gdLst/>
            <a:ahLst/>
            <a:cxnLst/>
            <a:rect l="l" t="t" r="r" b="b"/>
            <a:pathLst>
              <a:path w="5327450" h="1327496">
                <a:moveTo>
                  <a:pt x="69866" y="0"/>
                </a:moveTo>
                <a:lnTo>
                  <a:pt x="5257584" y="0"/>
                </a:lnTo>
                <a:cubicBezTo>
                  <a:pt x="5296170" y="0"/>
                  <a:pt x="5327450" y="31280"/>
                  <a:pt x="5327450" y="69866"/>
                </a:cubicBezTo>
                <a:lnTo>
                  <a:pt x="5327450" y="1257630"/>
                </a:lnTo>
                <a:cubicBezTo>
                  <a:pt x="5327450" y="1296216"/>
                  <a:pt x="5296170" y="1327496"/>
                  <a:pt x="5257584" y="1327496"/>
                </a:cubicBezTo>
                <a:lnTo>
                  <a:pt x="69866" y="1327496"/>
                </a:lnTo>
                <a:cubicBezTo>
                  <a:pt x="31280" y="1327496"/>
                  <a:pt x="0" y="1296216"/>
                  <a:pt x="0" y="1257630"/>
                </a:cubicBezTo>
                <a:lnTo>
                  <a:pt x="0" y="69866"/>
                </a:lnTo>
                <a:cubicBezTo>
                  <a:pt x="0" y="31306"/>
                  <a:pt x="31306" y="0"/>
                  <a:pt x="6986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478228" y="2847129"/>
            <a:ext cx="5117845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Exit Condition: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78228" y="3126602"/>
            <a:ext cx="5047977" cy="768550"/>
          </a:xfrm>
          <a:custGeom>
            <a:avLst/>
            <a:gdLst/>
            <a:ahLst/>
            <a:cxnLst/>
            <a:rect l="l" t="t" r="r" b="b"/>
            <a:pathLst>
              <a:path w="5047977" h="768550">
                <a:moveTo>
                  <a:pt x="34931" y="0"/>
                </a:moveTo>
                <a:lnTo>
                  <a:pt x="5013046" y="0"/>
                </a:lnTo>
                <a:cubicBezTo>
                  <a:pt x="5032338" y="0"/>
                  <a:pt x="5047977" y="15639"/>
                  <a:pt x="5047977" y="34931"/>
                </a:cubicBezTo>
                <a:lnTo>
                  <a:pt x="5047977" y="733620"/>
                </a:lnTo>
                <a:cubicBezTo>
                  <a:pt x="5047977" y="752911"/>
                  <a:pt x="5032338" y="768550"/>
                  <a:pt x="5013046" y="768550"/>
                </a:cubicBezTo>
                <a:lnTo>
                  <a:pt x="34931" y="768550"/>
                </a:lnTo>
                <a:cubicBezTo>
                  <a:pt x="15652" y="768550"/>
                  <a:pt x="0" y="752898"/>
                  <a:pt x="0" y="733620"/>
                </a:cubicBezTo>
                <a:lnTo>
                  <a:pt x="0" y="34931"/>
                </a:lnTo>
                <a:cubicBezTo>
                  <a:pt x="0" y="15652"/>
                  <a:pt x="15652" y="0"/>
                  <a:pt x="3493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478228" y="3126602"/>
            <a:ext cx="5117845" cy="768550"/>
          </a:xfrm>
          <a:prstGeom prst="rect">
            <a:avLst/>
          </a:prstGeom>
          <a:noFill/>
          <a:ln/>
        </p:spPr>
        <p:txBody>
          <a:bodyPr wrap="square" lIns="104802" tIns="69868" rIns="104802" bIns="69868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predicted_return &lt; threshold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 direction == down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 confidence &gt; 0.5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81288" y="4349295"/>
            <a:ext cx="2751060" cy="1117891"/>
          </a:xfrm>
          <a:custGeom>
            <a:avLst/>
            <a:gdLst/>
            <a:ahLst/>
            <a:cxnLst/>
            <a:rect l="l" t="t" r="r" b="b"/>
            <a:pathLst>
              <a:path w="2751060" h="1117891">
                <a:moveTo>
                  <a:pt x="34934" y="0"/>
                </a:moveTo>
                <a:lnTo>
                  <a:pt x="2646258" y="0"/>
                </a:lnTo>
                <a:cubicBezTo>
                  <a:pt x="2704139" y="0"/>
                  <a:pt x="2751060" y="46922"/>
                  <a:pt x="2751060" y="104802"/>
                </a:cubicBezTo>
                <a:lnTo>
                  <a:pt x="2751060" y="1013089"/>
                </a:lnTo>
                <a:cubicBezTo>
                  <a:pt x="2751060" y="1070970"/>
                  <a:pt x="2704139" y="1117891"/>
                  <a:pt x="2646258" y="1117891"/>
                </a:cubicBezTo>
                <a:lnTo>
                  <a:pt x="34934" y="1117891"/>
                </a:lnTo>
                <a:cubicBezTo>
                  <a:pt x="15641" y="1117891"/>
                  <a:pt x="0" y="1102251"/>
                  <a:pt x="0" y="1082957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6181288" y="4349295"/>
            <a:ext cx="34934" cy="1117891"/>
          </a:xfrm>
          <a:custGeom>
            <a:avLst/>
            <a:gdLst/>
            <a:ahLst/>
            <a:cxnLst/>
            <a:rect l="l" t="t" r="r" b="b"/>
            <a:pathLst>
              <a:path w="34934" h="1117891">
                <a:moveTo>
                  <a:pt x="34934" y="0"/>
                </a:moveTo>
                <a:lnTo>
                  <a:pt x="34934" y="0"/>
                </a:lnTo>
                <a:lnTo>
                  <a:pt x="34934" y="1117891"/>
                </a:lnTo>
                <a:lnTo>
                  <a:pt x="34934" y="1117891"/>
                </a:lnTo>
                <a:cubicBezTo>
                  <a:pt x="15641" y="1117891"/>
                  <a:pt x="0" y="1102251"/>
                  <a:pt x="0" y="1082957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338492" y="4489032"/>
            <a:ext cx="1152825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Early Exit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651920" y="4523966"/>
            <a:ext cx="104802" cy="139736"/>
          </a:xfrm>
          <a:custGeom>
            <a:avLst/>
            <a:gdLst/>
            <a:ahLst/>
            <a:cxnLst/>
            <a:rect l="l" t="t" r="r" b="b"/>
            <a:pathLst>
              <a:path w="104802" h="139736">
                <a:moveTo>
                  <a:pt x="46233" y="137171"/>
                </a:moveTo>
                <a:cubicBezTo>
                  <a:pt x="49645" y="140582"/>
                  <a:pt x="55185" y="140582"/>
                  <a:pt x="58596" y="137171"/>
                </a:cubicBezTo>
                <a:lnTo>
                  <a:pt x="102264" y="93503"/>
                </a:lnTo>
                <a:cubicBezTo>
                  <a:pt x="105676" y="90092"/>
                  <a:pt x="105676" y="84551"/>
                  <a:pt x="102264" y="81140"/>
                </a:cubicBezTo>
                <a:cubicBezTo>
                  <a:pt x="98853" y="77728"/>
                  <a:pt x="93312" y="77728"/>
                  <a:pt x="89901" y="81140"/>
                </a:cubicBezTo>
                <a:lnTo>
                  <a:pt x="61135" y="109906"/>
                </a:lnTo>
                <a:lnTo>
                  <a:pt x="61135" y="8734"/>
                </a:lnTo>
                <a:cubicBezTo>
                  <a:pt x="61135" y="3903"/>
                  <a:pt x="57232" y="0"/>
                  <a:pt x="52401" y="0"/>
                </a:cubicBezTo>
                <a:cubicBezTo>
                  <a:pt x="47570" y="0"/>
                  <a:pt x="43668" y="3903"/>
                  <a:pt x="43668" y="8734"/>
                </a:cubicBezTo>
                <a:lnTo>
                  <a:pt x="43668" y="109906"/>
                </a:lnTo>
                <a:lnTo>
                  <a:pt x="14902" y="81140"/>
                </a:lnTo>
                <a:cubicBezTo>
                  <a:pt x="11490" y="77728"/>
                  <a:pt x="5950" y="77728"/>
                  <a:pt x="2538" y="81140"/>
                </a:cubicBezTo>
                <a:cubicBezTo>
                  <a:pt x="-873" y="84551"/>
                  <a:pt x="-873" y="90092"/>
                  <a:pt x="2538" y="93503"/>
                </a:cubicBezTo>
                <a:lnTo>
                  <a:pt x="46206" y="137171"/>
                </a:ln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338492" y="4768504"/>
            <a:ext cx="2585123" cy="314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3" b="1" dirty="0">
                <a:solidFill>
                  <a:srgbClr val="F56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-3.5%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38492" y="5117845"/>
            <a:ext cx="2523989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Drawdown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088597" y="4349295"/>
            <a:ext cx="2751060" cy="1117891"/>
          </a:xfrm>
          <a:custGeom>
            <a:avLst/>
            <a:gdLst/>
            <a:ahLst/>
            <a:cxnLst/>
            <a:rect l="l" t="t" r="r" b="b"/>
            <a:pathLst>
              <a:path w="2751060" h="1117891">
                <a:moveTo>
                  <a:pt x="34934" y="0"/>
                </a:moveTo>
                <a:lnTo>
                  <a:pt x="2646258" y="0"/>
                </a:lnTo>
                <a:cubicBezTo>
                  <a:pt x="2704139" y="0"/>
                  <a:pt x="2751060" y="46922"/>
                  <a:pt x="2751060" y="104802"/>
                </a:cubicBezTo>
                <a:lnTo>
                  <a:pt x="2751060" y="1013089"/>
                </a:lnTo>
                <a:cubicBezTo>
                  <a:pt x="2751060" y="1070970"/>
                  <a:pt x="2704139" y="1117891"/>
                  <a:pt x="2646258" y="1117891"/>
                </a:cubicBezTo>
                <a:lnTo>
                  <a:pt x="34934" y="1117891"/>
                </a:lnTo>
                <a:cubicBezTo>
                  <a:pt x="15641" y="1117891"/>
                  <a:pt x="0" y="1102251"/>
                  <a:pt x="0" y="1082957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9088597" y="4349295"/>
            <a:ext cx="34934" cy="1117891"/>
          </a:xfrm>
          <a:custGeom>
            <a:avLst/>
            <a:gdLst/>
            <a:ahLst/>
            <a:cxnLst/>
            <a:rect l="l" t="t" r="r" b="b"/>
            <a:pathLst>
              <a:path w="34934" h="1117891">
                <a:moveTo>
                  <a:pt x="34934" y="0"/>
                </a:moveTo>
                <a:lnTo>
                  <a:pt x="34934" y="0"/>
                </a:lnTo>
                <a:lnTo>
                  <a:pt x="34934" y="1117891"/>
                </a:lnTo>
                <a:lnTo>
                  <a:pt x="34934" y="1117891"/>
                </a:lnTo>
                <a:cubicBezTo>
                  <a:pt x="15641" y="1117891"/>
                  <a:pt x="0" y="1102251"/>
                  <a:pt x="0" y="1082957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9245800" y="4489032"/>
            <a:ext cx="960688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Early Exit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1559229" y="4523966"/>
            <a:ext cx="104802" cy="139736"/>
          </a:xfrm>
          <a:custGeom>
            <a:avLst/>
            <a:gdLst/>
            <a:ahLst/>
            <a:cxnLst/>
            <a:rect l="l" t="t" r="r" b="b"/>
            <a:pathLst>
              <a:path w="104802" h="139736">
                <a:moveTo>
                  <a:pt x="58569" y="4749"/>
                </a:moveTo>
                <a:cubicBezTo>
                  <a:pt x="55158" y="1337"/>
                  <a:pt x="49617" y="1337"/>
                  <a:pt x="46206" y="4749"/>
                </a:cubicBezTo>
                <a:lnTo>
                  <a:pt x="2538" y="48416"/>
                </a:lnTo>
                <a:cubicBezTo>
                  <a:pt x="-873" y="51828"/>
                  <a:pt x="-873" y="57368"/>
                  <a:pt x="2538" y="60780"/>
                </a:cubicBezTo>
                <a:cubicBezTo>
                  <a:pt x="5950" y="64191"/>
                  <a:pt x="11490" y="64191"/>
                  <a:pt x="14902" y="60780"/>
                </a:cubicBezTo>
                <a:lnTo>
                  <a:pt x="43668" y="32014"/>
                </a:lnTo>
                <a:lnTo>
                  <a:pt x="43668" y="133186"/>
                </a:lnTo>
                <a:cubicBezTo>
                  <a:pt x="43668" y="138017"/>
                  <a:pt x="47570" y="141920"/>
                  <a:pt x="52401" y="141920"/>
                </a:cubicBezTo>
                <a:cubicBezTo>
                  <a:pt x="57232" y="141920"/>
                  <a:pt x="61135" y="138017"/>
                  <a:pt x="61135" y="133186"/>
                </a:cubicBezTo>
                <a:lnTo>
                  <a:pt x="61135" y="32014"/>
                </a:lnTo>
                <a:lnTo>
                  <a:pt x="89901" y="60780"/>
                </a:lnTo>
                <a:cubicBezTo>
                  <a:pt x="93312" y="64191"/>
                  <a:pt x="98853" y="64191"/>
                  <a:pt x="102264" y="60780"/>
                </a:cubicBezTo>
                <a:cubicBezTo>
                  <a:pt x="105676" y="57368"/>
                  <a:pt x="105676" y="51828"/>
                  <a:pt x="102264" y="48416"/>
                </a:cubicBezTo>
                <a:lnTo>
                  <a:pt x="58596" y="4749"/>
                </a:ln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9245800" y="4768504"/>
            <a:ext cx="2585123" cy="314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3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-1.1%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245800" y="5117845"/>
            <a:ext cx="2523989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Drawdown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63821" y="5606923"/>
            <a:ext cx="5676791" cy="419209"/>
          </a:xfrm>
          <a:custGeom>
            <a:avLst/>
            <a:gdLst/>
            <a:ahLst/>
            <a:cxnLst/>
            <a:rect l="l" t="t" r="r" b="b"/>
            <a:pathLst>
              <a:path w="5676791" h="419209">
                <a:moveTo>
                  <a:pt x="69870" y="0"/>
                </a:moveTo>
                <a:lnTo>
                  <a:pt x="5606921" y="0"/>
                </a:lnTo>
                <a:cubicBezTo>
                  <a:pt x="5645509" y="0"/>
                  <a:pt x="5676791" y="31282"/>
                  <a:pt x="5676791" y="69870"/>
                </a:cubicBezTo>
                <a:lnTo>
                  <a:pt x="5676791" y="349340"/>
                </a:lnTo>
                <a:cubicBezTo>
                  <a:pt x="5676791" y="387927"/>
                  <a:pt x="5645509" y="419209"/>
                  <a:pt x="5606921" y="419209"/>
                </a:cubicBezTo>
                <a:lnTo>
                  <a:pt x="69870" y="419209"/>
                </a:lnTo>
                <a:cubicBezTo>
                  <a:pt x="31308" y="419209"/>
                  <a:pt x="0" y="387902"/>
                  <a:pt x="0" y="349340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6233689" y="5711725"/>
            <a:ext cx="5537054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68% reduction</a:t>
            </a:r>
            <a:r>
              <a:rPr lang="en-US" sz="11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maximum drawdown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49341" y="6130934"/>
            <a:ext cx="3737948" cy="724883"/>
          </a:xfrm>
          <a:custGeom>
            <a:avLst/>
            <a:gdLst/>
            <a:ahLst/>
            <a:cxnLst/>
            <a:rect l="l" t="t" r="r" b="b"/>
            <a:pathLst>
              <a:path w="3737948" h="724883">
                <a:moveTo>
                  <a:pt x="69871" y="0"/>
                </a:moveTo>
                <a:lnTo>
                  <a:pt x="3668077" y="0"/>
                </a:lnTo>
                <a:cubicBezTo>
                  <a:pt x="3706666" y="0"/>
                  <a:pt x="3737948" y="31283"/>
                  <a:pt x="3737948" y="69871"/>
                </a:cubicBezTo>
                <a:lnTo>
                  <a:pt x="3737948" y="655011"/>
                </a:lnTo>
                <a:cubicBezTo>
                  <a:pt x="3737948" y="693600"/>
                  <a:pt x="3706666" y="724883"/>
                  <a:pt x="3668077" y="724883"/>
                </a:cubicBezTo>
                <a:lnTo>
                  <a:pt x="69871" y="724883"/>
                </a:lnTo>
                <a:cubicBezTo>
                  <a:pt x="31283" y="724883"/>
                  <a:pt x="0" y="693600"/>
                  <a:pt x="0" y="655011"/>
                </a:cubicBezTo>
                <a:lnTo>
                  <a:pt x="0" y="69871"/>
                </a:lnTo>
                <a:cubicBezTo>
                  <a:pt x="0" y="31308"/>
                  <a:pt x="31308" y="0"/>
                  <a:pt x="6987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419209" y="6235736"/>
            <a:ext cx="3598212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Sharpe Improvement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01742" y="6480275"/>
            <a:ext cx="3633146" cy="270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0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1.51 → 4.51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225661" y="6130934"/>
            <a:ext cx="3737948" cy="724883"/>
          </a:xfrm>
          <a:custGeom>
            <a:avLst/>
            <a:gdLst/>
            <a:ahLst/>
            <a:cxnLst/>
            <a:rect l="l" t="t" r="r" b="b"/>
            <a:pathLst>
              <a:path w="3737948" h="724883">
                <a:moveTo>
                  <a:pt x="69871" y="0"/>
                </a:moveTo>
                <a:lnTo>
                  <a:pt x="3668077" y="0"/>
                </a:lnTo>
                <a:cubicBezTo>
                  <a:pt x="3706666" y="0"/>
                  <a:pt x="3737948" y="31283"/>
                  <a:pt x="3737948" y="69871"/>
                </a:cubicBezTo>
                <a:lnTo>
                  <a:pt x="3737948" y="655011"/>
                </a:lnTo>
                <a:cubicBezTo>
                  <a:pt x="3737948" y="693600"/>
                  <a:pt x="3706666" y="724883"/>
                  <a:pt x="3668077" y="724883"/>
                </a:cubicBezTo>
                <a:lnTo>
                  <a:pt x="69871" y="724883"/>
                </a:lnTo>
                <a:cubicBezTo>
                  <a:pt x="31283" y="724883"/>
                  <a:pt x="0" y="693600"/>
                  <a:pt x="0" y="655011"/>
                </a:cubicBezTo>
                <a:lnTo>
                  <a:pt x="0" y="69871"/>
                </a:lnTo>
                <a:cubicBezTo>
                  <a:pt x="0" y="31308"/>
                  <a:pt x="31308" y="0"/>
                  <a:pt x="6987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4295529" y="6235736"/>
            <a:ext cx="3598212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Early Exits/Day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278062" y="6480275"/>
            <a:ext cx="3633146" cy="270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3.4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101981" y="6130934"/>
            <a:ext cx="3737948" cy="724883"/>
          </a:xfrm>
          <a:custGeom>
            <a:avLst/>
            <a:gdLst/>
            <a:ahLst/>
            <a:cxnLst/>
            <a:rect l="l" t="t" r="r" b="b"/>
            <a:pathLst>
              <a:path w="3737948" h="724883">
                <a:moveTo>
                  <a:pt x="69871" y="0"/>
                </a:moveTo>
                <a:lnTo>
                  <a:pt x="3668077" y="0"/>
                </a:lnTo>
                <a:cubicBezTo>
                  <a:pt x="3706666" y="0"/>
                  <a:pt x="3737948" y="31283"/>
                  <a:pt x="3737948" y="69871"/>
                </a:cubicBezTo>
                <a:lnTo>
                  <a:pt x="3737948" y="655011"/>
                </a:lnTo>
                <a:cubicBezTo>
                  <a:pt x="3737948" y="693600"/>
                  <a:pt x="3706666" y="724883"/>
                  <a:pt x="3668077" y="724883"/>
                </a:cubicBezTo>
                <a:lnTo>
                  <a:pt x="69871" y="724883"/>
                </a:lnTo>
                <a:cubicBezTo>
                  <a:pt x="31283" y="724883"/>
                  <a:pt x="0" y="693600"/>
                  <a:pt x="0" y="655011"/>
                </a:cubicBezTo>
                <a:lnTo>
                  <a:pt x="0" y="69871"/>
                </a:lnTo>
                <a:cubicBezTo>
                  <a:pt x="0" y="31308"/>
                  <a:pt x="31308" y="0"/>
                  <a:pt x="6987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8171850" y="6235736"/>
            <a:ext cx="3598212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Trades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154383" y="6480275"/>
            <a:ext cx="3633146" cy="270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0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868" y="369455"/>
            <a:ext cx="67174" cy="268694"/>
          </a:xfrm>
          <a:custGeom>
            <a:avLst/>
            <a:gdLst/>
            <a:ahLst/>
            <a:cxnLst/>
            <a:rect l="l" t="t" r="r" b="b"/>
            <a:pathLst>
              <a:path w="67174" h="268694">
                <a:moveTo>
                  <a:pt x="0" y="0"/>
                </a:moveTo>
                <a:lnTo>
                  <a:pt x="67174" y="0"/>
                </a:lnTo>
                <a:lnTo>
                  <a:pt x="67174" y="268694"/>
                </a:lnTo>
                <a:lnTo>
                  <a:pt x="0" y="268694"/>
                </a:lnTo>
                <a:lnTo>
                  <a:pt x="0" y="0"/>
                </a:ln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3802" y="335868"/>
            <a:ext cx="3728132" cy="335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Allocation Strategy Battle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3802" y="738909"/>
            <a:ext cx="11436298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2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Kelly vs MPT vs Hybrid: Which wins?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5868" y="1108364"/>
            <a:ext cx="11520264" cy="3081587"/>
          </a:xfrm>
          <a:custGeom>
            <a:avLst/>
            <a:gdLst/>
            <a:ahLst/>
            <a:cxnLst/>
            <a:rect l="l" t="t" r="r" b="b"/>
            <a:pathLst>
              <a:path w="11520264" h="3081587">
                <a:moveTo>
                  <a:pt x="100768" y="0"/>
                </a:moveTo>
                <a:lnTo>
                  <a:pt x="11419497" y="0"/>
                </a:lnTo>
                <a:cubicBezTo>
                  <a:pt x="11475149" y="0"/>
                  <a:pt x="11520264" y="45115"/>
                  <a:pt x="11520264" y="100768"/>
                </a:cubicBezTo>
                <a:lnTo>
                  <a:pt x="11520264" y="2980819"/>
                </a:lnTo>
                <a:cubicBezTo>
                  <a:pt x="11520264" y="3036471"/>
                  <a:pt x="11475149" y="3081587"/>
                  <a:pt x="11419497" y="3081587"/>
                </a:cubicBezTo>
                <a:lnTo>
                  <a:pt x="100768" y="3081587"/>
                </a:lnTo>
                <a:cubicBezTo>
                  <a:pt x="45115" y="3081587"/>
                  <a:pt x="0" y="3036471"/>
                  <a:pt x="0" y="2980819"/>
                </a:cubicBezTo>
                <a:lnTo>
                  <a:pt x="0" y="100768"/>
                </a:lnTo>
                <a:cubicBezTo>
                  <a:pt x="0" y="45153"/>
                  <a:pt x="45153" y="0"/>
                  <a:pt x="100768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3421" y="1276298"/>
            <a:ext cx="11285157" cy="260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8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Comparison by Horizon Binary Simulation</a:t>
            </a:r>
            <a:endParaRPr lang="en-US" sz="1600" dirty="0"/>
          </a:p>
        </p:txBody>
      </p:sp>
      <p:pic>
        <p:nvPicPr>
          <p:cNvPr id="7" name="Image 0" descr="https://kimi-img.moonshot.cn/pub/slides/26-03-18-00:19:21-d6snu2d96bk0hn8lcrc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802" y="1670942"/>
            <a:ext cx="9740165" cy="2351074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335868" y="4341091"/>
            <a:ext cx="3753322" cy="2519008"/>
          </a:xfrm>
          <a:custGeom>
            <a:avLst/>
            <a:gdLst/>
            <a:ahLst/>
            <a:cxnLst/>
            <a:rect l="l" t="t" r="r" b="b"/>
            <a:pathLst>
              <a:path w="3753322" h="2519008">
                <a:moveTo>
                  <a:pt x="33587" y="0"/>
                </a:moveTo>
                <a:lnTo>
                  <a:pt x="3719736" y="0"/>
                </a:lnTo>
                <a:cubicBezTo>
                  <a:pt x="3738285" y="0"/>
                  <a:pt x="3753322" y="15037"/>
                  <a:pt x="3753322" y="33587"/>
                </a:cubicBezTo>
                <a:lnTo>
                  <a:pt x="3753322" y="2418248"/>
                </a:lnTo>
                <a:cubicBezTo>
                  <a:pt x="3753322" y="2473896"/>
                  <a:pt x="3708210" y="2519008"/>
                  <a:pt x="3652562" y="2519008"/>
                </a:cubicBezTo>
                <a:lnTo>
                  <a:pt x="100760" y="2519008"/>
                </a:lnTo>
                <a:cubicBezTo>
                  <a:pt x="45112" y="2519008"/>
                  <a:pt x="0" y="2473896"/>
                  <a:pt x="0" y="2418248"/>
                </a:cubicBezTo>
                <a:lnTo>
                  <a:pt x="0" y="33587"/>
                </a:lnTo>
                <a:cubicBezTo>
                  <a:pt x="0" y="15050"/>
                  <a:pt x="15050" y="0"/>
                  <a:pt x="33587" y="0"/>
                </a:cubicBezTo>
                <a:close/>
              </a:path>
            </a:pathLst>
          </a:custGeom>
          <a:gradFill flip="none" rotWithShape="1">
            <a:gsLst>
              <a:gs pos="0">
                <a:srgbClr val="63B3ED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335868" y="4341091"/>
            <a:ext cx="3753322" cy="33587"/>
          </a:xfrm>
          <a:custGeom>
            <a:avLst/>
            <a:gdLst/>
            <a:ahLst/>
            <a:cxnLst/>
            <a:rect l="l" t="t" r="r" b="b"/>
            <a:pathLst>
              <a:path w="3753322" h="33587">
                <a:moveTo>
                  <a:pt x="33587" y="0"/>
                </a:moveTo>
                <a:lnTo>
                  <a:pt x="3719736" y="0"/>
                </a:lnTo>
                <a:cubicBezTo>
                  <a:pt x="3738285" y="0"/>
                  <a:pt x="3753322" y="15037"/>
                  <a:pt x="3753322" y="33587"/>
                </a:cubicBezTo>
                <a:lnTo>
                  <a:pt x="3753322" y="33587"/>
                </a:lnTo>
                <a:lnTo>
                  <a:pt x="0" y="33587"/>
                </a:lnTo>
                <a:lnTo>
                  <a:pt x="0" y="33587"/>
                </a:lnTo>
                <a:cubicBezTo>
                  <a:pt x="0" y="15050"/>
                  <a:pt x="15050" y="0"/>
                  <a:pt x="33587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70215" y="4492231"/>
            <a:ext cx="403041" cy="403041"/>
          </a:xfrm>
          <a:custGeom>
            <a:avLst/>
            <a:gdLst/>
            <a:ahLst/>
            <a:cxnLst/>
            <a:rect l="l" t="t" r="r" b="b"/>
            <a:pathLst>
              <a:path w="403041" h="403041">
                <a:moveTo>
                  <a:pt x="201521" y="0"/>
                </a:moveTo>
                <a:lnTo>
                  <a:pt x="201521" y="0"/>
                </a:lnTo>
                <a:cubicBezTo>
                  <a:pt x="312743" y="0"/>
                  <a:pt x="403041" y="90298"/>
                  <a:pt x="403041" y="201521"/>
                </a:cubicBezTo>
                <a:lnTo>
                  <a:pt x="403041" y="201521"/>
                </a:lnTo>
                <a:cubicBezTo>
                  <a:pt x="403041" y="312743"/>
                  <a:pt x="312743" y="403041"/>
                  <a:pt x="201521" y="403041"/>
                </a:cubicBezTo>
                <a:lnTo>
                  <a:pt x="201521" y="403041"/>
                </a:lnTo>
                <a:cubicBezTo>
                  <a:pt x="90298" y="403041"/>
                  <a:pt x="0" y="312743"/>
                  <a:pt x="0" y="201521"/>
                </a:cubicBezTo>
                <a:lnTo>
                  <a:pt x="0" y="201521"/>
                </a:lnTo>
                <a:cubicBezTo>
                  <a:pt x="0" y="90298"/>
                  <a:pt x="90298" y="0"/>
                  <a:pt x="201521" y="0"/>
                </a:cubicBezTo>
                <a:close/>
              </a:path>
            </a:pathLst>
          </a:custGeom>
          <a:solidFill>
            <a:srgbClr val="63B3ED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98264" y="4609785"/>
            <a:ext cx="146942" cy="167934"/>
          </a:xfrm>
          <a:custGeom>
            <a:avLst/>
            <a:gdLst/>
            <a:ahLst/>
            <a:cxnLst/>
            <a:rect l="l" t="t" r="r" b="b"/>
            <a:pathLst>
              <a:path w="146942" h="167934">
                <a:moveTo>
                  <a:pt x="111125" y="-3247"/>
                </a:moveTo>
                <a:cubicBezTo>
                  <a:pt x="115028" y="-426"/>
                  <a:pt x="116471" y="4690"/>
                  <a:pt x="114700" y="9151"/>
                </a:cubicBezTo>
                <a:lnTo>
                  <a:pt x="88985" y="73471"/>
                </a:lnTo>
                <a:lnTo>
                  <a:pt x="136446" y="73471"/>
                </a:lnTo>
                <a:cubicBezTo>
                  <a:pt x="140874" y="73471"/>
                  <a:pt x="144810" y="76226"/>
                  <a:pt x="146319" y="80392"/>
                </a:cubicBezTo>
                <a:cubicBezTo>
                  <a:pt x="147828" y="84557"/>
                  <a:pt x="146549" y="89215"/>
                  <a:pt x="143170" y="92036"/>
                </a:cubicBezTo>
                <a:lnTo>
                  <a:pt x="48707" y="170755"/>
                </a:lnTo>
                <a:cubicBezTo>
                  <a:pt x="45001" y="173838"/>
                  <a:pt x="39720" y="174002"/>
                  <a:pt x="35817" y="171181"/>
                </a:cubicBezTo>
                <a:cubicBezTo>
                  <a:pt x="31914" y="168360"/>
                  <a:pt x="30471" y="163244"/>
                  <a:pt x="32242" y="158783"/>
                </a:cubicBezTo>
                <a:lnTo>
                  <a:pt x="57957" y="94463"/>
                </a:lnTo>
                <a:lnTo>
                  <a:pt x="10496" y="94463"/>
                </a:lnTo>
                <a:cubicBezTo>
                  <a:pt x="6068" y="94463"/>
                  <a:pt x="2132" y="91708"/>
                  <a:pt x="623" y="87542"/>
                </a:cubicBezTo>
                <a:cubicBezTo>
                  <a:pt x="-886" y="83377"/>
                  <a:pt x="394" y="78719"/>
                  <a:pt x="3772" y="75898"/>
                </a:cubicBezTo>
                <a:lnTo>
                  <a:pt x="98235" y="-2821"/>
                </a:lnTo>
                <a:cubicBezTo>
                  <a:pt x="101941" y="-5904"/>
                  <a:pt x="107222" y="-6068"/>
                  <a:pt x="111125" y="-3247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974017" y="4576198"/>
            <a:ext cx="461818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Kelly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0215" y="4996033"/>
            <a:ext cx="3551802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Wins Short-Term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0215" y="5537620"/>
            <a:ext cx="3484628" cy="8397"/>
          </a:xfrm>
          <a:custGeom>
            <a:avLst/>
            <a:gdLst/>
            <a:ahLst/>
            <a:cxnLst/>
            <a:rect l="l" t="t" r="r" b="b"/>
            <a:pathLst>
              <a:path w="3484628" h="8397">
                <a:moveTo>
                  <a:pt x="0" y="0"/>
                </a:moveTo>
                <a:lnTo>
                  <a:pt x="3484628" y="0"/>
                </a:lnTo>
                <a:lnTo>
                  <a:pt x="3484628" y="8397"/>
                </a:lnTo>
                <a:lnTo>
                  <a:pt x="0" y="8397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70215" y="5298314"/>
            <a:ext cx="638149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1-day ROI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91030" y="5298314"/>
            <a:ext cx="428231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1.05%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70215" y="5881884"/>
            <a:ext cx="3484628" cy="8397"/>
          </a:xfrm>
          <a:custGeom>
            <a:avLst/>
            <a:gdLst/>
            <a:ahLst/>
            <a:cxnLst/>
            <a:rect l="l" t="t" r="r" b="b"/>
            <a:pathLst>
              <a:path w="3484628" h="8397">
                <a:moveTo>
                  <a:pt x="0" y="0"/>
                </a:moveTo>
                <a:lnTo>
                  <a:pt x="3484628" y="0"/>
                </a:lnTo>
                <a:lnTo>
                  <a:pt x="3484628" y="8397"/>
                </a:lnTo>
                <a:lnTo>
                  <a:pt x="0" y="8397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70215" y="5642579"/>
            <a:ext cx="822876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1-day Sharpe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721704" y="5642579"/>
            <a:ext cx="302281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1.26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0215" y="5986843"/>
            <a:ext cx="528992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136952" y="5986843"/>
            <a:ext cx="881653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Sparse signals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70215" y="6322711"/>
            <a:ext cx="3551802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Concentrated position sizing when opportunities are limited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221963" y="4341091"/>
            <a:ext cx="3753322" cy="2519008"/>
          </a:xfrm>
          <a:custGeom>
            <a:avLst/>
            <a:gdLst/>
            <a:ahLst/>
            <a:cxnLst/>
            <a:rect l="l" t="t" r="r" b="b"/>
            <a:pathLst>
              <a:path w="3753322" h="2519008">
                <a:moveTo>
                  <a:pt x="33587" y="0"/>
                </a:moveTo>
                <a:lnTo>
                  <a:pt x="3719736" y="0"/>
                </a:lnTo>
                <a:cubicBezTo>
                  <a:pt x="3738285" y="0"/>
                  <a:pt x="3753322" y="15037"/>
                  <a:pt x="3753322" y="33587"/>
                </a:cubicBezTo>
                <a:lnTo>
                  <a:pt x="3753322" y="2418248"/>
                </a:lnTo>
                <a:cubicBezTo>
                  <a:pt x="3753322" y="2473896"/>
                  <a:pt x="3708210" y="2519008"/>
                  <a:pt x="3652562" y="2519008"/>
                </a:cubicBezTo>
                <a:lnTo>
                  <a:pt x="100760" y="2519008"/>
                </a:lnTo>
                <a:cubicBezTo>
                  <a:pt x="45112" y="2519008"/>
                  <a:pt x="0" y="2473896"/>
                  <a:pt x="0" y="2418248"/>
                </a:cubicBezTo>
                <a:lnTo>
                  <a:pt x="0" y="33587"/>
                </a:lnTo>
                <a:cubicBezTo>
                  <a:pt x="0" y="15050"/>
                  <a:pt x="15050" y="0"/>
                  <a:pt x="33587" y="0"/>
                </a:cubicBezTo>
                <a:close/>
              </a:path>
            </a:pathLst>
          </a:custGeom>
          <a:gradFill flip="none" rotWithShape="1">
            <a:gsLst>
              <a:gs pos="0">
                <a:srgbClr val="48BB78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4221963" y="4341091"/>
            <a:ext cx="3753322" cy="33587"/>
          </a:xfrm>
          <a:custGeom>
            <a:avLst/>
            <a:gdLst/>
            <a:ahLst/>
            <a:cxnLst/>
            <a:rect l="l" t="t" r="r" b="b"/>
            <a:pathLst>
              <a:path w="3753322" h="33587">
                <a:moveTo>
                  <a:pt x="33587" y="0"/>
                </a:moveTo>
                <a:lnTo>
                  <a:pt x="3719736" y="0"/>
                </a:lnTo>
                <a:cubicBezTo>
                  <a:pt x="3738285" y="0"/>
                  <a:pt x="3753322" y="15037"/>
                  <a:pt x="3753322" y="33587"/>
                </a:cubicBezTo>
                <a:lnTo>
                  <a:pt x="3753322" y="33587"/>
                </a:lnTo>
                <a:lnTo>
                  <a:pt x="0" y="33587"/>
                </a:lnTo>
                <a:lnTo>
                  <a:pt x="0" y="33587"/>
                </a:lnTo>
                <a:cubicBezTo>
                  <a:pt x="0" y="15050"/>
                  <a:pt x="15050" y="0"/>
                  <a:pt x="33587" y="0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4356310" y="4492231"/>
            <a:ext cx="403041" cy="403041"/>
          </a:xfrm>
          <a:custGeom>
            <a:avLst/>
            <a:gdLst/>
            <a:ahLst/>
            <a:cxnLst/>
            <a:rect l="l" t="t" r="r" b="b"/>
            <a:pathLst>
              <a:path w="403041" h="403041">
                <a:moveTo>
                  <a:pt x="201521" y="0"/>
                </a:moveTo>
                <a:lnTo>
                  <a:pt x="201521" y="0"/>
                </a:lnTo>
                <a:cubicBezTo>
                  <a:pt x="312743" y="0"/>
                  <a:pt x="403041" y="90298"/>
                  <a:pt x="403041" y="201521"/>
                </a:cubicBezTo>
                <a:lnTo>
                  <a:pt x="403041" y="201521"/>
                </a:lnTo>
                <a:cubicBezTo>
                  <a:pt x="403041" y="312743"/>
                  <a:pt x="312743" y="403041"/>
                  <a:pt x="201521" y="403041"/>
                </a:cubicBezTo>
                <a:lnTo>
                  <a:pt x="201521" y="403041"/>
                </a:lnTo>
                <a:cubicBezTo>
                  <a:pt x="90298" y="403041"/>
                  <a:pt x="0" y="312743"/>
                  <a:pt x="0" y="201521"/>
                </a:cubicBezTo>
                <a:lnTo>
                  <a:pt x="0" y="201521"/>
                </a:lnTo>
                <a:cubicBezTo>
                  <a:pt x="0" y="90298"/>
                  <a:pt x="90298" y="0"/>
                  <a:pt x="201521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4463368" y="4609785"/>
            <a:ext cx="188926" cy="167934"/>
          </a:xfrm>
          <a:custGeom>
            <a:avLst/>
            <a:gdLst/>
            <a:ahLst/>
            <a:cxnLst/>
            <a:rect l="l" t="t" r="r" b="b"/>
            <a:pathLst>
              <a:path w="188926" h="167934">
                <a:moveTo>
                  <a:pt x="168065" y="78719"/>
                </a:moveTo>
                <a:lnTo>
                  <a:pt x="110338" y="78719"/>
                </a:lnTo>
                <a:cubicBezTo>
                  <a:pt x="104532" y="78719"/>
                  <a:pt x="99842" y="74029"/>
                  <a:pt x="99842" y="68223"/>
                </a:cubicBezTo>
                <a:lnTo>
                  <a:pt x="99842" y="10496"/>
                </a:lnTo>
                <a:cubicBezTo>
                  <a:pt x="99842" y="4690"/>
                  <a:pt x="104565" y="-66"/>
                  <a:pt x="110305" y="689"/>
                </a:cubicBezTo>
                <a:cubicBezTo>
                  <a:pt x="145401" y="5346"/>
                  <a:pt x="173215" y="33160"/>
                  <a:pt x="177872" y="68256"/>
                </a:cubicBezTo>
                <a:cubicBezTo>
                  <a:pt x="178627" y="73996"/>
                  <a:pt x="173871" y="78719"/>
                  <a:pt x="168065" y="78719"/>
                </a:cubicBezTo>
                <a:close/>
                <a:moveTo>
                  <a:pt x="73012" y="12201"/>
                </a:moveTo>
                <a:cubicBezTo>
                  <a:pt x="78949" y="10955"/>
                  <a:pt x="84098" y="15809"/>
                  <a:pt x="84098" y="21877"/>
                </a:cubicBezTo>
                <a:lnTo>
                  <a:pt x="84098" y="86591"/>
                </a:lnTo>
                <a:cubicBezTo>
                  <a:pt x="84098" y="88428"/>
                  <a:pt x="84754" y="90199"/>
                  <a:pt x="85902" y="91609"/>
                </a:cubicBezTo>
                <a:lnTo>
                  <a:pt x="129230" y="143892"/>
                </a:lnTo>
                <a:cubicBezTo>
                  <a:pt x="133068" y="148517"/>
                  <a:pt x="132248" y="155503"/>
                  <a:pt x="126967" y="158356"/>
                </a:cubicBezTo>
                <a:cubicBezTo>
                  <a:pt x="115783" y="164457"/>
                  <a:pt x="102958" y="167934"/>
                  <a:pt x="89346" y="167934"/>
                </a:cubicBezTo>
                <a:cubicBezTo>
                  <a:pt x="45887" y="167934"/>
                  <a:pt x="10627" y="132674"/>
                  <a:pt x="10627" y="89215"/>
                </a:cubicBezTo>
                <a:cubicBezTo>
                  <a:pt x="10627" y="51331"/>
                  <a:pt x="37359" y="19713"/>
                  <a:pt x="73012" y="12201"/>
                </a:cubicBezTo>
                <a:close/>
                <a:moveTo>
                  <a:pt x="156716" y="94463"/>
                </a:moveTo>
                <a:lnTo>
                  <a:pt x="177708" y="94463"/>
                </a:lnTo>
                <a:cubicBezTo>
                  <a:pt x="183776" y="94463"/>
                  <a:pt x="188630" y="99612"/>
                  <a:pt x="187384" y="105549"/>
                </a:cubicBezTo>
                <a:cubicBezTo>
                  <a:pt x="184038" y="121424"/>
                  <a:pt x="175904" y="135528"/>
                  <a:pt x="164556" y="146286"/>
                </a:cubicBezTo>
                <a:cubicBezTo>
                  <a:pt x="160521" y="150124"/>
                  <a:pt x="154191" y="149304"/>
                  <a:pt x="150649" y="145007"/>
                </a:cubicBezTo>
                <a:lnTo>
                  <a:pt x="122966" y="111650"/>
                </a:lnTo>
                <a:cubicBezTo>
                  <a:pt x="117291" y="104795"/>
                  <a:pt x="122178" y="94463"/>
                  <a:pt x="131034" y="94463"/>
                </a:cubicBezTo>
                <a:lnTo>
                  <a:pt x="156684" y="94463"/>
                </a:ln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4860112" y="4576198"/>
            <a:ext cx="453421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MPT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356310" y="4996033"/>
            <a:ext cx="3551802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Wins Long-Term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356310" y="5537620"/>
            <a:ext cx="3484628" cy="8397"/>
          </a:xfrm>
          <a:custGeom>
            <a:avLst/>
            <a:gdLst/>
            <a:ahLst/>
            <a:cxnLst/>
            <a:rect l="l" t="t" r="r" b="b"/>
            <a:pathLst>
              <a:path w="3484628" h="8397">
                <a:moveTo>
                  <a:pt x="0" y="0"/>
                </a:moveTo>
                <a:lnTo>
                  <a:pt x="3484628" y="0"/>
                </a:lnTo>
                <a:lnTo>
                  <a:pt x="3484628" y="8397"/>
                </a:lnTo>
                <a:lnTo>
                  <a:pt x="0" y="8397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4356310" y="5298314"/>
            <a:ext cx="663339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5-day ROI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434879" y="5298314"/>
            <a:ext cx="470215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12.47%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356310" y="5881884"/>
            <a:ext cx="3484628" cy="8397"/>
          </a:xfrm>
          <a:custGeom>
            <a:avLst/>
            <a:gdLst/>
            <a:ahLst/>
            <a:cxnLst/>
            <a:rect l="l" t="t" r="r" b="b"/>
            <a:pathLst>
              <a:path w="3484628" h="8397">
                <a:moveTo>
                  <a:pt x="0" y="0"/>
                </a:moveTo>
                <a:lnTo>
                  <a:pt x="3484628" y="0"/>
                </a:lnTo>
                <a:lnTo>
                  <a:pt x="3484628" y="8397"/>
                </a:lnTo>
                <a:lnTo>
                  <a:pt x="0" y="8397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4356310" y="5642579"/>
            <a:ext cx="856463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5-day Sharpe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586282" y="5642579"/>
            <a:ext cx="319074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4.34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356310" y="5986843"/>
            <a:ext cx="528992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039054" y="5986843"/>
            <a:ext cx="864860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signals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356310" y="6322711"/>
            <a:ext cx="3551802" cy="403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Diversification across multiple assets when signal quality is high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108058" y="4341091"/>
            <a:ext cx="3753322" cy="2519008"/>
          </a:xfrm>
          <a:custGeom>
            <a:avLst/>
            <a:gdLst/>
            <a:ahLst/>
            <a:cxnLst/>
            <a:rect l="l" t="t" r="r" b="b"/>
            <a:pathLst>
              <a:path w="3753322" h="2519008">
                <a:moveTo>
                  <a:pt x="33587" y="0"/>
                </a:moveTo>
                <a:lnTo>
                  <a:pt x="3719736" y="0"/>
                </a:lnTo>
                <a:cubicBezTo>
                  <a:pt x="3738285" y="0"/>
                  <a:pt x="3753322" y="15037"/>
                  <a:pt x="3753322" y="33587"/>
                </a:cubicBezTo>
                <a:lnTo>
                  <a:pt x="3753322" y="2418248"/>
                </a:lnTo>
                <a:cubicBezTo>
                  <a:pt x="3753322" y="2473896"/>
                  <a:pt x="3708210" y="2519008"/>
                  <a:pt x="3652562" y="2519008"/>
                </a:cubicBezTo>
                <a:lnTo>
                  <a:pt x="100760" y="2519008"/>
                </a:lnTo>
                <a:cubicBezTo>
                  <a:pt x="45112" y="2519008"/>
                  <a:pt x="0" y="2473896"/>
                  <a:pt x="0" y="2418248"/>
                </a:cubicBezTo>
                <a:lnTo>
                  <a:pt x="0" y="33587"/>
                </a:lnTo>
                <a:cubicBezTo>
                  <a:pt x="0" y="15050"/>
                  <a:pt x="15050" y="0"/>
                  <a:pt x="33587" y="0"/>
                </a:cubicBezTo>
                <a:close/>
              </a:path>
            </a:pathLst>
          </a:custGeom>
          <a:gradFill flip="none" rotWithShape="1">
            <a:gsLst>
              <a:gs pos="0">
                <a:srgbClr val="A0AEC0">
                  <a:alpha val="2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>
            <a:off x="8108058" y="4341091"/>
            <a:ext cx="3753322" cy="33587"/>
          </a:xfrm>
          <a:custGeom>
            <a:avLst/>
            <a:gdLst/>
            <a:ahLst/>
            <a:cxnLst/>
            <a:rect l="l" t="t" r="r" b="b"/>
            <a:pathLst>
              <a:path w="3753322" h="33587">
                <a:moveTo>
                  <a:pt x="33587" y="0"/>
                </a:moveTo>
                <a:lnTo>
                  <a:pt x="3719736" y="0"/>
                </a:lnTo>
                <a:cubicBezTo>
                  <a:pt x="3738285" y="0"/>
                  <a:pt x="3753322" y="15037"/>
                  <a:pt x="3753322" y="33587"/>
                </a:cubicBezTo>
                <a:lnTo>
                  <a:pt x="3753322" y="33587"/>
                </a:lnTo>
                <a:lnTo>
                  <a:pt x="0" y="33587"/>
                </a:lnTo>
                <a:lnTo>
                  <a:pt x="0" y="33587"/>
                </a:lnTo>
                <a:cubicBezTo>
                  <a:pt x="0" y="15050"/>
                  <a:pt x="15050" y="0"/>
                  <a:pt x="33587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8242405" y="4492231"/>
            <a:ext cx="403041" cy="403041"/>
          </a:xfrm>
          <a:custGeom>
            <a:avLst/>
            <a:gdLst/>
            <a:ahLst/>
            <a:cxnLst/>
            <a:rect l="l" t="t" r="r" b="b"/>
            <a:pathLst>
              <a:path w="403041" h="403041">
                <a:moveTo>
                  <a:pt x="201521" y="0"/>
                </a:moveTo>
                <a:lnTo>
                  <a:pt x="201521" y="0"/>
                </a:lnTo>
                <a:cubicBezTo>
                  <a:pt x="312743" y="0"/>
                  <a:pt x="403041" y="90298"/>
                  <a:pt x="403041" y="201521"/>
                </a:cubicBezTo>
                <a:lnTo>
                  <a:pt x="403041" y="201521"/>
                </a:lnTo>
                <a:cubicBezTo>
                  <a:pt x="403041" y="312743"/>
                  <a:pt x="312743" y="403041"/>
                  <a:pt x="201521" y="403041"/>
                </a:cubicBezTo>
                <a:lnTo>
                  <a:pt x="201521" y="403041"/>
                </a:lnTo>
                <a:cubicBezTo>
                  <a:pt x="90298" y="403041"/>
                  <a:pt x="0" y="312743"/>
                  <a:pt x="0" y="201521"/>
                </a:cubicBezTo>
                <a:lnTo>
                  <a:pt x="0" y="201521"/>
                </a:lnTo>
                <a:cubicBezTo>
                  <a:pt x="0" y="90298"/>
                  <a:pt x="90298" y="0"/>
                  <a:pt x="201521" y="0"/>
                </a:cubicBezTo>
                <a:close/>
              </a:path>
            </a:pathLst>
          </a:custGeom>
          <a:solidFill>
            <a:srgbClr val="A0AEC0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8"/>
          <p:cNvSpPr/>
          <p:nvPr/>
        </p:nvSpPr>
        <p:spPr>
          <a:xfrm>
            <a:off x="8338967" y="4609785"/>
            <a:ext cx="209917" cy="167934"/>
          </a:xfrm>
          <a:custGeom>
            <a:avLst/>
            <a:gdLst/>
            <a:ahLst/>
            <a:cxnLst/>
            <a:rect l="l" t="t" r="r" b="b"/>
            <a:pathLst>
              <a:path w="209917" h="167934">
                <a:moveTo>
                  <a:pt x="125950" y="10496"/>
                </a:moveTo>
                <a:lnTo>
                  <a:pt x="167934" y="10496"/>
                </a:lnTo>
                <a:cubicBezTo>
                  <a:pt x="173739" y="10496"/>
                  <a:pt x="178430" y="15186"/>
                  <a:pt x="178430" y="20992"/>
                </a:cubicBezTo>
                <a:cubicBezTo>
                  <a:pt x="178430" y="26797"/>
                  <a:pt x="173739" y="31488"/>
                  <a:pt x="167934" y="31488"/>
                </a:cubicBezTo>
                <a:lnTo>
                  <a:pt x="130674" y="31488"/>
                </a:lnTo>
                <a:cubicBezTo>
                  <a:pt x="128968" y="39950"/>
                  <a:pt x="123162" y="46936"/>
                  <a:pt x="115455" y="50282"/>
                </a:cubicBezTo>
                <a:lnTo>
                  <a:pt x="115455" y="146942"/>
                </a:lnTo>
                <a:lnTo>
                  <a:pt x="167934" y="146942"/>
                </a:lnTo>
                <a:cubicBezTo>
                  <a:pt x="173739" y="146942"/>
                  <a:pt x="178430" y="151632"/>
                  <a:pt x="178430" y="157438"/>
                </a:cubicBezTo>
                <a:cubicBezTo>
                  <a:pt x="178430" y="163244"/>
                  <a:pt x="173739" y="167934"/>
                  <a:pt x="167934" y="167934"/>
                </a:cubicBezTo>
                <a:lnTo>
                  <a:pt x="41983" y="167934"/>
                </a:lnTo>
                <a:cubicBezTo>
                  <a:pt x="36178" y="167934"/>
                  <a:pt x="31488" y="163244"/>
                  <a:pt x="31488" y="157438"/>
                </a:cubicBezTo>
                <a:cubicBezTo>
                  <a:pt x="31488" y="151632"/>
                  <a:pt x="36178" y="146942"/>
                  <a:pt x="41983" y="146942"/>
                </a:cubicBezTo>
                <a:lnTo>
                  <a:pt x="94463" y="146942"/>
                </a:lnTo>
                <a:lnTo>
                  <a:pt x="94463" y="50282"/>
                </a:lnTo>
                <a:cubicBezTo>
                  <a:pt x="86755" y="46903"/>
                  <a:pt x="80949" y="39917"/>
                  <a:pt x="79244" y="31488"/>
                </a:cubicBezTo>
                <a:lnTo>
                  <a:pt x="41983" y="31488"/>
                </a:lnTo>
                <a:cubicBezTo>
                  <a:pt x="36178" y="31488"/>
                  <a:pt x="31488" y="26797"/>
                  <a:pt x="31488" y="20992"/>
                </a:cubicBezTo>
                <a:cubicBezTo>
                  <a:pt x="31488" y="15186"/>
                  <a:pt x="36178" y="10496"/>
                  <a:pt x="41983" y="10496"/>
                </a:cubicBezTo>
                <a:lnTo>
                  <a:pt x="83967" y="10496"/>
                </a:lnTo>
                <a:cubicBezTo>
                  <a:pt x="88756" y="4133"/>
                  <a:pt x="96365" y="0"/>
                  <a:pt x="104959" y="0"/>
                </a:cubicBezTo>
                <a:cubicBezTo>
                  <a:pt x="113552" y="0"/>
                  <a:pt x="121162" y="4133"/>
                  <a:pt x="125950" y="10496"/>
                </a:cubicBezTo>
                <a:close/>
                <a:moveTo>
                  <a:pt x="144187" y="104959"/>
                </a:moveTo>
                <a:lnTo>
                  <a:pt x="191681" y="104959"/>
                </a:lnTo>
                <a:lnTo>
                  <a:pt x="167934" y="64222"/>
                </a:lnTo>
                <a:lnTo>
                  <a:pt x="144187" y="104959"/>
                </a:lnTo>
                <a:close/>
                <a:moveTo>
                  <a:pt x="167934" y="136446"/>
                </a:moveTo>
                <a:cubicBezTo>
                  <a:pt x="147303" y="136446"/>
                  <a:pt x="130149" y="125294"/>
                  <a:pt x="126606" y="110567"/>
                </a:cubicBezTo>
                <a:cubicBezTo>
                  <a:pt x="125754" y="106959"/>
                  <a:pt x="126934" y="103253"/>
                  <a:pt x="128804" y="100039"/>
                </a:cubicBezTo>
                <a:lnTo>
                  <a:pt x="160029" y="46510"/>
                </a:lnTo>
                <a:cubicBezTo>
                  <a:pt x="161669" y="43689"/>
                  <a:pt x="164687" y="41983"/>
                  <a:pt x="167934" y="41983"/>
                </a:cubicBezTo>
                <a:cubicBezTo>
                  <a:pt x="171181" y="41983"/>
                  <a:pt x="174199" y="43722"/>
                  <a:pt x="175839" y="46510"/>
                </a:cubicBezTo>
                <a:lnTo>
                  <a:pt x="207064" y="100039"/>
                </a:lnTo>
                <a:cubicBezTo>
                  <a:pt x="208933" y="103253"/>
                  <a:pt x="210114" y="106959"/>
                  <a:pt x="209261" y="110567"/>
                </a:cubicBezTo>
                <a:cubicBezTo>
                  <a:pt x="205719" y="125262"/>
                  <a:pt x="188565" y="136446"/>
                  <a:pt x="167934" y="136446"/>
                </a:cubicBezTo>
                <a:close/>
                <a:moveTo>
                  <a:pt x="41590" y="64222"/>
                </a:moveTo>
                <a:lnTo>
                  <a:pt x="17843" y="104959"/>
                </a:lnTo>
                <a:lnTo>
                  <a:pt x="65370" y="104959"/>
                </a:lnTo>
                <a:lnTo>
                  <a:pt x="41590" y="64222"/>
                </a:lnTo>
                <a:close/>
                <a:moveTo>
                  <a:pt x="295" y="110567"/>
                </a:moveTo>
                <a:cubicBezTo>
                  <a:pt x="-558" y="106959"/>
                  <a:pt x="623" y="103253"/>
                  <a:pt x="2493" y="100039"/>
                </a:cubicBezTo>
                <a:lnTo>
                  <a:pt x="33718" y="46510"/>
                </a:lnTo>
                <a:cubicBezTo>
                  <a:pt x="35358" y="43689"/>
                  <a:pt x="38376" y="41983"/>
                  <a:pt x="41623" y="41983"/>
                </a:cubicBezTo>
                <a:cubicBezTo>
                  <a:pt x="44870" y="41983"/>
                  <a:pt x="47887" y="43722"/>
                  <a:pt x="49527" y="46510"/>
                </a:cubicBezTo>
                <a:lnTo>
                  <a:pt x="80753" y="100039"/>
                </a:lnTo>
                <a:cubicBezTo>
                  <a:pt x="82622" y="103253"/>
                  <a:pt x="83803" y="106959"/>
                  <a:pt x="82950" y="110567"/>
                </a:cubicBezTo>
                <a:cubicBezTo>
                  <a:pt x="79408" y="125262"/>
                  <a:pt x="62254" y="136446"/>
                  <a:pt x="41623" y="136446"/>
                </a:cubicBezTo>
                <a:cubicBezTo>
                  <a:pt x="20992" y="136446"/>
                  <a:pt x="3838" y="125294"/>
                  <a:pt x="295" y="110567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8746207" y="4576198"/>
            <a:ext cx="612959" cy="235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242405" y="4996033"/>
            <a:ext cx="3551802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Balances Risk-Return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242405" y="5537620"/>
            <a:ext cx="3484628" cy="8397"/>
          </a:xfrm>
          <a:custGeom>
            <a:avLst/>
            <a:gdLst/>
            <a:ahLst/>
            <a:cxnLst/>
            <a:rect l="l" t="t" r="r" b="b"/>
            <a:pathLst>
              <a:path w="3484628" h="8397">
                <a:moveTo>
                  <a:pt x="0" y="0"/>
                </a:moveTo>
                <a:lnTo>
                  <a:pt x="3484628" y="0"/>
                </a:lnTo>
                <a:lnTo>
                  <a:pt x="3484628" y="8397"/>
                </a:lnTo>
                <a:lnTo>
                  <a:pt x="0" y="8397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8242405" y="5298314"/>
            <a:ext cx="663339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5-day ROI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1357579" y="5298314"/>
            <a:ext cx="436628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6.57%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242405" y="5881884"/>
            <a:ext cx="3484628" cy="8397"/>
          </a:xfrm>
          <a:custGeom>
            <a:avLst/>
            <a:gdLst/>
            <a:ahLst/>
            <a:cxnLst/>
            <a:rect l="l" t="t" r="r" b="b"/>
            <a:pathLst>
              <a:path w="3484628" h="8397">
                <a:moveTo>
                  <a:pt x="0" y="0"/>
                </a:moveTo>
                <a:lnTo>
                  <a:pt x="3484628" y="0"/>
                </a:lnTo>
                <a:lnTo>
                  <a:pt x="3484628" y="8397"/>
                </a:lnTo>
                <a:lnTo>
                  <a:pt x="0" y="8397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8242405" y="5642579"/>
            <a:ext cx="856463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5-day Sharpe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1475919" y="5642579"/>
            <a:ext cx="319074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4.42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242405" y="5986843"/>
            <a:ext cx="528992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0614733" y="5986843"/>
            <a:ext cx="1175537" cy="20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approach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242405" y="6322711"/>
            <a:ext cx="3551802" cy="403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Kelly sizing with MPT diversification for optimal balance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391" y="388730"/>
            <a:ext cx="70678" cy="282713"/>
          </a:xfrm>
          <a:custGeom>
            <a:avLst/>
            <a:gdLst/>
            <a:ahLst/>
            <a:cxnLst/>
            <a:rect l="l" t="t" r="r" b="b"/>
            <a:pathLst>
              <a:path w="70678" h="282713">
                <a:moveTo>
                  <a:pt x="0" y="0"/>
                </a:moveTo>
                <a:lnTo>
                  <a:pt x="70678" y="0"/>
                </a:lnTo>
                <a:lnTo>
                  <a:pt x="70678" y="282713"/>
                </a:lnTo>
                <a:lnTo>
                  <a:pt x="0" y="282713"/>
                </a:lnTo>
                <a:lnTo>
                  <a:pt x="0" y="0"/>
                </a:ln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30087" y="353391"/>
            <a:ext cx="2880139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Interaction Effects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0087" y="777461"/>
            <a:ext cx="1139687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components work together as a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3391" y="1166191"/>
            <a:ext cx="5671930" cy="4028661"/>
          </a:xfrm>
          <a:custGeom>
            <a:avLst/>
            <a:gdLst/>
            <a:ahLst/>
            <a:cxnLst/>
            <a:rect l="l" t="t" r="r" b="b"/>
            <a:pathLst>
              <a:path w="5671930" h="4028661">
                <a:moveTo>
                  <a:pt x="106034" y="0"/>
                </a:moveTo>
                <a:lnTo>
                  <a:pt x="5565896" y="0"/>
                </a:lnTo>
                <a:cubicBezTo>
                  <a:pt x="5624457" y="0"/>
                  <a:pt x="5671930" y="47473"/>
                  <a:pt x="5671930" y="106034"/>
                </a:cubicBezTo>
                <a:lnTo>
                  <a:pt x="5671930" y="3922627"/>
                </a:lnTo>
                <a:cubicBezTo>
                  <a:pt x="5671930" y="3981188"/>
                  <a:pt x="5624457" y="4028661"/>
                  <a:pt x="5565896" y="4028661"/>
                </a:cubicBezTo>
                <a:lnTo>
                  <a:pt x="106034" y="4028661"/>
                </a:lnTo>
                <a:cubicBezTo>
                  <a:pt x="47473" y="4028661"/>
                  <a:pt x="0" y="3981188"/>
                  <a:pt x="0" y="3922627"/>
                </a:cubicBezTo>
                <a:lnTo>
                  <a:pt x="0" y="106034"/>
                </a:lnTo>
                <a:cubicBezTo>
                  <a:pt x="0" y="47512"/>
                  <a:pt x="47512" y="0"/>
                  <a:pt x="106034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52174" y="1378226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77304" y="0"/>
                </a:moveTo>
                <a:cubicBezTo>
                  <a:pt x="89487" y="0"/>
                  <a:pt x="99391" y="7420"/>
                  <a:pt x="99391" y="16565"/>
                </a:cubicBezTo>
                <a:cubicBezTo>
                  <a:pt x="99391" y="20154"/>
                  <a:pt x="97873" y="23467"/>
                  <a:pt x="95250" y="26194"/>
                </a:cubicBezTo>
                <a:cubicBezTo>
                  <a:pt x="92972" y="28575"/>
                  <a:pt x="91109" y="31474"/>
                  <a:pt x="91109" y="34787"/>
                </a:cubicBezTo>
                <a:cubicBezTo>
                  <a:pt x="91109" y="39964"/>
                  <a:pt x="95319" y="44174"/>
                  <a:pt x="100496" y="44174"/>
                </a:cubicBezTo>
                <a:lnTo>
                  <a:pt x="115957" y="44174"/>
                </a:lnTo>
                <a:cubicBezTo>
                  <a:pt x="125102" y="44174"/>
                  <a:pt x="132522" y="51594"/>
                  <a:pt x="132522" y="60739"/>
                </a:cubicBezTo>
                <a:lnTo>
                  <a:pt x="132522" y="76200"/>
                </a:lnTo>
                <a:cubicBezTo>
                  <a:pt x="132522" y="81377"/>
                  <a:pt x="136732" y="85587"/>
                  <a:pt x="141909" y="85587"/>
                </a:cubicBezTo>
                <a:cubicBezTo>
                  <a:pt x="145187" y="85587"/>
                  <a:pt x="148121" y="83723"/>
                  <a:pt x="150502" y="81446"/>
                </a:cubicBezTo>
                <a:cubicBezTo>
                  <a:pt x="153228" y="78857"/>
                  <a:pt x="156541" y="77304"/>
                  <a:pt x="160130" y="77304"/>
                </a:cubicBezTo>
                <a:cubicBezTo>
                  <a:pt x="169276" y="77304"/>
                  <a:pt x="176696" y="87209"/>
                  <a:pt x="176696" y="99391"/>
                </a:cubicBezTo>
                <a:cubicBezTo>
                  <a:pt x="176696" y="111574"/>
                  <a:pt x="169276" y="121478"/>
                  <a:pt x="160130" y="121478"/>
                </a:cubicBezTo>
                <a:cubicBezTo>
                  <a:pt x="156541" y="121478"/>
                  <a:pt x="153194" y="119960"/>
                  <a:pt x="150502" y="117337"/>
                </a:cubicBezTo>
                <a:cubicBezTo>
                  <a:pt x="148121" y="115059"/>
                  <a:pt x="145222" y="113196"/>
                  <a:pt x="141909" y="113196"/>
                </a:cubicBezTo>
                <a:cubicBezTo>
                  <a:pt x="136732" y="113196"/>
                  <a:pt x="132522" y="117406"/>
                  <a:pt x="132522" y="122583"/>
                </a:cubicBezTo>
                <a:lnTo>
                  <a:pt x="132522" y="160130"/>
                </a:lnTo>
                <a:cubicBezTo>
                  <a:pt x="132522" y="169276"/>
                  <a:pt x="125102" y="176696"/>
                  <a:pt x="115957" y="176696"/>
                </a:cubicBezTo>
                <a:lnTo>
                  <a:pt x="96354" y="176696"/>
                </a:lnTo>
                <a:cubicBezTo>
                  <a:pt x="91937" y="176696"/>
                  <a:pt x="88348" y="173107"/>
                  <a:pt x="88348" y="168689"/>
                </a:cubicBezTo>
                <a:cubicBezTo>
                  <a:pt x="88348" y="165514"/>
                  <a:pt x="90349" y="162719"/>
                  <a:pt x="92903" y="160821"/>
                </a:cubicBezTo>
                <a:cubicBezTo>
                  <a:pt x="96907" y="157818"/>
                  <a:pt x="99391" y="153677"/>
                  <a:pt x="99391" y="149087"/>
                </a:cubicBezTo>
                <a:cubicBezTo>
                  <a:pt x="99391" y="139942"/>
                  <a:pt x="89487" y="132522"/>
                  <a:pt x="77304" y="132522"/>
                </a:cubicBezTo>
                <a:cubicBezTo>
                  <a:pt x="65122" y="132522"/>
                  <a:pt x="55217" y="139942"/>
                  <a:pt x="55217" y="149087"/>
                </a:cubicBezTo>
                <a:cubicBezTo>
                  <a:pt x="55217" y="153677"/>
                  <a:pt x="57702" y="157818"/>
                  <a:pt x="61705" y="160821"/>
                </a:cubicBezTo>
                <a:cubicBezTo>
                  <a:pt x="64259" y="162719"/>
                  <a:pt x="66261" y="165480"/>
                  <a:pt x="66261" y="168689"/>
                </a:cubicBezTo>
                <a:cubicBezTo>
                  <a:pt x="66261" y="173107"/>
                  <a:pt x="62672" y="176696"/>
                  <a:pt x="58254" y="176696"/>
                </a:cubicBezTo>
                <a:lnTo>
                  <a:pt x="16565" y="176696"/>
                </a:lnTo>
                <a:cubicBezTo>
                  <a:pt x="7420" y="176696"/>
                  <a:pt x="0" y="169276"/>
                  <a:pt x="0" y="160130"/>
                </a:cubicBezTo>
                <a:lnTo>
                  <a:pt x="0" y="118441"/>
                </a:lnTo>
                <a:cubicBezTo>
                  <a:pt x="0" y="114024"/>
                  <a:pt x="3589" y="110435"/>
                  <a:pt x="8007" y="110435"/>
                </a:cubicBezTo>
                <a:cubicBezTo>
                  <a:pt x="11182" y="110435"/>
                  <a:pt x="13977" y="112436"/>
                  <a:pt x="15875" y="114990"/>
                </a:cubicBezTo>
                <a:cubicBezTo>
                  <a:pt x="18877" y="118993"/>
                  <a:pt x="23019" y="121478"/>
                  <a:pt x="27609" y="121478"/>
                </a:cubicBezTo>
                <a:cubicBezTo>
                  <a:pt x="36754" y="121478"/>
                  <a:pt x="44174" y="111574"/>
                  <a:pt x="44174" y="99391"/>
                </a:cubicBezTo>
                <a:cubicBezTo>
                  <a:pt x="44174" y="87209"/>
                  <a:pt x="36754" y="77304"/>
                  <a:pt x="27609" y="77304"/>
                </a:cubicBezTo>
                <a:cubicBezTo>
                  <a:pt x="23019" y="77304"/>
                  <a:pt x="18877" y="79789"/>
                  <a:pt x="15875" y="83792"/>
                </a:cubicBezTo>
                <a:cubicBezTo>
                  <a:pt x="13977" y="86346"/>
                  <a:pt x="11216" y="88348"/>
                  <a:pt x="8007" y="88348"/>
                </a:cubicBezTo>
                <a:cubicBezTo>
                  <a:pt x="3589" y="88348"/>
                  <a:pt x="0" y="84759"/>
                  <a:pt x="0" y="80341"/>
                </a:cubicBezTo>
                <a:lnTo>
                  <a:pt x="0" y="60739"/>
                </a:lnTo>
                <a:cubicBezTo>
                  <a:pt x="0" y="51594"/>
                  <a:pt x="7420" y="44174"/>
                  <a:pt x="16565" y="44174"/>
                </a:cubicBezTo>
                <a:lnTo>
                  <a:pt x="54113" y="44174"/>
                </a:lnTo>
                <a:cubicBezTo>
                  <a:pt x="59290" y="44174"/>
                  <a:pt x="63500" y="39964"/>
                  <a:pt x="63500" y="34787"/>
                </a:cubicBezTo>
                <a:cubicBezTo>
                  <a:pt x="63500" y="31508"/>
                  <a:pt x="61636" y="28575"/>
                  <a:pt x="59359" y="26194"/>
                </a:cubicBezTo>
                <a:cubicBezTo>
                  <a:pt x="56770" y="23467"/>
                  <a:pt x="55217" y="20154"/>
                  <a:pt x="55217" y="16565"/>
                </a:cubicBezTo>
                <a:cubicBezTo>
                  <a:pt x="55217" y="7420"/>
                  <a:pt x="65122" y="0"/>
                  <a:pt x="77304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50957" y="1342887"/>
            <a:ext cx="518601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Interactions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087" y="1731617"/>
            <a:ext cx="5318539" cy="954157"/>
          </a:xfrm>
          <a:custGeom>
            <a:avLst/>
            <a:gdLst/>
            <a:ahLst/>
            <a:cxnLst/>
            <a:rect l="l" t="t" r="r" b="b"/>
            <a:pathLst>
              <a:path w="5318539" h="954157">
                <a:moveTo>
                  <a:pt x="70674" y="0"/>
                </a:moveTo>
                <a:lnTo>
                  <a:pt x="5247865" y="0"/>
                </a:lnTo>
                <a:cubicBezTo>
                  <a:pt x="5286897" y="0"/>
                  <a:pt x="5318539" y="31642"/>
                  <a:pt x="5318539" y="70674"/>
                </a:cubicBezTo>
                <a:lnTo>
                  <a:pt x="5318539" y="883482"/>
                </a:lnTo>
                <a:cubicBezTo>
                  <a:pt x="5318539" y="922515"/>
                  <a:pt x="5286897" y="954157"/>
                  <a:pt x="5247865" y="954157"/>
                </a:cubicBezTo>
                <a:lnTo>
                  <a:pt x="70674" y="954157"/>
                </a:lnTo>
                <a:cubicBezTo>
                  <a:pt x="31642" y="954157"/>
                  <a:pt x="0" y="922515"/>
                  <a:pt x="0" y="883482"/>
                </a:cubicBezTo>
                <a:lnTo>
                  <a:pt x="0" y="70674"/>
                </a:lnTo>
                <a:cubicBezTo>
                  <a:pt x="0" y="31668"/>
                  <a:pt x="31668" y="0"/>
                  <a:pt x="7067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36104" y="1837635"/>
            <a:ext cx="759791" cy="247374"/>
          </a:xfrm>
          <a:custGeom>
            <a:avLst/>
            <a:gdLst/>
            <a:ahLst/>
            <a:cxnLst/>
            <a:rect l="l" t="t" r="r" b="b"/>
            <a:pathLst>
              <a:path w="759791" h="247374">
                <a:moveTo>
                  <a:pt x="35340" y="0"/>
                </a:moveTo>
                <a:lnTo>
                  <a:pt x="724451" y="0"/>
                </a:lnTo>
                <a:cubicBezTo>
                  <a:pt x="743969" y="0"/>
                  <a:pt x="759791" y="15822"/>
                  <a:pt x="759791" y="35340"/>
                </a:cubicBezTo>
                <a:lnTo>
                  <a:pt x="759791" y="212034"/>
                </a:lnTo>
                <a:cubicBezTo>
                  <a:pt x="759791" y="231539"/>
                  <a:pt x="743956" y="247374"/>
                  <a:pt x="724451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36104" y="1837635"/>
            <a:ext cx="821635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Calibration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4779" y="1855304"/>
            <a:ext cx="14135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05722" y="1837635"/>
            <a:ext cx="971826" cy="247374"/>
          </a:xfrm>
          <a:custGeom>
            <a:avLst/>
            <a:gdLst/>
            <a:ahLst/>
            <a:cxnLst/>
            <a:rect l="l" t="t" r="r" b="b"/>
            <a:pathLst>
              <a:path w="971826" h="247374">
                <a:moveTo>
                  <a:pt x="35340" y="0"/>
                </a:moveTo>
                <a:lnTo>
                  <a:pt x="936486" y="0"/>
                </a:lnTo>
                <a:cubicBezTo>
                  <a:pt x="956004" y="0"/>
                  <a:pt x="971826" y="15822"/>
                  <a:pt x="971826" y="35340"/>
                </a:cubicBezTo>
                <a:lnTo>
                  <a:pt x="971826" y="212034"/>
                </a:lnTo>
                <a:cubicBezTo>
                  <a:pt x="971826" y="231539"/>
                  <a:pt x="955991" y="247374"/>
                  <a:pt x="936486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605722" y="1837635"/>
            <a:ext cx="1033670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Meta-Features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104" y="2155687"/>
            <a:ext cx="5177183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Calibration stabilizes probability inputs; meta-features improve reliability estimation. </a:t>
            </a:r>
            <a:r>
              <a:rPr lang="en-US" sz="1113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Together they produce more stable allocations.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087" y="2791791"/>
            <a:ext cx="5318539" cy="954157"/>
          </a:xfrm>
          <a:custGeom>
            <a:avLst/>
            <a:gdLst/>
            <a:ahLst/>
            <a:cxnLst/>
            <a:rect l="l" t="t" r="r" b="b"/>
            <a:pathLst>
              <a:path w="5318539" h="954157">
                <a:moveTo>
                  <a:pt x="70674" y="0"/>
                </a:moveTo>
                <a:lnTo>
                  <a:pt x="5247865" y="0"/>
                </a:lnTo>
                <a:cubicBezTo>
                  <a:pt x="5286897" y="0"/>
                  <a:pt x="5318539" y="31642"/>
                  <a:pt x="5318539" y="70674"/>
                </a:cubicBezTo>
                <a:lnTo>
                  <a:pt x="5318539" y="883482"/>
                </a:lnTo>
                <a:cubicBezTo>
                  <a:pt x="5318539" y="922515"/>
                  <a:pt x="5286897" y="954157"/>
                  <a:pt x="5247865" y="954157"/>
                </a:cubicBezTo>
                <a:lnTo>
                  <a:pt x="70674" y="954157"/>
                </a:lnTo>
                <a:cubicBezTo>
                  <a:pt x="31642" y="954157"/>
                  <a:pt x="0" y="922515"/>
                  <a:pt x="0" y="883482"/>
                </a:cubicBezTo>
                <a:lnTo>
                  <a:pt x="0" y="70674"/>
                </a:lnTo>
                <a:cubicBezTo>
                  <a:pt x="0" y="31668"/>
                  <a:pt x="31668" y="0"/>
                  <a:pt x="7067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36104" y="2897809"/>
            <a:ext cx="971826" cy="247374"/>
          </a:xfrm>
          <a:custGeom>
            <a:avLst/>
            <a:gdLst/>
            <a:ahLst/>
            <a:cxnLst/>
            <a:rect l="l" t="t" r="r" b="b"/>
            <a:pathLst>
              <a:path w="971826" h="247374">
                <a:moveTo>
                  <a:pt x="35340" y="0"/>
                </a:moveTo>
                <a:lnTo>
                  <a:pt x="936486" y="0"/>
                </a:lnTo>
                <a:cubicBezTo>
                  <a:pt x="956004" y="0"/>
                  <a:pt x="971826" y="15822"/>
                  <a:pt x="971826" y="35340"/>
                </a:cubicBezTo>
                <a:lnTo>
                  <a:pt x="971826" y="212034"/>
                </a:lnTo>
                <a:cubicBezTo>
                  <a:pt x="971826" y="231539"/>
                  <a:pt x="955991" y="247374"/>
                  <a:pt x="936486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36104" y="2897809"/>
            <a:ext cx="1033670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Meta-Features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75020" y="2915478"/>
            <a:ext cx="14135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815962" y="2897809"/>
            <a:ext cx="388730" cy="247374"/>
          </a:xfrm>
          <a:custGeom>
            <a:avLst/>
            <a:gdLst/>
            <a:ahLst/>
            <a:cxnLst/>
            <a:rect l="l" t="t" r="r" b="b"/>
            <a:pathLst>
              <a:path w="388730" h="247374">
                <a:moveTo>
                  <a:pt x="35340" y="0"/>
                </a:moveTo>
                <a:lnTo>
                  <a:pt x="353391" y="0"/>
                </a:lnTo>
                <a:cubicBezTo>
                  <a:pt x="372908" y="0"/>
                  <a:pt x="388730" y="15822"/>
                  <a:pt x="388730" y="35340"/>
                </a:cubicBezTo>
                <a:lnTo>
                  <a:pt x="388730" y="212034"/>
                </a:lnTo>
                <a:cubicBezTo>
                  <a:pt x="388730" y="231552"/>
                  <a:pt x="372908" y="247374"/>
                  <a:pt x="353391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815962" y="2897809"/>
            <a:ext cx="450574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MPT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104" y="3215861"/>
            <a:ext cx="5177183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Meta-features improve expected return estimates; MPT optimizes diversification. </a:t>
            </a:r>
            <a:r>
              <a:rPr lang="en-US" sz="1113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combination for 5-day horizon (12.47% return).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0087" y="3851965"/>
            <a:ext cx="5318539" cy="954157"/>
          </a:xfrm>
          <a:custGeom>
            <a:avLst/>
            <a:gdLst/>
            <a:ahLst/>
            <a:cxnLst/>
            <a:rect l="l" t="t" r="r" b="b"/>
            <a:pathLst>
              <a:path w="5318539" h="954157">
                <a:moveTo>
                  <a:pt x="70674" y="0"/>
                </a:moveTo>
                <a:lnTo>
                  <a:pt x="5247865" y="0"/>
                </a:lnTo>
                <a:cubicBezTo>
                  <a:pt x="5286897" y="0"/>
                  <a:pt x="5318539" y="31642"/>
                  <a:pt x="5318539" y="70674"/>
                </a:cubicBezTo>
                <a:lnTo>
                  <a:pt x="5318539" y="883482"/>
                </a:lnTo>
                <a:cubicBezTo>
                  <a:pt x="5318539" y="922515"/>
                  <a:pt x="5286897" y="954157"/>
                  <a:pt x="5247865" y="954157"/>
                </a:cubicBezTo>
                <a:lnTo>
                  <a:pt x="70674" y="954157"/>
                </a:lnTo>
                <a:cubicBezTo>
                  <a:pt x="31642" y="954157"/>
                  <a:pt x="0" y="922515"/>
                  <a:pt x="0" y="883482"/>
                </a:cubicBezTo>
                <a:lnTo>
                  <a:pt x="0" y="70674"/>
                </a:lnTo>
                <a:cubicBezTo>
                  <a:pt x="0" y="31668"/>
                  <a:pt x="31668" y="0"/>
                  <a:pt x="7067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36104" y="3957983"/>
            <a:ext cx="662609" cy="247374"/>
          </a:xfrm>
          <a:custGeom>
            <a:avLst/>
            <a:gdLst/>
            <a:ahLst/>
            <a:cxnLst/>
            <a:rect l="l" t="t" r="r" b="b"/>
            <a:pathLst>
              <a:path w="662609" h="247374">
                <a:moveTo>
                  <a:pt x="35340" y="0"/>
                </a:moveTo>
                <a:lnTo>
                  <a:pt x="627269" y="0"/>
                </a:lnTo>
                <a:cubicBezTo>
                  <a:pt x="646787" y="0"/>
                  <a:pt x="662609" y="15822"/>
                  <a:pt x="662609" y="35340"/>
                </a:cubicBezTo>
                <a:lnTo>
                  <a:pt x="662609" y="212034"/>
                </a:lnTo>
                <a:cubicBezTo>
                  <a:pt x="662609" y="231539"/>
                  <a:pt x="646773" y="247374"/>
                  <a:pt x="627269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36104" y="3957983"/>
            <a:ext cx="724452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Exit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2014" y="3975652"/>
            <a:ext cx="14135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512957" y="3957983"/>
            <a:ext cx="618435" cy="247374"/>
          </a:xfrm>
          <a:custGeom>
            <a:avLst/>
            <a:gdLst/>
            <a:ahLst/>
            <a:cxnLst/>
            <a:rect l="l" t="t" r="r" b="b"/>
            <a:pathLst>
              <a:path w="618435" h="247374">
                <a:moveTo>
                  <a:pt x="35340" y="0"/>
                </a:moveTo>
                <a:lnTo>
                  <a:pt x="583095" y="0"/>
                </a:lnTo>
                <a:cubicBezTo>
                  <a:pt x="602613" y="0"/>
                  <a:pt x="618435" y="15822"/>
                  <a:pt x="618435" y="35340"/>
                </a:cubicBezTo>
                <a:lnTo>
                  <a:pt x="618435" y="212034"/>
                </a:lnTo>
                <a:cubicBezTo>
                  <a:pt x="618435" y="231539"/>
                  <a:pt x="602600" y="247374"/>
                  <a:pt x="583095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512957" y="3957983"/>
            <a:ext cx="680278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Meta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104" y="4276035"/>
            <a:ext cx="5177183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exit dramatically improves non-meta models by reducing drawdown. </a:t>
            </a:r>
            <a:r>
              <a:rPr lang="en-US" sz="1113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68% drawdown reduction (-3.5% → -1.1%).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64608" y="1166191"/>
            <a:ext cx="5671930" cy="4028661"/>
          </a:xfrm>
          <a:custGeom>
            <a:avLst/>
            <a:gdLst/>
            <a:ahLst/>
            <a:cxnLst/>
            <a:rect l="l" t="t" r="r" b="b"/>
            <a:pathLst>
              <a:path w="5671930" h="4028661">
                <a:moveTo>
                  <a:pt x="106034" y="0"/>
                </a:moveTo>
                <a:lnTo>
                  <a:pt x="5565896" y="0"/>
                </a:lnTo>
                <a:cubicBezTo>
                  <a:pt x="5624457" y="0"/>
                  <a:pt x="5671930" y="47473"/>
                  <a:pt x="5671930" y="106034"/>
                </a:cubicBezTo>
                <a:lnTo>
                  <a:pt x="5671930" y="3922627"/>
                </a:lnTo>
                <a:cubicBezTo>
                  <a:pt x="5671930" y="3981188"/>
                  <a:pt x="5624457" y="4028661"/>
                  <a:pt x="5565896" y="4028661"/>
                </a:cubicBezTo>
                <a:lnTo>
                  <a:pt x="106034" y="4028661"/>
                </a:lnTo>
                <a:cubicBezTo>
                  <a:pt x="47473" y="4028661"/>
                  <a:pt x="0" y="3981188"/>
                  <a:pt x="0" y="3922627"/>
                </a:cubicBezTo>
                <a:lnTo>
                  <a:pt x="0" y="106034"/>
                </a:lnTo>
                <a:cubicBezTo>
                  <a:pt x="0" y="47512"/>
                  <a:pt x="47512" y="0"/>
                  <a:pt x="106034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363390" y="1378226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88348" y="0"/>
                </a:moveTo>
                <a:cubicBezTo>
                  <a:pt x="93421" y="0"/>
                  <a:pt x="98080" y="2795"/>
                  <a:pt x="100496" y="7247"/>
                </a:cubicBezTo>
                <a:lnTo>
                  <a:pt x="175039" y="145291"/>
                </a:lnTo>
                <a:cubicBezTo>
                  <a:pt x="177351" y="149570"/>
                  <a:pt x="177248" y="154747"/>
                  <a:pt x="174763" y="158923"/>
                </a:cubicBezTo>
                <a:cubicBezTo>
                  <a:pt x="172278" y="163098"/>
                  <a:pt x="167757" y="165652"/>
                  <a:pt x="162891" y="165652"/>
                </a:cubicBezTo>
                <a:lnTo>
                  <a:pt x="13804" y="165652"/>
                </a:lnTo>
                <a:cubicBezTo>
                  <a:pt x="8938" y="165652"/>
                  <a:pt x="4452" y="163098"/>
                  <a:pt x="1933" y="158923"/>
                </a:cubicBezTo>
                <a:cubicBezTo>
                  <a:pt x="-587" y="154747"/>
                  <a:pt x="-656" y="149570"/>
                  <a:pt x="1657" y="145291"/>
                </a:cubicBezTo>
                <a:lnTo>
                  <a:pt x="76200" y="7247"/>
                </a:lnTo>
                <a:cubicBezTo>
                  <a:pt x="78616" y="2795"/>
                  <a:pt x="83275" y="0"/>
                  <a:pt x="88348" y="0"/>
                </a:cubicBezTo>
                <a:close/>
                <a:moveTo>
                  <a:pt x="88348" y="57978"/>
                </a:moveTo>
                <a:cubicBezTo>
                  <a:pt x="83758" y="57978"/>
                  <a:pt x="80065" y="61671"/>
                  <a:pt x="80065" y="66261"/>
                </a:cubicBezTo>
                <a:lnTo>
                  <a:pt x="80065" y="104913"/>
                </a:lnTo>
                <a:cubicBezTo>
                  <a:pt x="80065" y="109503"/>
                  <a:pt x="83758" y="113196"/>
                  <a:pt x="88348" y="113196"/>
                </a:cubicBezTo>
                <a:cubicBezTo>
                  <a:pt x="92938" y="113196"/>
                  <a:pt x="96630" y="109503"/>
                  <a:pt x="96630" y="104913"/>
                </a:cubicBezTo>
                <a:lnTo>
                  <a:pt x="96630" y="66261"/>
                </a:lnTo>
                <a:cubicBezTo>
                  <a:pt x="96630" y="61671"/>
                  <a:pt x="92938" y="57978"/>
                  <a:pt x="88348" y="57978"/>
                </a:cubicBezTo>
                <a:close/>
                <a:moveTo>
                  <a:pt x="97562" y="132522"/>
                </a:moveTo>
                <a:cubicBezTo>
                  <a:pt x="97772" y="129101"/>
                  <a:pt x="96066" y="125847"/>
                  <a:pt x="93134" y="124074"/>
                </a:cubicBezTo>
                <a:cubicBezTo>
                  <a:pt x="90202" y="122300"/>
                  <a:pt x="86528" y="122300"/>
                  <a:pt x="83596" y="124074"/>
                </a:cubicBezTo>
                <a:cubicBezTo>
                  <a:pt x="80664" y="125847"/>
                  <a:pt x="78958" y="129101"/>
                  <a:pt x="79168" y="132522"/>
                </a:cubicBezTo>
                <a:cubicBezTo>
                  <a:pt x="78958" y="135942"/>
                  <a:pt x="80664" y="139196"/>
                  <a:pt x="83596" y="140970"/>
                </a:cubicBezTo>
                <a:cubicBezTo>
                  <a:pt x="86528" y="142743"/>
                  <a:pt x="90202" y="142743"/>
                  <a:pt x="93134" y="140970"/>
                </a:cubicBezTo>
                <a:cubicBezTo>
                  <a:pt x="96066" y="139196"/>
                  <a:pt x="97772" y="135942"/>
                  <a:pt x="97562" y="132522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562173" y="1342887"/>
            <a:ext cx="518601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Negative Interactions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8973" y="1731617"/>
            <a:ext cx="5300870" cy="1166191"/>
          </a:xfrm>
          <a:custGeom>
            <a:avLst/>
            <a:gdLst/>
            <a:ahLst/>
            <a:cxnLst/>
            <a:rect l="l" t="t" r="r" b="b"/>
            <a:pathLst>
              <a:path w="5300870" h="1166191">
                <a:moveTo>
                  <a:pt x="35339" y="0"/>
                </a:moveTo>
                <a:lnTo>
                  <a:pt x="5230187" y="0"/>
                </a:lnTo>
                <a:cubicBezTo>
                  <a:pt x="5269224" y="0"/>
                  <a:pt x="5300870" y="31646"/>
                  <a:pt x="5300870" y="70683"/>
                </a:cubicBezTo>
                <a:lnTo>
                  <a:pt x="5300870" y="1095508"/>
                </a:lnTo>
                <a:cubicBezTo>
                  <a:pt x="5300870" y="1134546"/>
                  <a:pt x="5269224" y="1166191"/>
                  <a:pt x="5230187" y="1166191"/>
                </a:cubicBezTo>
                <a:lnTo>
                  <a:pt x="35339" y="1166191"/>
                </a:lnTo>
                <a:cubicBezTo>
                  <a:pt x="15822" y="1166191"/>
                  <a:pt x="0" y="1150369"/>
                  <a:pt x="0" y="1130852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6358973" y="1731617"/>
            <a:ext cx="35339" cy="1166191"/>
          </a:xfrm>
          <a:custGeom>
            <a:avLst/>
            <a:gdLst/>
            <a:ahLst/>
            <a:cxnLst/>
            <a:rect l="l" t="t" r="r" b="b"/>
            <a:pathLst>
              <a:path w="35339" h="1166191">
                <a:moveTo>
                  <a:pt x="35339" y="0"/>
                </a:moveTo>
                <a:lnTo>
                  <a:pt x="35339" y="0"/>
                </a:lnTo>
                <a:lnTo>
                  <a:pt x="35339" y="1166191"/>
                </a:lnTo>
                <a:lnTo>
                  <a:pt x="35339" y="1166191"/>
                </a:lnTo>
                <a:cubicBezTo>
                  <a:pt x="15822" y="1166191"/>
                  <a:pt x="0" y="1150369"/>
                  <a:pt x="0" y="1130852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482660" y="1837635"/>
            <a:ext cx="662609" cy="247374"/>
          </a:xfrm>
          <a:custGeom>
            <a:avLst/>
            <a:gdLst/>
            <a:ahLst/>
            <a:cxnLst/>
            <a:rect l="l" t="t" r="r" b="b"/>
            <a:pathLst>
              <a:path w="662609" h="247374">
                <a:moveTo>
                  <a:pt x="35340" y="0"/>
                </a:moveTo>
                <a:lnTo>
                  <a:pt x="627269" y="0"/>
                </a:lnTo>
                <a:cubicBezTo>
                  <a:pt x="646787" y="0"/>
                  <a:pt x="662609" y="15822"/>
                  <a:pt x="662609" y="35340"/>
                </a:cubicBezTo>
                <a:lnTo>
                  <a:pt x="662609" y="212034"/>
                </a:lnTo>
                <a:cubicBezTo>
                  <a:pt x="662609" y="231539"/>
                  <a:pt x="646773" y="247374"/>
                  <a:pt x="627269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482660" y="1837635"/>
            <a:ext cx="724452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Exit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18570" y="1855304"/>
            <a:ext cx="14135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59512" y="1837635"/>
            <a:ext cx="424070" cy="247374"/>
          </a:xfrm>
          <a:custGeom>
            <a:avLst/>
            <a:gdLst/>
            <a:ahLst/>
            <a:cxnLst/>
            <a:rect l="l" t="t" r="r" b="b"/>
            <a:pathLst>
              <a:path w="424070" h="247374">
                <a:moveTo>
                  <a:pt x="35340" y="0"/>
                </a:moveTo>
                <a:lnTo>
                  <a:pt x="388730" y="0"/>
                </a:lnTo>
                <a:cubicBezTo>
                  <a:pt x="408247" y="0"/>
                  <a:pt x="424070" y="15822"/>
                  <a:pt x="424070" y="35340"/>
                </a:cubicBezTo>
                <a:lnTo>
                  <a:pt x="424070" y="212034"/>
                </a:lnTo>
                <a:cubicBezTo>
                  <a:pt x="424070" y="231552"/>
                  <a:pt x="408247" y="247374"/>
                  <a:pt x="388730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7359512" y="1837635"/>
            <a:ext cx="485913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82660" y="2155687"/>
            <a:ext cx="5141843" cy="63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meta-features, early exit </a:t>
            </a:r>
            <a:r>
              <a:rPr lang="en-US" sz="1113" b="1" dirty="0">
                <a:solidFill>
                  <a:srgbClr val="F56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returns</a:t>
            </a: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(12.47% → 3.57%). Meta-features already provide reliability signals, early exit becomes redundant and may close profitable positions prematurely.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8973" y="3003826"/>
            <a:ext cx="5300870" cy="954157"/>
          </a:xfrm>
          <a:custGeom>
            <a:avLst/>
            <a:gdLst/>
            <a:ahLst/>
            <a:cxnLst/>
            <a:rect l="l" t="t" r="r" b="b"/>
            <a:pathLst>
              <a:path w="5300870" h="954157">
                <a:moveTo>
                  <a:pt x="35339" y="0"/>
                </a:moveTo>
                <a:lnTo>
                  <a:pt x="5230195" y="0"/>
                </a:lnTo>
                <a:cubicBezTo>
                  <a:pt x="5269228" y="0"/>
                  <a:pt x="5300870" y="31642"/>
                  <a:pt x="5300870" y="70674"/>
                </a:cubicBezTo>
                <a:lnTo>
                  <a:pt x="5300870" y="883482"/>
                </a:lnTo>
                <a:cubicBezTo>
                  <a:pt x="5300870" y="922515"/>
                  <a:pt x="5269228" y="954157"/>
                  <a:pt x="5230195" y="954157"/>
                </a:cubicBezTo>
                <a:lnTo>
                  <a:pt x="35339" y="954157"/>
                </a:lnTo>
                <a:cubicBezTo>
                  <a:pt x="15822" y="954157"/>
                  <a:pt x="0" y="938335"/>
                  <a:pt x="0" y="91881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6358973" y="3003826"/>
            <a:ext cx="35339" cy="954157"/>
          </a:xfrm>
          <a:custGeom>
            <a:avLst/>
            <a:gdLst/>
            <a:ahLst/>
            <a:cxnLst/>
            <a:rect l="l" t="t" r="r" b="b"/>
            <a:pathLst>
              <a:path w="35339" h="954157">
                <a:moveTo>
                  <a:pt x="35339" y="0"/>
                </a:moveTo>
                <a:lnTo>
                  <a:pt x="35339" y="0"/>
                </a:lnTo>
                <a:lnTo>
                  <a:pt x="35339" y="954157"/>
                </a:lnTo>
                <a:lnTo>
                  <a:pt x="35339" y="954157"/>
                </a:lnTo>
                <a:cubicBezTo>
                  <a:pt x="15822" y="954157"/>
                  <a:pt x="0" y="938335"/>
                  <a:pt x="0" y="91881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482660" y="3109843"/>
            <a:ext cx="424070" cy="247374"/>
          </a:xfrm>
          <a:custGeom>
            <a:avLst/>
            <a:gdLst/>
            <a:ahLst/>
            <a:cxnLst/>
            <a:rect l="l" t="t" r="r" b="b"/>
            <a:pathLst>
              <a:path w="424070" h="247374">
                <a:moveTo>
                  <a:pt x="35340" y="0"/>
                </a:moveTo>
                <a:lnTo>
                  <a:pt x="388730" y="0"/>
                </a:lnTo>
                <a:cubicBezTo>
                  <a:pt x="408247" y="0"/>
                  <a:pt x="424070" y="15822"/>
                  <a:pt x="424070" y="35340"/>
                </a:cubicBezTo>
                <a:lnTo>
                  <a:pt x="424070" y="212034"/>
                </a:lnTo>
                <a:cubicBezTo>
                  <a:pt x="424070" y="231552"/>
                  <a:pt x="408247" y="247374"/>
                  <a:pt x="388730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482660" y="3109843"/>
            <a:ext cx="485913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76993" y="3127513"/>
            <a:ext cx="14135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17936" y="3109843"/>
            <a:ext cx="750957" cy="247374"/>
          </a:xfrm>
          <a:custGeom>
            <a:avLst/>
            <a:gdLst/>
            <a:ahLst/>
            <a:cxnLst/>
            <a:rect l="l" t="t" r="r" b="b"/>
            <a:pathLst>
              <a:path w="750957" h="247374">
                <a:moveTo>
                  <a:pt x="35340" y="0"/>
                </a:moveTo>
                <a:lnTo>
                  <a:pt x="715617" y="0"/>
                </a:lnTo>
                <a:cubicBezTo>
                  <a:pt x="735134" y="0"/>
                  <a:pt x="750957" y="15822"/>
                  <a:pt x="750957" y="35340"/>
                </a:cubicBezTo>
                <a:lnTo>
                  <a:pt x="750957" y="212034"/>
                </a:lnTo>
                <a:cubicBezTo>
                  <a:pt x="750957" y="231539"/>
                  <a:pt x="735121" y="247374"/>
                  <a:pt x="715617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7117936" y="3109843"/>
            <a:ext cx="812800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Ordinal 5D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82660" y="3427896"/>
            <a:ext cx="5141843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Meta-features improve 1-day ordinal but </a:t>
            </a:r>
            <a:r>
              <a:rPr lang="en-US" sz="1113" b="1" dirty="0">
                <a:solidFill>
                  <a:srgbClr val="F56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5-day</a:t>
            </a: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(10.56% → 4.86%). When base signal is already strong, meta-features may add noise rather than value.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8973" y="4064000"/>
            <a:ext cx="5300870" cy="954157"/>
          </a:xfrm>
          <a:custGeom>
            <a:avLst/>
            <a:gdLst/>
            <a:ahLst/>
            <a:cxnLst/>
            <a:rect l="l" t="t" r="r" b="b"/>
            <a:pathLst>
              <a:path w="5300870" h="954157">
                <a:moveTo>
                  <a:pt x="35339" y="0"/>
                </a:moveTo>
                <a:lnTo>
                  <a:pt x="5230195" y="0"/>
                </a:lnTo>
                <a:cubicBezTo>
                  <a:pt x="5269228" y="0"/>
                  <a:pt x="5300870" y="31642"/>
                  <a:pt x="5300870" y="70674"/>
                </a:cubicBezTo>
                <a:lnTo>
                  <a:pt x="5300870" y="883482"/>
                </a:lnTo>
                <a:cubicBezTo>
                  <a:pt x="5300870" y="922515"/>
                  <a:pt x="5269228" y="954157"/>
                  <a:pt x="5230195" y="954157"/>
                </a:cubicBezTo>
                <a:lnTo>
                  <a:pt x="35339" y="954157"/>
                </a:lnTo>
                <a:cubicBezTo>
                  <a:pt x="15822" y="954157"/>
                  <a:pt x="0" y="938335"/>
                  <a:pt x="0" y="91881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6358973" y="4064000"/>
            <a:ext cx="35339" cy="954157"/>
          </a:xfrm>
          <a:custGeom>
            <a:avLst/>
            <a:gdLst/>
            <a:ahLst/>
            <a:cxnLst/>
            <a:rect l="l" t="t" r="r" b="b"/>
            <a:pathLst>
              <a:path w="35339" h="954157">
                <a:moveTo>
                  <a:pt x="35339" y="0"/>
                </a:moveTo>
                <a:lnTo>
                  <a:pt x="35339" y="0"/>
                </a:lnTo>
                <a:lnTo>
                  <a:pt x="35339" y="954157"/>
                </a:lnTo>
                <a:lnTo>
                  <a:pt x="35339" y="954157"/>
                </a:lnTo>
                <a:cubicBezTo>
                  <a:pt x="15822" y="954157"/>
                  <a:pt x="0" y="938335"/>
                  <a:pt x="0" y="918817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6482660" y="4170017"/>
            <a:ext cx="468243" cy="247374"/>
          </a:xfrm>
          <a:custGeom>
            <a:avLst/>
            <a:gdLst/>
            <a:ahLst/>
            <a:cxnLst/>
            <a:rect l="l" t="t" r="r" b="b"/>
            <a:pathLst>
              <a:path w="468243" h="247374">
                <a:moveTo>
                  <a:pt x="35340" y="0"/>
                </a:moveTo>
                <a:lnTo>
                  <a:pt x="432904" y="0"/>
                </a:lnTo>
                <a:cubicBezTo>
                  <a:pt x="452421" y="0"/>
                  <a:pt x="468243" y="15822"/>
                  <a:pt x="468243" y="35340"/>
                </a:cubicBezTo>
                <a:lnTo>
                  <a:pt x="468243" y="212034"/>
                </a:lnTo>
                <a:cubicBezTo>
                  <a:pt x="468243" y="231539"/>
                  <a:pt x="452408" y="247374"/>
                  <a:pt x="432904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6482660" y="4170017"/>
            <a:ext cx="530087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1-Day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24066" y="4187687"/>
            <a:ext cx="14135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65009" y="4170017"/>
            <a:ext cx="388730" cy="247374"/>
          </a:xfrm>
          <a:custGeom>
            <a:avLst/>
            <a:gdLst/>
            <a:ahLst/>
            <a:cxnLst/>
            <a:rect l="l" t="t" r="r" b="b"/>
            <a:pathLst>
              <a:path w="388730" h="247374">
                <a:moveTo>
                  <a:pt x="35340" y="0"/>
                </a:moveTo>
                <a:lnTo>
                  <a:pt x="353391" y="0"/>
                </a:lnTo>
                <a:cubicBezTo>
                  <a:pt x="372908" y="0"/>
                  <a:pt x="388730" y="15822"/>
                  <a:pt x="388730" y="35340"/>
                </a:cubicBezTo>
                <a:lnTo>
                  <a:pt x="388730" y="212034"/>
                </a:lnTo>
                <a:cubicBezTo>
                  <a:pt x="388730" y="231552"/>
                  <a:pt x="372908" y="247374"/>
                  <a:pt x="353391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7165009" y="4170017"/>
            <a:ext cx="450574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MPT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82660" y="4488070"/>
            <a:ext cx="5141843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MPT performs poorly at 1-day horizon (-0.02% return). </a:t>
            </a:r>
            <a:r>
              <a:rPr lang="en-US" sz="1113" b="1" dirty="0">
                <a:solidFill>
                  <a:srgbClr val="F56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Short-horizon signals too noisy</a:t>
            </a:r>
            <a:r>
              <a:rPr lang="en-US" sz="111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diversification benefits; Kelly's concentrated sizing works better.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53391" y="5336209"/>
            <a:ext cx="11485217" cy="1095513"/>
          </a:xfrm>
          <a:custGeom>
            <a:avLst/>
            <a:gdLst/>
            <a:ahLst/>
            <a:cxnLst/>
            <a:rect l="l" t="t" r="r" b="b"/>
            <a:pathLst>
              <a:path w="11485217" h="1095513">
                <a:moveTo>
                  <a:pt x="106013" y="0"/>
                </a:moveTo>
                <a:lnTo>
                  <a:pt x="11379205" y="0"/>
                </a:lnTo>
                <a:cubicBezTo>
                  <a:pt x="11437754" y="0"/>
                  <a:pt x="11485217" y="47464"/>
                  <a:pt x="11485217" y="106013"/>
                </a:cubicBezTo>
                <a:lnTo>
                  <a:pt x="11485217" y="989500"/>
                </a:lnTo>
                <a:cubicBezTo>
                  <a:pt x="11485217" y="1048049"/>
                  <a:pt x="11437754" y="1095513"/>
                  <a:pt x="11379205" y="1095513"/>
                </a:cubicBezTo>
                <a:lnTo>
                  <a:pt x="106013" y="1095513"/>
                </a:lnTo>
                <a:cubicBezTo>
                  <a:pt x="47464" y="1095513"/>
                  <a:pt x="0" y="1048049"/>
                  <a:pt x="0" y="989500"/>
                </a:cubicBezTo>
                <a:lnTo>
                  <a:pt x="0" y="106013"/>
                </a:lnTo>
                <a:cubicBezTo>
                  <a:pt x="0" y="47503"/>
                  <a:pt x="47503" y="0"/>
                  <a:pt x="106013" y="0"/>
                </a:cubicBezTo>
                <a:close/>
              </a:path>
            </a:pathLst>
          </a:custGeom>
          <a:gradFill flip="none" rotWithShape="1">
            <a:gsLst>
              <a:gs pos="0">
                <a:srgbClr val="63B3ED">
                  <a:alpha val="20000"/>
                </a:srgbClr>
              </a:gs>
              <a:gs pos="100000">
                <a:srgbClr val="48BB78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538922" y="5512904"/>
            <a:ext cx="132522" cy="176696"/>
          </a:xfrm>
          <a:custGeom>
            <a:avLst/>
            <a:gdLst/>
            <a:ahLst/>
            <a:cxnLst/>
            <a:rect l="l" t="t" r="r" b="b"/>
            <a:pathLst>
              <a:path w="132522" h="176696">
                <a:moveTo>
                  <a:pt x="101082" y="132522"/>
                </a:moveTo>
                <a:cubicBezTo>
                  <a:pt x="103602" y="124826"/>
                  <a:pt x="108640" y="117855"/>
                  <a:pt x="114335" y="111850"/>
                </a:cubicBezTo>
                <a:cubicBezTo>
                  <a:pt x="125620" y="99978"/>
                  <a:pt x="132522" y="83930"/>
                  <a:pt x="132522" y="66261"/>
                </a:cubicBezTo>
                <a:cubicBezTo>
                  <a:pt x="132522" y="29679"/>
                  <a:pt x="102842" y="0"/>
                  <a:pt x="66261" y="0"/>
                </a:cubicBezTo>
                <a:cubicBezTo>
                  <a:pt x="29679" y="0"/>
                  <a:pt x="0" y="29679"/>
                  <a:pt x="0" y="66261"/>
                </a:cubicBezTo>
                <a:cubicBezTo>
                  <a:pt x="0" y="83930"/>
                  <a:pt x="6902" y="99978"/>
                  <a:pt x="18187" y="111850"/>
                </a:cubicBezTo>
                <a:cubicBezTo>
                  <a:pt x="23882" y="117855"/>
                  <a:pt x="28955" y="124826"/>
                  <a:pt x="31439" y="132522"/>
                </a:cubicBezTo>
                <a:lnTo>
                  <a:pt x="101048" y="132522"/>
                </a:lnTo>
                <a:close/>
                <a:moveTo>
                  <a:pt x="99391" y="149087"/>
                </a:moveTo>
                <a:lnTo>
                  <a:pt x="33130" y="149087"/>
                </a:lnTo>
                <a:lnTo>
                  <a:pt x="33130" y="154609"/>
                </a:lnTo>
                <a:cubicBezTo>
                  <a:pt x="33130" y="169863"/>
                  <a:pt x="45485" y="182217"/>
                  <a:pt x="60739" y="182217"/>
                </a:cubicBezTo>
                <a:lnTo>
                  <a:pt x="71783" y="182217"/>
                </a:lnTo>
                <a:cubicBezTo>
                  <a:pt x="87036" y="182217"/>
                  <a:pt x="99391" y="169863"/>
                  <a:pt x="99391" y="154609"/>
                </a:cubicBezTo>
                <a:lnTo>
                  <a:pt x="99391" y="149087"/>
                </a:lnTo>
                <a:close/>
                <a:moveTo>
                  <a:pt x="63500" y="38652"/>
                </a:moveTo>
                <a:cubicBezTo>
                  <a:pt x="49765" y="38652"/>
                  <a:pt x="38652" y="49765"/>
                  <a:pt x="38652" y="63500"/>
                </a:cubicBezTo>
                <a:cubicBezTo>
                  <a:pt x="38652" y="68090"/>
                  <a:pt x="34960" y="71783"/>
                  <a:pt x="30370" y="71783"/>
                </a:cubicBezTo>
                <a:cubicBezTo>
                  <a:pt x="25780" y="71783"/>
                  <a:pt x="22087" y="68090"/>
                  <a:pt x="22087" y="63500"/>
                </a:cubicBezTo>
                <a:cubicBezTo>
                  <a:pt x="22087" y="40619"/>
                  <a:pt x="40619" y="22087"/>
                  <a:pt x="63500" y="22087"/>
                </a:cubicBezTo>
                <a:cubicBezTo>
                  <a:pt x="68090" y="22087"/>
                  <a:pt x="71783" y="25780"/>
                  <a:pt x="71783" y="30370"/>
                </a:cubicBezTo>
                <a:cubicBezTo>
                  <a:pt x="71783" y="34960"/>
                  <a:pt x="68090" y="38652"/>
                  <a:pt x="63500" y="38652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715617" y="5477565"/>
            <a:ext cx="1106998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System-Level Insight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94748" y="5830957"/>
            <a:ext cx="11273183" cy="459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Components cannot be evaluated in isolation. The </a:t>
            </a:r>
            <a:r>
              <a:rPr lang="en-US" sz="1113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configuration</a:t>
            </a:r>
            <a:r>
              <a:rPr lang="en-US" sz="111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depends on the interaction between horizon (1D vs 5D), signal type (binary vs ordinal), reliability modeling (meta vs no-meta), and allocation strategy (Kelly vs MPT vs Hybrid). </a:t>
            </a:r>
            <a:r>
              <a:rPr lang="en-US" sz="1113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performance requires matching components to signal characteristics.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512" y="397663"/>
            <a:ext cx="72302" cy="289210"/>
          </a:xfrm>
          <a:custGeom>
            <a:avLst/>
            <a:gdLst/>
            <a:ahLst/>
            <a:cxnLst/>
            <a:rect l="l" t="t" r="r" b="b"/>
            <a:pathLst>
              <a:path w="72302" h="289210">
                <a:moveTo>
                  <a:pt x="0" y="0"/>
                </a:moveTo>
                <a:lnTo>
                  <a:pt x="72302" y="0"/>
                </a:lnTo>
                <a:lnTo>
                  <a:pt x="72302" y="289210"/>
                </a:lnTo>
                <a:lnTo>
                  <a:pt x="0" y="28921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2268" y="361512"/>
            <a:ext cx="4112202" cy="36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&amp; Future 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2268" y="795327"/>
            <a:ext cx="11378597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Acknowledging constraints and next steps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1512" y="1192990"/>
            <a:ext cx="5666704" cy="5305192"/>
          </a:xfrm>
          <a:custGeom>
            <a:avLst/>
            <a:gdLst/>
            <a:ahLst/>
            <a:cxnLst/>
            <a:rect l="l" t="t" r="r" b="b"/>
            <a:pathLst>
              <a:path w="5666704" h="5305192">
                <a:moveTo>
                  <a:pt x="108438" y="0"/>
                </a:moveTo>
                <a:lnTo>
                  <a:pt x="5558266" y="0"/>
                </a:lnTo>
                <a:cubicBezTo>
                  <a:pt x="5618155" y="0"/>
                  <a:pt x="5666704" y="48549"/>
                  <a:pt x="5666704" y="108438"/>
                </a:cubicBezTo>
                <a:lnTo>
                  <a:pt x="5666704" y="5196754"/>
                </a:lnTo>
                <a:cubicBezTo>
                  <a:pt x="5666704" y="5256643"/>
                  <a:pt x="5618155" y="5305192"/>
                  <a:pt x="5558266" y="5305192"/>
                </a:cubicBezTo>
                <a:lnTo>
                  <a:pt x="108438" y="5305192"/>
                </a:lnTo>
                <a:cubicBezTo>
                  <a:pt x="48549" y="5305192"/>
                  <a:pt x="0" y="5256643"/>
                  <a:pt x="0" y="5196754"/>
                </a:cubicBezTo>
                <a:lnTo>
                  <a:pt x="0" y="108438"/>
                </a:lnTo>
                <a:cubicBezTo>
                  <a:pt x="0" y="48589"/>
                  <a:pt x="48589" y="0"/>
                  <a:pt x="108438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69382" y="1405379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>
                <a:moveTo>
                  <a:pt x="108454" y="216907"/>
                </a:moveTo>
                <a:cubicBezTo>
                  <a:pt x="168311" y="216907"/>
                  <a:pt x="216907" y="168311"/>
                  <a:pt x="216907" y="108454"/>
                </a:cubicBezTo>
                <a:cubicBezTo>
                  <a:pt x="216907" y="48596"/>
                  <a:pt x="168311" y="0"/>
                  <a:pt x="108454" y="0"/>
                </a:cubicBezTo>
                <a:cubicBezTo>
                  <a:pt x="48596" y="0"/>
                  <a:pt x="0" y="48596"/>
                  <a:pt x="0" y="108454"/>
                </a:cubicBezTo>
                <a:cubicBezTo>
                  <a:pt x="0" y="168311"/>
                  <a:pt x="48596" y="216907"/>
                  <a:pt x="108454" y="216907"/>
                </a:cubicBezTo>
                <a:close/>
                <a:moveTo>
                  <a:pt x="108454" y="57616"/>
                </a:moveTo>
                <a:cubicBezTo>
                  <a:pt x="114088" y="57616"/>
                  <a:pt x="118621" y="62149"/>
                  <a:pt x="118621" y="67784"/>
                </a:cubicBezTo>
                <a:lnTo>
                  <a:pt x="118621" y="115232"/>
                </a:lnTo>
                <a:cubicBezTo>
                  <a:pt x="118621" y="120867"/>
                  <a:pt x="114088" y="125400"/>
                  <a:pt x="108454" y="125400"/>
                </a:cubicBezTo>
                <a:cubicBezTo>
                  <a:pt x="102819" y="125400"/>
                  <a:pt x="98286" y="120867"/>
                  <a:pt x="98286" y="115232"/>
                </a:cubicBezTo>
                <a:lnTo>
                  <a:pt x="98286" y="67784"/>
                </a:lnTo>
                <a:cubicBezTo>
                  <a:pt x="98286" y="62149"/>
                  <a:pt x="102819" y="57616"/>
                  <a:pt x="108454" y="57616"/>
                </a:cubicBezTo>
                <a:close/>
                <a:moveTo>
                  <a:pt x="97142" y="149124"/>
                </a:moveTo>
                <a:cubicBezTo>
                  <a:pt x="96885" y="144925"/>
                  <a:pt x="98979" y="140931"/>
                  <a:pt x="102578" y="138753"/>
                </a:cubicBezTo>
                <a:cubicBezTo>
                  <a:pt x="106177" y="136576"/>
                  <a:pt x="110688" y="136576"/>
                  <a:pt x="114287" y="138753"/>
                </a:cubicBezTo>
                <a:cubicBezTo>
                  <a:pt x="117886" y="140931"/>
                  <a:pt x="119980" y="144925"/>
                  <a:pt x="119723" y="149124"/>
                </a:cubicBezTo>
                <a:cubicBezTo>
                  <a:pt x="119980" y="153322"/>
                  <a:pt x="117886" y="157317"/>
                  <a:pt x="114287" y="159494"/>
                </a:cubicBezTo>
                <a:cubicBezTo>
                  <a:pt x="110688" y="161671"/>
                  <a:pt x="106177" y="161671"/>
                  <a:pt x="102578" y="159494"/>
                </a:cubicBezTo>
                <a:cubicBezTo>
                  <a:pt x="98979" y="157317"/>
                  <a:pt x="96885" y="153322"/>
                  <a:pt x="97142" y="149124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13403" y="1373746"/>
            <a:ext cx="5142511" cy="280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2268" y="1798523"/>
            <a:ext cx="5305192" cy="1192990"/>
          </a:xfrm>
          <a:custGeom>
            <a:avLst/>
            <a:gdLst/>
            <a:ahLst/>
            <a:cxnLst/>
            <a:rect l="l" t="t" r="r" b="b"/>
            <a:pathLst>
              <a:path w="5305192" h="1192990">
                <a:moveTo>
                  <a:pt x="72307" y="0"/>
                </a:moveTo>
                <a:lnTo>
                  <a:pt x="5232885" y="0"/>
                </a:lnTo>
                <a:cubicBezTo>
                  <a:pt x="5272819" y="0"/>
                  <a:pt x="5305192" y="32373"/>
                  <a:pt x="5305192" y="72307"/>
                </a:cubicBezTo>
                <a:lnTo>
                  <a:pt x="5305192" y="1120683"/>
                </a:lnTo>
                <a:cubicBezTo>
                  <a:pt x="5305192" y="1160617"/>
                  <a:pt x="5272819" y="1192990"/>
                  <a:pt x="5232885" y="1192990"/>
                </a:cubicBezTo>
                <a:lnTo>
                  <a:pt x="72307" y="1192990"/>
                </a:lnTo>
                <a:cubicBezTo>
                  <a:pt x="32400" y="1192990"/>
                  <a:pt x="0" y="1160591"/>
                  <a:pt x="0" y="1120683"/>
                </a:cubicBezTo>
                <a:lnTo>
                  <a:pt x="0" y="72307"/>
                </a:lnTo>
                <a:cubicBezTo>
                  <a:pt x="0" y="32400"/>
                  <a:pt x="32400" y="0"/>
                  <a:pt x="7230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77835" y="1961204"/>
            <a:ext cx="126529" cy="144605"/>
          </a:xfrm>
          <a:custGeom>
            <a:avLst/>
            <a:gdLst/>
            <a:ahLst/>
            <a:cxnLst/>
            <a:rect l="l" t="t" r="r" b="b"/>
            <a:pathLst>
              <a:path w="126529" h="144605">
                <a:moveTo>
                  <a:pt x="36151" y="0"/>
                </a:moveTo>
                <a:cubicBezTo>
                  <a:pt x="41150" y="0"/>
                  <a:pt x="45189" y="4039"/>
                  <a:pt x="45189" y="9038"/>
                </a:cubicBezTo>
                <a:lnTo>
                  <a:pt x="45189" y="18076"/>
                </a:lnTo>
                <a:lnTo>
                  <a:pt x="81340" y="18076"/>
                </a:lnTo>
                <a:lnTo>
                  <a:pt x="81340" y="9038"/>
                </a:lnTo>
                <a:cubicBezTo>
                  <a:pt x="81340" y="4039"/>
                  <a:pt x="85379" y="0"/>
                  <a:pt x="90378" y="0"/>
                </a:cubicBezTo>
                <a:cubicBezTo>
                  <a:pt x="95377" y="0"/>
                  <a:pt x="99416" y="4039"/>
                  <a:pt x="99416" y="9038"/>
                </a:cubicBezTo>
                <a:lnTo>
                  <a:pt x="99416" y="18076"/>
                </a:lnTo>
                <a:lnTo>
                  <a:pt x="108454" y="18076"/>
                </a:lnTo>
                <a:cubicBezTo>
                  <a:pt x="118423" y="18076"/>
                  <a:pt x="126529" y="26181"/>
                  <a:pt x="126529" y="36151"/>
                </a:cubicBezTo>
                <a:lnTo>
                  <a:pt x="126529" y="117491"/>
                </a:lnTo>
                <a:cubicBezTo>
                  <a:pt x="126529" y="127461"/>
                  <a:pt x="118423" y="135567"/>
                  <a:pt x="108454" y="135567"/>
                </a:cubicBezTo>
                <a:lnTo>
                  <a:pt x="18076" y="135567"/>
                </a:lnTo>
                <a:cubicBezTo>
                  <a:pt x="8106" y="135567"/>
                  <a:pt x="0" y="127461"/>
                  <a:pt x="0" y="117491"/>
                </a:cubicBezTo>
                <a:lnTo>
                  <a:pt x="0" y="36151"/>
                </a:lnTo>
                <a:cubicBezTo>
                  <a:pt x="0" y="26181"/>
                  <a:pt x="8106" y="18076"/>
                  <a:pt x="18076" y="18076"/>
                </a:cubicBezTo>
                <a:lnTo>
                  <a:pt x="27113" y="18076"/>
                </a:lnTo>
                <a:lnTo>
                  <a:pt x="27113" y="9038"/>
                </a:lnTo>
                <a:cubicBezTo>
                  <a:pt x="27113" y="4039"/>
                  <a:pt x="31152" y="0"/>
                  <a:pt x="36151" y="0"/>
                </a:cubicBezTo>
                <a:close/>
                <a:moveTo>
                  <a:pt x="18076" y="67784"/>
                </a:moveTo>
                <a:lnTo>
                  <a:pt x="18076" y="76821"/>
                </a:lnTo>
                <a:cubicBezTo>
                  <a:pt x="18076" y="79307"/>
                  <a:pt x="20109" y="81340"/>
                  <a:pt x="22595" y="81340"/>
                </a:cubicBezTo>
                <a:lnTo>
                  <a:pt x="31632" y="81340"/>
                </a:lnTo>
                <a:cubicBezTo>
                  <a:pt x="34118" y="81340"/>
                  <a:pt x="36151" y="79307"/>
                  <a:pt x="36151" y="76821"/>
                </a:cubicBezTo>
                <a:lnTo>
                  <a:pt x="36151" y="67784"/>
                </a:lnTo>
                <a:cubicBezTo>
                  <a:pt x="36151" y="65298"/>
                  <a:pt x="34118" y="63265"/>
                  <a:pt x="31632" y="63265"/>
                </a:cubicBezTo>
                <a:lnTo>
                  <a:pt x="22595" y="63265"/>
                </a:lnTo>
                <a:cubicBezTo>
                  <a:pt x="20109" y="63265"/>
                  <a:pt x="18076" y="65298"/>
                  <a:pt x="18076" y="67784"/>
                </a:cubicBezTo>
                <a:close/>
                <a:moveTo>
                  <a:pt x="54227" y="67784"/>
                </a:moveTo>
                <a:lnTo>
                  <a:pt x="54227" y="76821"/>
                </a:lnTo>
                <a:cubicBezTo>
                  <a:pt x="54227" y="79307"/>
                  <a:pt x="56260" y="81340"/>
                  <a:pt x="58746" y="81340"/>
                </a:cubicBezTo>
                <a:lnTo>
                  <a:pt x="67784" y="81340"/>
                </a:lnTo>
                <a:cubicBezTo>
                  <a:pt x="70269" y="81340"/>
                  <a:pt x="72302" y="79307"/>
                  <a:pt x="72302" y="76821"/>
                </a:cubicBezTo>
                <a:lnTo>
                  <a:pt x="72302" y="67784"/>
                </a:lnTo>
                <a:cubicBezTo>
                  <a:pt x="72302" y="65298"/>
                  <a:pt x="70269" y="63265"/>
                  <a:pt x="67784" y="63265"/>
                </a:cubicBezTo>
                <a:lnTo>
                  <a:pt x="58746" y="63265"/>
                </a:lnTo>
                <a:cubicBezTo>
                  <a:pt x="56260" y="63265"/>
                  <a:pt x="54227" y="65298"/>
                  <a:pt x="54227" y="67784"/>
                </a:cubicBezTo>
                <a:close/>
                <a:moveTo>
                  <a:pt x="94897" y="63265"/>
                </a:moveTo>
                <a:cubicBezTo>
                  <a:pt x="92412" y="63265"/>
                  <a:pt x="90378" y="65298"/>
                  <a:pt x="90378" y="67784"/>
                </a:cubicBezTo>
                <a:lnTo>
                  <a:pt x="90378" y="76821"/>
                </a:lnTo>
                <a:cubicBezTo>
                  <a:pt x="90378" y="79307"/>
                  <a:pt x="92412" y="81340"/>
                  <a:pt x="94897" y="81340"/>
                </a:cubicBezTo>
                <a:lnTo>
                  <a:pt x="103935" y="81340"/>
                </a:lnTo>
                <a:cubicBezTo>
                  <a:pt x="106420" y="81340"/>
                  <a:pt x="108454" y="79307"/>
                  <a:pt x="108454" y="76821"/>
                </a:cubicBezTo>
                <a:lnTo>
                  <a:pt x="108454" y="67784"/>
                </a:lnTo>
                <a:cubicBezTo>
                  <a:pt x="108454" y="65298"/>
                  <a:pt x="106420" y="63265"/>
                  <a:pt x="103935" y="63265"/>
                </a:cubicBezTo>
                <a:lnTo>
                  <a:pt x="94897" y="63265"/>
                </a:lnTo>
                <a:close/>
                <a:moveTo>
                  <a:pt x="18076" y="103935"/>
                </a:moveTo>
                <a:lnTo>
                  <a:pt x="18076" y="112973"/>
                </a:lnTo>
                <a:cubicBezTo>
                  <a:pt x="18076" y="115458"/>
                  <a:pt x="20109" y="117491"/>
                  <a:pt x="22595" y="117491"/>
                </a:cubicBezTo>
                <a:lnTo>
                  <a:pt x="31632" y="117491"/>
                </a:lnTo>
                <a:cubicBezTo>
                  <a:pt x="34118" y="117491"/>
                  <a:pt x="36151" y="115458"/>
                  <a:pt x="36151" y="112973"/>
                </a:cubicBezTo>
                <a:lnTo>
                  <a:pt x="36151" y="103935"/>
                </a:lnTo>
                <a:cubicBezTo>
                  <a:pt x="36151" y="101449"/>
                  <a:pt x="34118" y="99416"/>
                  <a:pt x="31632" y="99416"/>
                </a:cubicBezTo>
                <a:lnTo>
                  <a:pt x="22595" y="99416"/>
                </a:lnTo>
                <a:cubicBezTo>
                  <a:pt x="20109" y="99416"/>
                  <a:pt x="18076" y="101449"/>
                  <a:pt x="18076" y="103935"/>
                </a:cubicBezTo>
                <a:close/>
                <a:moveTo>
                  <a:pt x="58746" y="99416"/>
                </a:moveTo>
                <a:cubicBezTo>
                  <a:pt x="56260" y="99416"/>
                  <a:pt x="54227" y="101449"/>
                  <a:pt x="54227" y="103935"/>
                </a:cubicBezTo>
                <a:lnTo>
                  <a:pt x="54227" y="112973"/>
                </a:lnTo>
                <a:cubicBezTo>
                  <a:pt x="54227" y="115458"/>
                  <a:pt x="56260" y="117491"/>
                  <a:pt x="58746" y="117491"/>
                </a:cubicBezTo>
                <a:lnTo>
                  <a:pt x="67784" y="117491"/>
                </a:lnTo>
                <a:cubicBezTo>
                  <a:pt x="70269" y="117491"/>
                  <a:pt x="72302" y="115458"/>
                  <a:pt x="72302" y="112973"/>
                </a:cubicBezTo>
                <a:lnTo>
                  <a:pt x="72302" y="103935"/>
                </a:lnTo>
                <a:cubicBezTo>
                  <a:pt x="72302" y="101449"/>
                  <a:pt x="70269" y="99416"/>
                  <a:pt x="67784" y="99416"/>
                </a:cubicBezTo>
                <a:lnTo>
                  <a:pt x="58746" y="99416"/>
                </a:lnTo>
                <a:close/>
                <a:moveTo>
                  <a:pt x="90378" y="103935"/>
                </a:moveTo>
                <a:lnTo>
                  <a:pt x="90378" y="112973"/>
                </a:lnTo>
                <a:cubicBezTo>
                  <a:pt x="90378" y="115458"/>
                  <a:pt x="92412" y="117491"/>
                  <a:pt x="94897" y="117491"/>
                </a:cubicBezTo>
                <a:lnTo>
                  <a:pt x="103935" y="117491"/>
                </a:lnTo>
                <a:cubicBezTo>
                  <a:pt x="106420" y="117491"/>
                  <a:pt x="108454" y="115458"/>
                  <a:pt x="108454" y="112973"/>
                </a:cubicBezTo>
                <a:lnTo>
                  <a:pt x="108454" y="103935"/>
                </a:lnTo>
                <a:cubicBezTo>
                  <a:pt x="108454" y="101449"/>
                  <a:pt x="106420" y="99416"/>
                  <a:pt x="103935" y="99416"/>
                </a:cubicBezTo>
                <a:lnTo>
                  <a:pt x="94897" y="99416"/>
                </a:lnTo>
                <a:cubicBezTo>
                  <a:pt x="92412" y="99416"/>
                  <a:pt x="90378" y="101449"/>
                  <a:pt x="90378" y="103935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03781" y="1906977"/>
            <a:ext cx="2141960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Evaluation Window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0722" y="2232338"/>
            <a:ext cx="5160587" cy="6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100-day simulation period is sufficient for strategy comparison but </a:t>
            </a:r>
            <a:r>
              <a:rPr lang="en-US" sz="1139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insufficient for robustness claims across multiple market regimes</a:t>
            </a: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(bull, bear, high volatility).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268" y="3099967"/>
            <a:ext cx="5305192" cy="976083"/>
          </a:xfrm>
          <a:custGeom>
            <a:avLst/>
            <a:gdLst/>
            <a:ahLst/>
            <a:cxnLst/>
            <a:rect l="l" t="t" r="r" b="b"/>
            <a:pathLst>
              <a:path w="5305192" h="976083">
                <a:moveTo>
                  <a:pt x="72298" y="0"/>
                </a:moveTo>
                <a:lnTo>
                  <a:pt x="5232894" y="0"/>
                </a:lnTo>
                <a:cubicBezTo>
                  <a:pt x="5272823" y="0"/>
                  <a:pt x="5305192" y="32369"/>
                  <a:pt x="5305192" y="72298"/>
                </a:cubicBezTo>
                <a:lnTo>
                  <a:pt x="5305192" y="903785"/>
                </a:lnTo>
                <a:cubicBezTo>
                  <a:pt x="5305192" y="943714"/>
                  <a:pt x="5272823" y="976083"/>
                  <a:pt x="5232894" y="976083"/>
                </a:cubicBezTo>
                <a:lnTo>
                  <a:pt x="72298" y="976083"/>
                </a:lnTo>
                <a:cubicBezTo>
                  <a:pt x="32369" y="976083"/>
                  <a:pt x="0" y="943714"/>
                  <a:pt x="0" y="903785"/>
                </a:cubicBezTo>
                <a:lnTo>
                  <a:pt x="0" y="72298"/>
                </a:lnTo>
                <a:cubicBezTo>
                  <a:pt x="0" y="32396"/>
                  <a:pt x="32396" y="0"/>
                  <a:pt x="722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59760" y="3262648"/>
            <a:ext cx="162681" cy="144605"/>
          </a:xfrm>
          <a:custGeom>
            <a:avLst/>
            <a:gdLst/>
            <a:ahLst/>
            <a:cxnLst/>
            <a:rect l="l" t="t" r="r" b="b"/>
            <a:pathLst>
              <a:path w="162681" h="144605">
                <a:moveTo>
                  <a:pt x="11580" y="-7061"/>
                </a:moveTo>
                <a:cubicBezTo>
                  <a:pt x="8925" y="-9687"/>
                  <a:pt x="4632" y="-9687"/>
                  <a:pt x="1977" y="-7061"/>
                </a:cubicBezTo>
                <a:cubicBezTo>
                  <a:pt x="-678" y="-4434"/>
                  <a:pt x="-650" y="-113"/>
                  <a:pt x="1977" y="2542"/>
                </a:cubicBezTo>
                <a:lnTo>
                  <a:pt x="151101" y="151666"/>
                </a:lnTo>
                <a:cubicBezTo>
                  <a:pt x="153756" y="154321"/>
                  <a:pt x="158049" y="154321"/>
                  <a:pt x="160675" y="151666"/>
                </a:cubicBezTo>
                <a:cubicBezTo>
                  <a:pt x="163302" y="149011"/>
                  <a:pt x="163330" y="144718"/>
                  <a:pt x="160675" y="142091"/>
                </a:cubicBezTo>
                <a:lnTo>
                  <a:pt x="133392" y="114808"/>
                </a:lnTo>
                <a:cubicBezTo>
                  <a:pt x="145932" y="102607"/>
                  <a:pt x="153614" y="86057"/>
                  <a:pt x="153614" y="67784"/>
                </a:cubicBezTo>
                <a:cubicBezTo>
                  <a:pt x="153614" y="30361"/>
                  <a:pt x="121248" y="0"/>
                  <a:pt x="81312" y="0"/>
                </a:cubicBezTo>
                <a:cubicBezTo>
                  <a:pt x="63519" y="0"/>
                  <a:pt x="47194" y="6044"/>
                  <a:pt x="34598" y="16042"/>
                </a:cubicBezTo>
                <a:lnTo>
                  <a:pt x="11580" y="-7061"/>
                </a:lnTo>
                <a:close/>
                <a:moveTo>
                  <a:pt x="17059" y="36716"/>
                </a:moveTo>
                <a:cubicBezTo>
                  <a:pt x="11919" y="46036"/>
                  <a:pt x="9038" y="56571"/>
                  <a:pt x="9038" y="67755"/>
                </a:cubicBezTo>
                <a:cubicBezTo>
                  <a:pt x="9038" y="83091"/>
                  <a:pt x="14460" y="97213"/>
                  <a:pt x="23611" y="108567"/>
                </a:cubicBezTo>
                <a:lnTo>
                  <a:pt x="9829" y="134635"/>
                </a:lnTo>
                <a:cubicBezTo>
                  <a:pt x="8473" y="137177"/>
                  <a:pt x="8897" y="140284"/>
                  <a:pt x="10845" y="142402"/>
                </a:cubicBezTo>
                <a:cubicBezTo>
                  <a:pt x="12794" y="144520"/>
                  <a:pt x="15844" y="145170"/>
                  <a:pt x="18499" y="144040"/>
                </a:cubicBezTo>
                <a:lnTo>
                  <a:pt x="51939" y="129721"/>
                </a:lnTo>
                <a:cubicBezTo>
                  <a:pt x="60920" y="133477"/>
                  <a:pt x="70890" y="135567"/>
                  <a:pt x="81340" y="135567"/>
                </a:cubicBezTo>
                <a:cubicBezTo>
                  <a:pt x="91621" y="135567"/>
                  <a:pt x="101365" y="133562"/>
                  <a:pt x="110233" y="129947"/>
                </a:cubicBezTo>
                <a:lnTo>
                  <a:pt x="17031" y="36744"/>
                </a:ln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03781" y="3208421"/>
            <a:ext cx="1599692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Sparse Textual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722" y="3533782"/>
            <a:ext cx="5160587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Tweet activity is </a:t>
            </a:r>
            <a:r>
              <a:rPr lang="en-US" sz="1139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uniform across all days</a:t>
            </a: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requiring neutral filling. This may weaken the textual signal and explain inconsistent gains from NLP features.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268" y="4184504"/>
            <a:ext cx="5305192" cy="976083"/>
          </a:xfrm>
          <a:custGeom>
            <a:avLst/>
            <a:gdLst/>
            <a:ahLst/>
            <a:cxnLst/>
            <a:rect l="l" t="t" r="r" b="b"/>
            <a:pathLst>
              <a:path w="5305192" h="976083">
                <a:moveTo>
                  <a:pt x="72298" y="0"/>
                </a:moveTo>
                <a:lnTo>
                  <a:pt x="5232894" y="0"/>
                </a:lnTo>
                <a:cubicBezTo>
                  <a:pt x="5272823" y="0"/>
                  <a:pt x="5305192" y="32369"/>
                  <a:pt x="5305192" y="72298"/>
                </a:cubicBezTo>
                <a:lnTo>
                  <a:pt x="5305192" y="903785"/>
                </a:lnTo>
                <a:cubicBezTo>
                  <a:pt x="5305192" y="943714"/>
                  <a:pt x="5272823" y="976083"/>
                  <a:pt x="5232894" y="976083"/>
                </a:cubicBezTo>
                <a:lnTo>
                  <a:pt x="72298" y="976083"/>
                </a:lnTo>
                <a:cubicBezTo>
                  <a:pt x="32369" y="976083"/>
                  <a:pt x="0" y="943714"/>
                  <a:pt x="0" y="903785"/>
                </a:cubicBezTo>
                <a:lnTo>
                  <a:pt x="0" y="72298"/>
                </a:lnTo>
                <a:cubicBezTo>
                  <a:pt x="0" y="32396"/>
                  <a:pt x="32396" y="0"/>
                  <a:pt x="722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68798" y="4347185"/>
            <a:ext cx="144605" cy="144605"/>
          </a:xfrm>
          <a:custGeom>
            <a:avLst/>
            <a:gdLst/>
            <a:ahLst/>
            <a:cxnLst/>
            <a:rect l="l" t="t" r="r" b="b"/>
            <a:pathLst>
              <a:path w="144605" h="144605">
                <a:moveTo>
                  <a:pt x="117491" y="58746"/>
                </a:moveTo>
                <a:cubicBezTo>
                  <a:pt x="117491" y="71709"/>
                  <a:pt x="113283" y="83684"/>
                  <a:pt x="106194" y="93400"/>
                </a:cubicBezTo>
                <a:lnTo>
                  <a:pt x="141950" y="129184"/>
                </a:lnTo>
                <a:cubicBezTo>
                  <a:pt x="145480" y="132715"/>
                  <a:pt x="145480" y="138448"/>
                  <a:pt x="141950" y="141978"/>
                </a:cubicBezTo>
                <a:cubicBezTo>
                  <a:pt x="138420" y="145509"/>
                  <a:pt x="132686" y="145509"/>
                  <a:pt x="129156" y="141978"/>
                </a:cubicBezTo>
                <a:lnTo>
                  <a:pt x="93400" y="106194"/>
                </a:lnTo>
                <a:cubicBezTo>
                  <a:pt x="83684" y="113283"/>
                  <a:pt x="71709" y="117491"/>
                  <a:pt x="58746" y="117491"/>
                </a:cubicBezTo>
                <a:cubicBezTo>
                  <a:pt x="26294" y="117491"/>
                  <a:pt x="0" y="91197"/>
                  <a:pt x="0" y="58746"/>
                </a:cubicBezTo>
                <a:cubicBezTo>
                  <a:pt x="0" y="26294"/>
                  <a:pt x="26294" y="0"/>
                  <a:pt x="58746" y="0"/>
                </a:cubicBezTo>
                <a:cubicBezTo>
                  <a:pt x="91197" y="0"/>
                  <a:pt x="117491" y="26294"/>
                  <a:pt x="117491" y="58746"/>
                </a:cubicBezTo>
                <a:close/>
                <a:moveTo>
                  <a:pt x="58746" y="99416"/>
                </a:moveTo>
                <a:cubicBezTo>
                  <a:pt x="81192" y="99416"/>
                  <a:pt x="99416" y="81192"/>
                  <a:pt x="99416" y="58746"/>
                </a:cubicBezTo>
                <a:cubicBezTo>
                  <a:pt x="99416" y="36299"/>
                  <a:pt x="81192" y="18076"/>
                  <a:pt x="58746" y="18076"/>
                </a:cubicBezTo>
                <a:cubicBezTo>
                  <a:pt x="36299" y="18076"/>
                  <a:pt x="18076" y="36299"/>
                  <a:pt x="18076" y="58746"/>
                </a:cubicBezTo>
                <a:cubicBezTo>
                  <a:pt x="18076" y="81192"/>
                  <a:pt x="36299" y="99416"/>
                  <a:pt x="58746" y="99416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03781" y="4292958"/>
            <a:ext cx="2105809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Budget Constraints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0722" y="4618319"/>
            <a:ext cx="5160587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Meta-feature experiments used </a:t>
            </a:r>
            <a:r>
              <a:rPr lang="en-US" sz="1139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100 Optuna trials</a:t>
            </a: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despite significantly larger search space. Some configurations may be undertuned.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2268" y="5269041"/>
            <a:ext cx="5305192" cy="976083"/>
          </a:xfrm>
          <a:custGeom>
            <a:avLst/>
            <a:gdLst/>
            <a:ahLst/>
            <a:cxnLst/>
            <a:rect l="l" t="t" r="r" b="b"/>
            <a:pathLst>
              <a:path w="5305192" h="976083">
                <a:moveTo>
                  <a:pt x="72298" y="0"/>
                </a:moveTo>
                <a:lnTo>
                  <a:pt x="5232894" y="0"/>
                </a:lnTo>
                <a:cubicBezTo>
                  <a:pt x="5272823" y="0"/>
                  <a:pt x="5305192" y="32369"/>
                  <a:pt x="5305192" y="72298"/>
                </a:cubicBezTo>
                <a:lnTo>
                  <a:pt x="5305192" y="903785"/>
                </a:lnTo>
                <a:cubicBezTo>
                  <a:pt x="5305192" y="943714"/>
                  <a:pt x="5272823" y="976083"/>
                  <a:pt x="5232894" y="976083"/>
                </a:cubicBezTo>
                <a:lnTo>
                  <a:pt x="72298" y="976083"/>
                </a:lnTo>
                <a:cubicBezTo>
                  <a:pt x="32369" y="976083"/>
                  <a:pt x="0" y="943714"/>
                  <a:pt x="0" y="903785"/>
                </a:cubicBezTo>
                <a:lnTo>
                  <a:pt x="0" y="72298"/>
                </a:lnTo>
                <a:cubicBezTo>
                  <a:pt x="0" y="32396"/>
                  <a:pt x="32396" y="0"/>
                  <a:pt x="722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50722" y="5431721"/>
            <a:ext cx="180756" cy="144605"/>
          </a:xfrm>
          <a:custGeom>
            <a:avLst/>
            <a:gdLst/>
            <a:ahLst/>
            <a:cxnLst/>
            <a:rect l="l" t="t" r="r" b="b"/>
            <a:pathLst>
              <a:path w="180756" h="144605">
                <a:moveTo>
                  <a:pt x="117463" y="59452"/>
                </a:moveTo>
                <a:cubicBezTo>
                  <a:pt x="120909" y="58520"/>
                  <a:pt x="124524" y="60158"/>
                  <a:pt x="126077" y="63349"/>
                </a:cubicBezTo>
                <a:lnTo>
                  <a:pt x="131331" y="73969"/>
                </a:lnTo>
                <a:cubicBezTo>
                  <a:pt x="134240" y="74364"/>
                  <a:pt x="137092" y="75155"/>
                  <a:pt x="139775" y="76256"/>
                </a:cubicBezTo>
                <a:lnTo>
                  <a:pt x="149660" y="69676"/>
                </a:lnTo>
                <a:cubicBezTo>
                  <a:pt x="152626" y="67699"/>
                  <a:pt x="156552" y="68094"/>
                  <a:pt x="159065" y="70608"/>
                </a:cubicBezTo>
                <a:lnTo>
                  <a:pt x="164488" y="76031"/>
                </a:lnTo>
                <a:cubicBezTo>
                  <a:pt x="167002" y="78544"/>
                  <a:pt x="167397" y="82498"/>
                  <a:pt x="165420" y="85436"/>
                </a:cubicBezTo>
                <a:lnTo>
                  <a:pt x="158839" y="95292"/>
                </a:lnTo>
                <a:cubicBezTo>
                  <a:pt x="159376" y="96620"/>
                  <a:pt x="159856" y="98004"/>
                  <a:pt x="160252" y="99444"/>
                </a:cubicBezTo>
                <a:cubicBezTo>
                  <a:pt x="160647" y="100885"/>
                  <a:pt x="160901" y="102297"/>
                  <a:pt x="161099" y="103737"/>
                </a:cubicBezTo>
                <a:lnTo>
                  <a:pt x="171747" y="108990"/>
                </a:lnTo>
                <a:cubicBezTo>
                  <a:pt x="174938" y="110572"/>
                  <a:pt x="176576" y="114187"/>
                  <a:pt x="175644" y="117604"/>
                </a:cubicBezTo>
                <a:lnTo>
                  <a:pt x="173667" y="125004"/>
                </a:lnTo>
                <a:cubicBezTo>
                  <a:pt x="172735" y="128422"/>
                  <a:pt x="169544" y="130738"/>
                  <a:pt x="165985" y="130512"/>
                </a:cubicBezTo>
                <a:lnTo>
                  <a:pt x="154123" y="129749"/>
                </a:lnTo>
                <a:cubicBezTo>
                  <a:pt x="152344" y="132037"/>
                  <a:pt x="150282" y="134155"/>
                  <a:pt x="147938" y="135962"/>
                </a:cubicBezTo>
                <a:lnTo>
                  <a:pt x="148700" y="147796"/>
                </a:lnTo>
                <a:cubicBezTo>
                  <a:pt x="148926" y="151355"/>
                  <a:pt x="146610" y="154575"/>
                  <a:pt x="143193" y="155479"/>
                </a:cubicBezTo>
                <a:lnTo>
                  <a:pt x="135793" y="157456"/>
                </a:lnTo>
                <a:cubicBezTo>
                  <a:pt x="132347" y="158388"/>
                  <a:pt x="128760" y="156749"/>
                  <a:pt x="127179" y="153558"/>
                </a:cubicBezTo>
                <a:lnTo>
                  <a:pt x="121926" y="142939"/>
                </a:lnTo>
                <a:cubicBezTo>
                  <a:pt x="119017" y="142543"/>
                  <a:pt x="116164" y="141752"/>
                  <a:pt x="113481" y="140651"/>
                </a:cubicBezTo>
                <a:lnTo>
                  <a:pt x="103596" y="147232"/>
                </a:lnTo>
                <a:cubicBezTo>
                  <a:pt x="100630" y="149209"/>
                  <a:pt x="96705" y="148813"/>
                  <a:pt x="94191" y="146299"/>
                </a:cubicBezTo>
                <a:lnTo>
                  <a:pt x="88768" y="140877"/>
                </a:lnTo>
                <a:cubicBezTo>
                  <a:pt x="86255" y="138363"/>
                  <a:pt x="85859" y="134437"/>
                  <a:pt x="87836" y="131472"/>
                </a:cubicBezTo>
                <a:lnTo>
                  <a:pt x="94417" y="121587"/>
                </a:lnTo>
                <a:cubicBezTo>
                  <a:pt x="93880" y="120259"/>
                  <a:pt x="93400" y="118875"/>
                  <a:pt x="93005" y="117435"/>
                </a:cubicBezTo>
                <a:cubicBezTo>
                  <a:pt x="92609" y="115995"/>
                  <a:pt x="92355" y="114554"/>
                  <a:pt x="92157" y="113142"/>
                </a:cubicBezTo>
                <a:lnTo>
                  <a:pt x="81510" y="107889"/>
                </a:lnTo>
                <a:cubicBezTo>
                  <a:pt x="78318" y="106307"/>
                  <a:pt x="76708" y="102692"/>
                  <a:pt x="77612" y="99275"/>
                </a:cubicBezTo>
                <a:lnTo>
                  <a:pt x="79589" y="91875"/>
                </a:lnTo>
                <a:cubicBezTo>
                  <a:pt x="80521" y="88458"/>
                  <a:pt x="83713" y="86142"/>
                  <a:pt x="87271" y="86368"/>
                </a:cubicBezTo>
                <a:lnTo>
                  <a:pt x="99105" y="87130"/>
                </a:lnTo>
                <a:cubicBezTo>
                  <a:pt x="100885" y="84842"/>
                  <a:pt x="102946" y="82724"/>
                  <a:pt x="105290" y="80917"/>
                </a:cubicBezTo>
                <a:lnTo>
                  <a:pt x="104528" y="69111"/>
                </a:lnTo>
                <a:cubicBezTo>
                  <a:pt x="104302" y="65552"/>
                  <a:pt x="106618" y="62333"/>
                  <a:pt x="110035" y="61429"/>
                </a:cubicBezTo>
                <a:lnTo>
                  <a:pt x="117435" y="59452"/>
                </a:lnTo>
                <a:close/>
                <a:moveTo>
                  <a:pt x="126642" y="96027"/>
                </a:moveTo>
                <a:cubicBezTo>
                  <a:pt x="119784" y="96034"/>
                  <a:pt x="114222" y="101609"/>
                  <a:pt x="114229" y="108468"/>
                </a:cubicBezTo>
                <a:cubicBezTo>
                  <a:pt x="114237" y="115326"/>
                  <a:pt x="119812" y="120888"/>
                  <a:pt x="126670" y="120881"/>
                </a:cubicBezTo>
                <a:cubicBezTo>
                  <a:pt x="133529" y="120873"/>
                  <a:pt x="139091" y="115298"/>
                  <a:pt x="139083" y="108440"/>
                </a:cubicBezTo>
                <a:cubicBezTo>
                  <a:pt x="139076" y="101581"/>
                  <a:pt x="133501" y="96019"/>
                  <a:pt x="126642" y="96027"/>
                </a:cubicBezTo>
                <a:close/>
                <a:moveTo>
                  <a:pt x="63519" y="-12851"/>
                </a:moveTo>
                <a:lnTo>
                  <a:pt x="70919" y="-10874"/>
                </a:lnTo>
                <a:cubicBezTo>
                  <a:pt x="74336" y="-9942"/>
                  <a:pt x="76652" y="-6722"/>
                  <a:pt x="76426" y="-3191"/>
                </a:cubicBezTo>
                <a:lnTo>
                  <a:pt x="75663" y="8614"/>
                </a:lnTo>
                <a:cubicBezTo>
                  <a:pt x="78008" y="10422"/>
                  <a:pt x="80069" y="12512"/>
                  <a:pt x="81849" y="14828"/>
                </a:cubicBezTo>
                <a:lnTo>
                  <a:pt x="93711" y="14065"/>
                </a:lnTo>
                <a:cubicBezTo>
                  <a:pt x="97241" y="13839"/>
                  <a:pt x="100461" y="16155"/>
                  <a:pt x="101393" y="19572"/>
                </a:cubicBezTo>
                <a:lnTo>
                  <a:pt x="103370" y="26972"/>
                </a:lnTo>
                <a:cubicBezTo>
                  <a:pt x="104274" y="30390"/>
                  <a:pt x="102664" y="34005"/>
                  <a:pt x="99472" y="35586"/>
                </a:cubicBezTo>
                <a:lnTo>
                  <a:pt x="88825" y="40840"/>
                </a:lnTo>
                <a:cubicBezTo>
                  <a:pt x="88627" y="42280"/>
                  <a:pt x="88345" y="43720"/>
                  <a:pt x="87977" y="45133"/>
                </a:cubicBezTo>
                <a:cubicBezTo>
                  <a:pt x="87610" y="46545"/>
                  <a:pt x="87102" y="47957"/>
                  <a:pt x="86565" y="49284"/>
                </a:cubicBezTo>
                <a:lnTo>
                  <a:pt x="93146" y="59169"/>
                </a:lnTo>
                <a:cubicBezTo>
                  <a:pt x="95123" y="62135"/>
                  <a:pt x="94728" y="66061"/>
                  <a:pt x="92214" y="68574"/>
                </a:cubicBezTo>
                <a:lnTo>
                  <a:pt x="86791" y="73997"/>
                </a:lnTo>
                <a:cubicBezTo>
                  <a:pt x="84278" y="76511"/>
                  <a:pt x="80352" y="76906"/>
                  <a:pt x="77386" y="74929"/>
                </a:cubicBezTo>
                <a:lnTo>
                  <a:pt x="67501" y="68348"/>
                </a:lnTo>
                <a:cubicBezTo>
                  <a:pt x="64818" y="69450"/>
                  <a:pt x="61965" y="70241"/>
                  <a:pt x="59056" y="70636"/>
                </a:cubicBezTo>
                <a:lnTo>
                  <a:pt x="53803" y="81256"/>
                </a:lnTo>
                <a:cubicBezTo>
                  <a:pt x="52222" y="84447"/>
                  <a:pt x="48606" y="86057"/>
                  <a:pt x="45189" y="85153"/>
                </a:cubicBezTo>
                <a:lnTo>
                  <a:pt x="37789" y="83176"/>
                </a:lnTo>
                <a:cubicBezTo>
                  <a:pt x="34344" y="82244"/>
                  <a:pt x="32056" y="79024"/>
                  <a:pt x="32282" y="75494"/>
                </a:cubicBezTo>
                <a:lnTo>
                  <a:pt x="33044" y="63660"/>
                </a:lnTo>
                <a:cubicBezTo>
                  <a:pt x="30700" y="61852"/>
                  <a:pt x="28639" y="59762"/>
                  <a:pt x="26859" y="57447"/>
                </a:cubicBezTo>
                <a:lnTo>
                  <a:pt x="14997" y="58209"/>
                </a:lnTo>
                <a:cubicBezTo>
                  <a:pt x="11467" y="58435"/>
                  <a:pt x="8247" y="56119"/>
                  <a:pt x="7315" y="52702"/>
                </a:cubicBezTo>
                <a:lnTo>
                  <a:pt x="5338" y="45302"/>
                </a:lnTo>
                <a:cubicBezTo>
                  <a:pt x="4434" y="41885"/>
                  <a:pt x="6044" y="38269"/>
                  <a:pt x="9236" y="36688"/>
                </a:cubicBezTo>
                <a:lnTo>
                  <a:pt x="19883" y="31435"/>
                </a:lnTo>
                <a:cubicBezTo>
                  <a:pt x="20081" y="29994"/>
                  <a:pt x="20363" y="28582"/>
                  <a:pt x="20730" y="27142"/>
                </a:cubicBezTo>
                <a:cubicBezTo>
                  <a:pt x="21126" y="25701"/>
                  <a:pt x="21578" y="24317"/>
                  <a:pt x="22143" y="22990"/>
                </a:cubicBezTo>
                <a:lnTo>
                  <a:pt x="15562" y="13133"/>
                </a:lnTo>
                <a:cubicBezTo>
                  <a:pt x="13585" y="10168"/>
                  <a:pt x="13980" y="6242"/>
                  <a:pt x="16494" y="3728"/>
                </a:cubicBezTo>
                <a:lnTo>
                  <a:pt x="21917" y="-1695"/>
                </a:lnTo>
                <a:cubicBezTo>
                  <a:pt x="24430" y="-4208"/>
                  <a:pt x="28356" y="-4604"/>
                  <a:pt x="31322" y="-2627"/>
                </a:cubicBezTo>
                <a:lnTo>
                  <a:pt x="41207" y="3954"/>
                </a:lnTo>
                <a:cubicBezTo>
                  <a:pt x="43890" y="2853"/>
                  <a:pt x="46742" y="2062"/>
                  <a:pt x="49651" y="1666"/>
                </a:cubicBezTo>
                <a:lnTo>
                  <a:pt x="54905" y="-8953"/>
                </a:lnTo>
                <a:cubicBezTo>
                  <a:pt x="56486" y="-12145"/>
                  <a:pt x="60073" y="-13754"/>
                  <a:pt x="63519" y="-12851"/>
                </a:cubicBezTo>
                <a:close/>
                <a:moveTo>
                  <a:pt x="54340" y="23724"/>
                </a:moveTo>
                <a:cubicBezTo>
                  <a:pt x="47481" y="23724"/>
                  <a:pt x="41913" y="29293"/>
                  <a:pt x="41913" y="36151"/>
                </a:cubicBezTo>
                <a:cubicBezTo>
                  <a:pt x="41913" y="43010"/>
                  <a:pt x="47481" y="48578"/>
                  <a:pt x="54340" y="48578"/>
                </a:cubicBezTo>
                <a:cubicBezTo>
                  <a:pt x="61198" y="48578"/>
                  <a:pt x="66767" y="43010"/>
                  <a:pt x="66767" y="36151"/>
                </a:cubicBezTo>
                <a:cubicBezTo>
                  <a:pt x="66767" y="29293"/>
                  <a:pt x="61198" y="23724"/>
                  <a:pt x="54340" y="23724"/>
                </a:cubicBezTo>
                <a:close/>
              </a:path>
            </a:pathLst>
          </a:custGeom>
          <a:solidFill>
            <a:srgbClr val="F5656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03781" y="5377494"/>
            <a:ext cx="1554503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Simplified Frictions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722" y="5702855"/>
            <a:ext cx="5160587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explicit modeling of </a:t>
            </a:r>
            <a:r>
              <a:rPr lang="en-US" sz="1139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impact, slippage, or execution latency</a:t>
            </a: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Results represent realistic simulations rather than evidence of immediate deployability.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69715" y="1192990"/>
            <a:ext cx="5666704" cy="5305192"/>
          </a:xfrm>
          <a:custGeom>
            <a:avLst/>
            <a:gdLst/>
            <a:ahLst/>
            <a:cxnLst/>
            <a:rect l="l" t="t" r="r" b="b"/>
            <a:pathLst>
              <a:path w="5666704" h="5305192">
                <a:moveTo>
                  <a:pt x="108438" y="0"/>
                </a:moveTo>
                <a:lnTo>
                  <a:pt x="5558266" y="0"/>
                </a:lnTo>
                <a:cubicBezTo>
                  <a:pt x="5618155" y="0"/>
                  <a:pt x="5666704" y="48549"/>
                  <a:pt x="5666704" y="108438"/>
                </a:cubicBezTo>
                <a:lnTo>
                  <a:pt x="5666704" y="5196754"/>
                </a:lnTo>
                <a:cubicBezTo>
                  <a:pt x="5666704" y="5256643"/>
                  <a:pt x="5618155" y="5305192"/>
                  <a:pt x="5558266" y="5305192"/>
                </a:cubicBezTo>
                <a:lnTo>
                  <a:pt x="108438" y="5305192"/>
                </a:lnTo>
                <a:cubicBezTo>
                  <a:pt x="48549" y="5305192"/>
                  <a:pt x="0" y="5256643"/>
                  <a:pt x="0" y="5196754"/>
                </a:cubicBezTo>
                <a:lnTo>
                  <a:pt x="0" y="108438"/>
                </a:lnTo>
                <a:cubicBezTo>
                  <a:pt x="0" y="48589"/>
                  <a:pt x="48589" y="0"/>
                  <a:pt x="108438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377584" y="1405379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>
                <a:moveTo>
                  <a:pt x="54227" y="135567"/>
                </a:moveTo>
                <a:lnTo>
                  <a:pt x="10379" y="135567"/>
                </a:lnTo>
                <a:cubicBezTo>
                  <a:pt x="-169" y="135567"/>
                  <a:pt x="-6651" y="124086"/>
                  <a:pt x="-1229" y="115020"/>
                </a:cubicBezTo>
                <a:lnTo>
                  <a:pt x="21182" y="77655"/>
                </a:lnTo>
                <a:cubicBezTo>
                  <a:pt x="24868" y="71512"/>
                  <a:pt x="31477" y="67784"/>
                  <a:pt x="38637" y="67784"/>
                </a:cubicBezTo>
                <a:lnTo>
                  <a:pt x="78883" y="67784"/>
                </a:lnTo>
                <a:cubicBezTo>
                  <a:pt x="111123" y="13175"/>
                  <a:pt x="159207" y="10422"/>
                  <a:pt x="191361" y="15124"/>
                </a:cubicBezTo>
                <a:cubicBezTo>
                  <a:pt x="196784" y="15929"/>
                  <a:pt x="201021" y="20166"/>
                  <a:pt x="201783" y="25546"/>
                </a:cubicBezTo>
                <a:cubicBezTo>
                  <a:pt x="206486" y="57701"/>
                  <a:pt x="203732" y="105785"/>
                  <a:pt x="149124" y="138024"/>
                </a:cubicBezTo>
                <a:lnTo>
                  <a:pt x="149124" y="178271"/>
                </a:lnTo>
                <a:cubicBezTo>
                  <a:pt x="149124" y="185430"/>
                  <a:pt x="145396" y="192039"/>
                  <a:pt x="139253" y="195725"/>
                </a:cubicBezTo>
                <a:lnTo>
                  <a:pt x="101887" y="218136"/>
                </a:lnTo>
                <a:cubicBezTo>
                  <a:pt x="92863" y="223559"/>
                  <a:pt x="81340" y="217034"/>
                  <a:pt x="81340" y="206528"/>
                </a:cubicBezTo>
                <a:lnTo>
                  <a:pt x="81340" y="162681"/>
                </a:lnTo>
                <a:cubicBezTo>
                  <a:pt x="81340" y="147726"/>
                  <a:pt x="69182" y="135567"/>
                  <a:pt x="54227" y="135567"/>
                </a:cubicBezTo>
                <a:lnTo>
                  <a:pt x="54184" y="135567"/>
                </a:lnTo>
                <a:close/>
                <a:moveTo>
                  <a:pt x="169459" y="67784"/>
                </a:moveTo>
                <a:cubicBezTo>
                  <a:pt x="169459" y="56560"/>
                  <a:pt x="160347" y="47448"/>
                  <a:pt x="149124" y="47448"/>
                </a:cubicBezTo>
                <a:cubicBezTo>
                  <a:pt x="137901" y="47448"/>
                  <a:pt x="128789" y="56560"/>
                  <a:pt x="128789" y="67784"/>
                </a:cubicBezTo>
                <a:cubicBezTo>
                  <a:pt x="128789" y="79007"/>
                  <a:pt x="137901" y="88119"/>
                  <a:pt x="149124" y="88119"/>
                </a:cubicBezTo>
                <a:cubicBezTo>
                  <a:pt x="160347" y="88119"/>
                  <a:pt x="169459" y="79007"/>
                  <a:pt x="169459" y="67784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621605" y="1373746"/>
            <a:ext cx="5142511" cy="280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Research Directions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68546" y="1798523"/>
            <a:ext cx="5287116" cy="976083"/>
          </a:xfrm>
          <a:custGeom>
            <a:avLst/>
            <a:gdLst/>
            <a:ahLst/>
            <a:cxnLst/>
            <a:rect l="l" t="t" r="r" b="b"/>
            <a:pathLst>
              <a:path w="5287116" h="976083">
                <a:moveTo>
                  <a:pt x="36151" y="0"/>
                </a:moveTo>
                <a:lnTo>
                  <a:pt x="5214818" y="0"/>
                </a:lnTo>
                <a:cubicBezTo>
                  <a:pt x="5254747" y="0"/>
                  <a:pt x="5287116" y="32369"/>
                  <a:pt x="5287116" y="72298"/>
                </a:cubicBezTo>
                <a:lnTo>
                  <a:pt x="5287116" y="903785"/>
                </a:lnTo>
                <a:cubicBezTo>
                  <a:pt x="5287116" y="943714"/>
                  <a:pt x="5254747" y="976083"/>
                  <a:pt x="5214818" y="976083"/>
                </a:cubicBezTo>
                <a:lnTo>
                  <a:pt x="36151" y="976083"/>
                </a:lnTo>
                <a:cubicBezTo>
                  <a:pt x="16185" y="976083"/>
                  <a:pt x="0" y="959898"/>
                  <a:pt x="0" y="939932"/>
                </a:cubicBezTo>
                <a:lnTo>
                  <a:pt x="0" y="36151"/>
                </a:lnTo>
                <a:cubicBezTo>
                  <a:pt x="0" y="16199"/>
                  <a:pt x="16199" y="0"/>
                  <a:pt x="3615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368546" y="1798523"/>
            <a:ext cx="36151" cy="976083"/>
          </a:xfrm>
          <a:custGeom>
            <a:avLst/>
            <a:gdLst/>
            <a:ahLst/>
            <a:cxnLst/>
            <a:rect l="l" t="t" r="r" b="b"/>
            <a:pathLst>
              <a:path w="36151" h="976083">
                <a:moveTo>
                  <a:pt x="36151" y="0"/>
                </a:moveTo>
                <a:lnTo>
                  <a:pt x="36151" y="0"/>
                </a:lnTo>
                <a:lnTo>
                  <a:pt x="36151" y="976083"/>
                </a:lnTo>
                <a:lnTo>
                  <a:pt x="36151" y="976083"/>
                </a:lnTo>
                <a:cubicBezTo>
                  <a:pt x="16185" y="976083"/>
                  <a:pt x="0" y="959898"/>
                  <a:pt x="0" y="939932"/>
                </a:cubicBezTo>
                <a:lnTo>
                  <a:pt x="0" y="36151"/>
                </a:lnTo>
                <a:cubicBezTo>
                  <a:pt x="0" y="16199"/>
                  <a:pt x="16199" y="0"/>
                  <a:pt x="36151" y="0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522189" y="1961204"/>
            <a:ext cx="126529" cy="144605"/>
          </a:xfrm>
          <a:custGeom>
            <a:avLst/>
            <a:gdLst/>
            <a:ahLst/>
            <a:cxnLst/>
            <a:rect l="l" t="t" r="r" b="b"/>
            <a:pathLst>
              <a:path w="126529" h="144605">
                <a:moveTo>
                  <a:pt x="47448" y="9038"/>
                </a:moveTo>
                <a:lnTo>
                  <a:pt x="6778" y="9038"/>
                </a:lnTo>
                <a:cubicBezTo>
                  <a:pt x="3022" y="9038"/>
                  <a:pt x="0" y="12060"/>
                  <a:pt x="0" y="15816"/>
                </a:cubicBezTo>
                <a:lnTo>
                  <a:pt x="0" y="56486"/>
                </a:lnTo>
                <a:cubicBezTo>
                  <a:pt x="0" y="59226"/>
                  <a:pt x="1638" y="61711"/>
                  <a:pt x="4180" y="62756"/>
                </a:cubicBezTo>
                <a:cubicBezTo>
                  <a:pt x="6722" y="63801"/>
                  <a:pt x="9631" y="63208"/>
                  <a:pt x="11580" y="61288"/>
                </a:cubicBezTo>
                <a:lnTo>
                  <a:pt x="22877" y="49990"/>
                </a:lnTo>
                <a:lnTo>
                  <a:pt x="45189" y="72302"/>
                </a:lnTo>
                <a:lnTo>
                  <a:pt x="22877" y="94615"/>
                </a:lnTo>
                <a:lnTo>
                  <a:pt x="11580" y="83317"/>
                </a:lnTo>
                <a:cubicBezTo>
                  <a:pt x="9631" y="81368"/>
                  <a:pt x="6722" y="80804"/>
                  <a:pt x="4180" y="81849"/>
                </a:cubicBezTo>
                <a:cubicBezTo>
                  <a:pt x="1638" y="82894"/>
                  <a:pt x="0" y="85379"/>
                  <a:pt x="0" y="88119"/>
                </a:cubicBezTo>
                <a:lnTo>
                  <a:pt x="0" y="128789"/>
                </a:lnTo>
                <a:cubicBezTo>
                  <a:pt x="0" y="132545"/>
                  <a:pt x="3022" y="135567"/>
                  <a:pt x="6778" y="135567"/>
                </a:cubicBezTo>
                <a:lnTo>
                  <a:pt x="47448" y="135567"/>
                </a:lnTo>
                <a:cubicBezTo>
                  <a:pt x="50188" y="135567"/>
                  <a:pt x="52673" y="133929"/>
                  <a:pt x="53718" y="131387"/>
                </a:cubicBezTo>
                <a:cubicBezTo>
                  <a:pt x="54763" y="128845"/>
                  <a:pt x="54199" y="125936"/>
                  <a:pt x="52250" y="123987"/>
                </a:cubicBezTo>
                <a:lnTo>
                  <a:pt x="40953" y="112690"/>
                </a:lnTo>
                <a:lnTo>
                  <a:pt x="63265" y="90378"/>
                </a:lnTo>
                <a:lnTo>
                  <a:pt x="85577" y="112690"/>
                </a:lnTo>
                <a:lnTo>
                  <a:pt x="74279" y="123987"/>
                </a:lnTo>
                <a:cubicBezTo>
                  <a:pt x="72331" y="125936"/>
                  <a:pt x="71766" y="128845"/>
                  <a:pt x="72811" y="131387"/>
                </a:cubicBezTo>
                <a:cubicBezTo>
                  <a:pt x="73856" y="133929"/>
                  <a:pt x="76341" y="135567"/>
                  <a:pt x="79081" y="135567"/>
                </a:cubicBezTo>
                <a:lnTo>
                  <a:pt x="119751" y="135567"/>
                </a:lnTo>
                <a:cubicBezTo>
                  <a:pt x="123507" y="135567"/>
                  <a:pt x="126529" y="132545"/>
                  <a:pt x="126529" y="128789"/>
                </a:cubicBezTo>
                <a:lnTo>
                  <a:pt x="126529" y="88119"/>
                </a:lnTo>
                <a:cubicBezTo>
                  <a:pt x="126529" y="85379"/>
                  <a:pt x="124891" y="82894"/>
                  <a:pt x="122349" y="81849"/>
                </a:cubicBezTo>
                <a:cubicBezTo>
                  <a:pt x="119807" y="80804"/>
                  <a:pt x="116898" y="81368"/>
                  <a:pt x="114950" y="83317"/>
                </a:cubicBezTo>
                <a:lnTo>
                  <a:pt x="103652" y="94615"/>
                </a:lnTo>
                <a:lnTo>
                  <a:pt x="81340" y="72302"/>
                </a:lnTo>
                <a:lnTo>
                  <a:pt x="103652" y="49990"/>
                </a:lnTo>
                <a:lnTo>
                  <a:pt x="114950" y="61288"/>
                </a:lnTo>
                <a:cubicBezTo>
                  <a:pt x="116898" y="63236"/>
                  <a:pt x="119807" y="63801"/>
                  <a:pt x="122349" y="62756"/>
                </a:cubicBezTo>
                <a:cubicBezTo>
                  <a:pt x="124891" y="61711"/>
                  <a:pt x="126529" y="59226"/>
                  <a:pt x="126529" y="56486"/>
                </a:cubicBezTo>
                <a:lnTo>
                  <a:pt x="126529" y="15816"/>
                </a:lnTo>
                <a:cubicBezTo>
                  <a:pt x="126529" y="12060"/>
                  <a:pt x="123507" y="9038"/>
                  <a:pt x="119751" y="9038"/>
                </a:cubicBezTo>
                <a:lnTo>
                  <a:pt x="79081" y="9038"/>
                </a:lnTo>
                <a:cubicBezTo>
                  <a:pt x="76341" y="9038"/>
                  <a:pt x="73856" y="10676"/>
                  <a:pt x="72811" y="13218"/>
                </a:cubicBezTo>
                <a:cubicBezTo>
                  <a:pt x="71766" y="15760"/>
                  <a:pt x="72359" y="18669"/>
                  <a:pt x="74279" y="20617"/>
                </a:cubicBezTo>
                <a:lnTo>
                  <a:pt x="85577" y="31915"/>
                </a:lnTo>
                <a:lnTo>
                  <a:pt x="63265" y="54227"/>
                </a:lnTo>
                <a:lnTo>
                  <a:pt x="40953" y="31915"/>
                </a:lnTo>
                <a:lnTo>
                  <a:pt x="52250" y="20617"/>
                </a:lnTo>
                <a:cubicBezTo>
                  <a:pt x="54199" y="18669"/>
                  <a:pt x="54763" y="15760"/>
                  <a:pt x="53718" y="13218"/>
                </a:cubicBezTo>
                <a:cubicBezTo>
                  <a:pt x="52673" y="10676"/>
                  <a:pt x="50188" y="9038"/>
                  <a:pt x="47448" y="9038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748134" y="1906977"/>
            <a:ext cx="1626805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Extended Evaluation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5076" y="2232338"/>
            <a:ext cx="5124436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across </a:t>
            </a:r>
            <a:r>
              <a:rPr lang="en-US" sz="1139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years and market regimes</a:t>
            </a: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validate robustness, especially for meta-features and allocation behavior under changing volatility.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68546" y="2883060"/>
            <a:ext cx="5287116" cy="976083"/>
          </a:xfrm>
          <a:custGeom>
            <a:avLst/>
            <a:gdLst/>
            <a:ahLst/>
            <a:cxnLst/>
            <a:rect l="l" t="t" r="r" b="b"/>
            <a:pathLst>
              <a:path w="5287116" h="976083">
                <a:moveTo>
                  <a:pt x="36151" y="0"/>
                </a:moveTo>
                <a:lnTo>
                  <a:pt x="5214818" y="0"/>
                </a:lnTo>
                <a:cubicBezTo>
                  <a:pt x="5254747" y="0"/>
                  <a:pt x="5287116" y="32369"/>
                  <a:pt x="5287116" y="72298"/>
                </a:cubicBezTo>
                <a:lnTo>
                  <a:pt x="5287116" y="903785"/>
                </a:lnTo>
                <a:cubicBezTo>
                  <a:pt x="5287116" y="943714"/>
                  <a:pt x="5254747" y="976083"/>
                  <a:pt x="5214818" y="976083"/>
                </a:cubicBezTo>
                <a:lnTo>
                  <a:pt x="36151" y="976083"/>
                </a:lnTo>
                <a:cubicBezTo>
                  <a:pt x="16185" y="976083"/>
                  <a:pt x="0" y="959898"/>
                  <a:pt x="0" y="939932"/>
                </a:cubicBezTo>
                <a:lnTo>
                  <a:pt x="0" y="36151"/>
                </a:lnTo>
                <a:cubicBezTo>
                  <a:pt x="0" y="16199"/>
                  <a:pt x="16199" y="0"/>
                  <a:pt x="3615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6368546" y="2883060"/>
            <a:ext cx="36151" cy="976083"/>
          </a:xfrm>
          <a:custGeom>
            <a:avLst/>
            <a:gdLst/>
            <a:ahLst/>
            <a:cxnLst/>
            <a:rect l="l" t="t" r="r" b="b"/>
            <a:pathLst>
              <a:path w="36151" h="976083">
                <a:moveTo>
                  <a:pt x="36151" y="0"/>
                </a:moveTo>
                <a:lnTo>
                  <a:pt x="36151" y="0"/>
                </a:lnTo>
                <a:lnTo>
                  <a:pt x="36151" y="976083"/>
                </a:lnTo>
                <a:lnTo>
                  <a:pt x="36151" y="976083"/>
                </a:lnTo>
                <a:cubicBezTo>
                  <a:pt x="16185" y="976083"/>
                  <a:pt x="0" y="959898"/>
                  <a:pt x="0" y="939932"/>
                </a:cubicBezTo>
                <a:lnTo>
                  <a:pt x="0" y="36151"/>
                </a:lnTo>
                <a:cubicBezTo>
                  <a:pt x="0" y="16199"/>
                  <a:pt x="16199" y="0"/>
                  <a:pt x="36151" y="0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513151" y="3045741"/>
            <a:ext cx="144605" cy="144605"/>
          </a:xfrm>
          <a:custGeom>
            <a:avLst/>
            <a:gdLst/>
            <a:ahLst/>
            <a:cxnLst/>
            <a:rect l="l" t="t" r="r" b="b"/>
            <a:pathLst>
              <a:path w="144605" h="144605">
                <a:moveTo>
                  <a:pt x="0" y="117491"/>
                </a:moveTo>
                <a:lnTo>
                  <a:pt x="0" y="33892"/>
                </a:lnTo>
                <a:cubicBezTo>
                  <a:pt x="0" y="30135"/>
                  <a:pt x="3022" y="27113"/>
                  <a:pt x="6778" y="27113"/>
                </a:cubicBezTo>
                <a:cubicBezTo>
                  <a:pt x="10535" y="27113"/>
                  <a:pt x="13557" y="30135"/>
                  <a:pt x="13557" y="33892"/>
                </a:cubicBezTo>
                <a:lnTo>
                  <a:pt x="13557" y="115232"/>
                </a:lnTo>
                <a:cubicBezTo>
                  <a:pt x="13557" y="118988"/>
                  <a:pt x="16579" y="122010"/>
                  <a:pt x="20335" y="122010"/>
                </a:cubicBezTo>
                <a:cubicBezTo>
                  <a:pt x="24091" y="122010"/>
                  <a:pt x="27113" y="118988"/>
                  <a:pt x="27113" y="115232"/>
                </a:cubicBezTo>
                <a:lnTo>
                  <a:pt x="27113" y="27113"/>
                </a:lnTo>
                <a:cubicBezTo>
                  <a:pt x="27113" y="17144"/>
                  <a:pt x="35219" y="9038"/>
                  <a:pt x="45189" y="9038"/>
                </a:cubicBezTo>
                <a:lnTo>
                  <a:pt x="126529" y="9038"/>
                </a:lnTo>
                <a:cubicBezTo>
                  <a:pt x="136499" y="9038"/>
                  <a:pt x="144605" y="17144"/>
                  <a:pt x="144605" y="27113"/>
                </a:cubicBezTo>
                <a:lnTo>
                  <a:pt x="144605" y="117491"/>
                </a:lnTo>
                <a:cubicBezTo>
                  <a:pt x="144605" y="127461"/>
                  <a:pt x="136499" y="135567"/>
                  <a:pt x="126529" y="135567"/>
                </a:cubicBezTo>
                <a:lnTo>
                  <a:pt x="18076" y="135567"/>
                </a:lnTo>
                <a:cubicBezTo>
                  <a:pt x="8106" y="135567"/>
                  <a:pt x="0" y="127461"/>
                  <a:pt x="0" y="117491"/>
                </a:cubicBezTo>
                <a:close/>
                <a:moveTo>
                  <a:pt x="45189" y="36151"/>
                </a:moveTo>
                <a:lnTo>
                  <a:pt x="45189" y="54227"/>
                </a:lnTo>
                <a:cubicBezTo>
                  <a:pt x="45189" y="59226"/>
                  <a:pt x="49228" y="63265"/>
                  <a:pt x="54227" y="63265"/>
                </a:cubicBezTo>
                <a:lnTo>
                  <a:pt x="72302" y="63265"/>
                </a:lnTo>
                <a:cubicBezTo>
                  <a:pt x="77301" y="63265"/>
                  <a:pt x="81340" y="59226"/>
                  <a:pt x="81340" y="54227"/>
                </a:cubicBezTo>
                <a:lnTo>
                  <a:pt x="81340" y="36151"/>
                </a:lnTo>
                <a:cubicBezTo>
                  <a:pt x="81340" y="31152"/>
                  <a:pt x="77301" y="27113"/>
                  <a:pt x="72302" y="27113"/>
                </a:cubicBezTo>
                <a:lnTo>
                  <a:pt x="54227" y="27113"/>
                </a:lnTo>
                <a:cubicBezTo>
                  <a:pt x="49228" y="27113"/>
                  <a:pt x="45189" y="31152"/>
                  <a:pt x="45189" y="36151"/>
                </a:cubicBezTo>
                <a:close/>
                <a:moveTo>
                  <a:pt x="51967" y="103935"/>
                </a:moveTo>
                <a:cubicBezTo>
                  <a:pt x="48211" y="103935"/>
                  <a:pt x="45189" y="106957"/>
                  <a:pt x="45189" y="110713"/>
                </a:cubicBezTo>
                <a:cubicBezTo>
                  <a:pt x="45189" y="114469"/>
                  <a:pt x="48211" y="117491"/>
                  <a:pt x="51967" y="117491"/>
                </a:cubicBezTo>
                <a:lnTo>
                  <a:pt x="119751" y="117491"/>
                </a:lnTo>
                <a:cubicBezTo>
                  <a:pt x="123507" y="117491"/>
                  <a:pt x="126529" y="114469"/>
                  <a:pt x="126529" y="110713"/>
                </a:cubicBezTo>
                <a:cubicBezTo>
                  <a:pt x="126529" y="106957"/>
                  <a:pt x="123507" y="103935"/>
                  <a:pt x="119751" y="103935"/>
                </a:cubicBezTo>
                <a:lnTo>
                  <a:pt x="51967" y="103935"/>
                </a:lnTo>
                <a:close/>
                <a:moveTo>
                  <a:pt x="45189" y="83600"/>
                </a:moveTo>
                <a:cubicBezTo>
                  <a:pt x="45189" y="87356"/>
                  <a:pt x="48211" y="90378"/>
                  <a:pt x="51967" y="90378"/>
                </a:cubicBezTo>
                <a:lnTo>
                  <a:pt x="119751" y="90378"/>
                </a:lnTo>
                <a:cubicBezTo>
                  <a:pt x="123507" y="90378"/>
                  <a:pt x="126529" y="87356"/>
                  <a:pt x="126529" y="83600"/>
                </a:cubicBezTo>
                <a:cubicBezTo>
                  <a:pt x="126529" y="79843"/>
                  <a:pt x="123507" y="76821"/>
                  <a:pt x="119751" y="76821"/>
                </a:cubicBezTo>
                <a:lnTo>
                  <a:pt x="51967" y="76821"/>
                </a:lnTo>
                <a:cubicBezTo>
                  <a:pt x="48211" y="76821"/>
                  <a:pt x="45189" y="79843"/>
                  <a:pt x="45189" y="83600"/>
                </a:cubicBezTo>
                <a:close/>
                <a:moveTo>
                  <a:pt x="101675" y="49708"/>
                </a:moveTo>
                <a:cubicBezTo>
                  <a:pt x="97919" y="49708"/>
                  <a:pt x="94897" y="52730"/>
                  <a:pt x="94897" y="56486"/>
                </a:cubicBezTo>
                <a:cubicBezTo>
                  <a:pt x="94897" y="60243"/>
                  <a:pt x="97919" y="63265"/>
                  <a:pt x="101675" y="63265"/>
                </a:cubicBezTo>
                <a:lnTo>
                  <a:pt x="119751" y="63265"/>
                </a:lnTo>
                <a:cubicBezTo>
                  <a:pt x="123507" y="63265"/>
                  <a:pt x="126529" y="60243"/>
                  <a:pt x="126529" y="56486"/>
                </a:cubicBezTo>
                <a:cubicBezTo>
                  <a:pt x="126529" y="52730"/>
                  <a:pt x="123507" y="49708"/>
                  <a:pt x="119751" y="49708"/>
                </a:cubicBezTo>
                <a:lnTo>
                  <a:pt x="101675" y="49708"/>
                </a:ln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748134" y="2991514"/>
            <a:ext cx="1599692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Richer Text Sources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5076" y="3316875"/>
            <a:ext cx="5124436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Incorporate </a:t>
            </a:r>
            <a:r>
              <a:rPr lang="en-US" sz="1139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news headlines, earnings transcripts, filtered social media</a:t>
            </a: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weighted by source reliability and engagement metrics.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68546" y="3967597"/>
            <a:ext cx="5287116" cy="976083"/>
          </a:xfrm>
          <a:custGeom>
            <a:avLst/>
            <a:gdLst/>
            <a:ahLst/>
            <a:cxnLst/>
            <a:rect l="l" t="t" r="r" b="b"/>
            <a:pathLst>
              <a:path w="5287116" h="976083">
                <a:moveTo>
                  <a:pt x="36151" y="0"/>
                </a:moveTo>
                <a:lnTo>
                  <a:pt x="5214818" y="0"/>
                </a:lnTo>
                <a:cubicBezTo>
                  <a:pt x="5254747" y="0"/>
                  <a:pt x="5287116" y="32369"/>
                  <a:pt x="5287116" y="72298"/>
                </a:cubicBezTo>
                <a:lnTo>
                  <a:pt x="5287116" y="903785"/>
                </a:lnTo>
                <a:cubicBezTo>
                  <a:pt x="5287116" y="943714"/>
                  <a:pt x="5254747" y="976083"/>
                  <a:pt x="5214818" y="976083"/>
                </a:cubicBezTo>
                <a:lnTo>
                  <a:pt x="36151" y="976083"/>
                </a:lnTo>
                <a:cubicBezTo>
                  <a:pt x="16185" y="976083"/>
                  <a:pt x="0" y="959898"/>
                  <a:pt x="0" y="939932"/>
                </a:cubicBezTo>
                <a:lnTo>
                  <a:pt x="0" y="36151"/>
                </a:lnTo>
                <a:cubicBezTo>
                  <a:pt x="0" y="16199"/>
                  <a:pt x="16199" y="0"/>
                  <a:pt x="3615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368546" y="3967597"/>
            <a:ext cx="36151" cy="976083"/>
          </a:xfrm>
          <a:custGeom>
            <a:avLst/>
            <a:gdLst/>
            <a:ahLst/>
            <a:cxnLst/>
            <a:rect l="l" t="t" r="r" b="b"/>
            <a:pathLst>
              <a:path w="36151" h="976083">
                <a:moveTo>
                  <a:pt x="36151" y="0"/>
                </a:moveTo>
                <a:lnTo>
                  <a:pt x="36151" y="0"/>
                </a:lnTo>
                <a:lnTo>
                  <a:pt x="36151" y="976083"/>
                </a:lnTo>
                <a:lnTo>
                  <a:pt x="36151" y="976083"/>
                </a:lnTo>
                <a:cubicBezTo>
                  <a:pt x="16185" y="976083"/>
                  <a:pt x="0" y="959898"/>
                  <a:pt x="0" y="939932"/>
                </a:cubicBezTo>
                <a:lnTo>
                  <a:pt x="0" y="36151"/>
                </a:lnTo>
                <a:cubicBezTo>
                  <a:pt x="0" y="16199"/>
                  <a:pt x="16199" y="0"/>
                  <a:pt x="36151" y="0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513151" y="4130277"/>
            <a:ext cx="144605" cy="144605"/>
          </a:xfrm>
          <a:custGeom>
            <a:avLst/>
            <a:gdLst/>
            <a:ahLst/>
            <a:cxnLst/>
            <a:rect l="l" t="t" r="r" b="b"/>
            <a:pathLst>
              <a:path w="144605" h="144605">
                <a:moveTo>
                  <a:pt x="33892" y="15816"/>
                </a:moveTo>
                <a:cubicBezTo>
                  <a:pt x="33892" y="7089"/>
                  <a:pt x="40981" y="0"/>
                  <a:pt x="49708" y="0"/>
                </a:cubicBezTo>
                <a:lnTo>
                  <a:pt x="56486" y="0"/>
                </a:lnTo>
                <a:cubicBezTo>
                  <a:pt x="61485" y="0"/>
                  <a:pt x="65524" y="4039"/>
                  <a:pt x="65524" y="9038"/>
                </a:cubicBezTo>
                <a:lnTo>
                  <a:pt x="65524" y="135567"/>
                </a:lnTo>
                <a:cubicBezTo>
                  <a:pt x="65524" y="140566"/>
                  <a:pt x="61485" y="144605"/>
                  <a:pt x="56486" y="144605"/>
                </a:cubicBezTo>
                <a:lnTo>
                  <a:pt x="47448" y="144605"/>
                </a:lnTo>
                <a:cubicBezTo>
                  <a:pt x="39032" y="144605"/>
                  <a:pt x="31943" y="138843"/>
                  <a:pt x="29938" y="131048"/>
                </a:cubicBezTo>
                <a:cubicBezTo>
                  <a:pt x="29740" y="131048"/>
                  <a:pt x="29571" y="131048"/>
                  <a:pt x="29373" y="131048"/>
                </a:cubicBezTo>
                <a:cubicBezTo>
                  <a:pt x="16889" y="131048"/>
                  <a:pt x="6778" y="120937"/>
                  <a:pt x="6778" y="108454"/>
                </a:cubicBezTo>
                <a:cubicBezTo>
                  <a:pt x="6778" y="103370"/>
                  <a:pt x="8473" y="98682"/>
                  <a:pt x="11297" y="94897"/>
                </a:cubicBezTo>
                <a:cubicBezTo>
                  <a:pt x="5818" y="90773"/>
                  <a:pt x="2259" y="84221"/>
                  <a:pt x="2259" y="76821"/>
                </a:cubicBezTo>
                <a:cubicBezTo>
                  <a:pt x="2259" y="68094"/>
                  <a:pt x="7230" y="60497"/>
                  <a:pt x="14460" y="56740"/>
                </a:cubicBezTo>
                <a:cubicBezTo>
                  <a:pt x="12455" y="53351"/>
                  <a:pt x="11297" y="49397"/>
                  <a:pt x="11297" y="45189"/>
                </a:cubicBezTo>
                <a:cubicBezTo>
                  <a:pt x="11297" y="32706"/>
                  <a:pt x="21408" y="22595"/>
                  <a:pt x="33892" y="22595"/>
                </a:cubicBezTo>
                <a:lnTo>
                  <a:pt x="33892" y="15816"/>
                </a:lnTo>
                <a:close/>
                <a:moveTo>
                  <a:pt x="110713" y="15816"/>
                </a:moveTo>
                <a:lnTo>
                  <a:pt x="110713" y="22595"/>
                </a:lnTo>
                <a:cubicBezTo>
                  <a:pt x="123197" y="22595"/>
                  <a:pt x="133308" y="32706"/>
                  <a:pt x="133308" y="45189"/>
                </a:cubicBezTo>
                <a:cubicBezTo>
                  <a:pt x="133308" y="49426"/>
                  <a:pt x="132150" y="53380"/>
                  <a:pt x="130144" y="56740"/>
                </a:cubicBezTo>
                <a:cubicBezTo>
                  <a:pt x="137403" y="60497"/>
                  <a:pt x="142345" y="68066"/>
                  <a:pt x="142345" y="76821"/>
                </a:cubicBezTo>
                <a:cubicBezTo>
                  <a:pt x="142345" y="84221"/>
                  <a:pt x="138787" y="90773"/>
                  <a:pt x="133308" y="94897"/>
                </a:cubicBezTo>
                <a:cubicBezTo>
                  <a:pt x="136132" y="98682"/>
                  <a:pt x="137827" y="103370"/>
                  <a:pt x="137827" y="108454"/>
                </a:cubicBezTo>
                <a:cubicBezTo>
                  <a:pt x="137827" y="120937"/>
                  <a:pt x="127715" y="131048"/>
                  <a:pt x="115232" y="131048"/>
                </a:cubicBezTo>
                <a:cubicBezTo>
                  <a:pt x="115034" y="131048"/>
                  <a:pt x="114865" y="131048"/>
                  <a:pt x="114667" y="131048"/>
                </a:cubicBezTo>
                <a:cubicBezTo>
                  <a:pt x="112662" y="138843"/>
                  <a:pt x="105573" y="144605"/>
                  <a:pt x="97156" y="144605"/>
                </a:cubicBezTo>
                <a:lnTo>
                  <a:pt x="88119" y="144605"/>
                </a:lnTo>
                <a:cubicBezTo>
                  <a:pt x="83120" y="144605"/>
                  <a:pt x="79081" y="140566"/>
                  <a:pt x="79081" y="135567"/>
                </a:cubicBezTo>
                <a:lnTo>
                  <a:pt x="79081" y="9038"/>
                </a:lnTo>
                <a:cubicBezTo>
                  <a:pt x="79081" y="4039"/>
                  <a:pt x="83120" y="0"/>
                  <a:pt x="88119" y="0"/>
                </a:cubicBezTo>
                <a:lnTo>
                  <a:pt x="94897" y="0"/>
                </a:lnTo>
                <a:cubicBezTo>
                  <a:pt x="103624" y="0"/>
                  <a:pt x="110713" y="7089"/>
                  <a:pt x="110713" y="15816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748134" y="4076050"/>
            <a:ext cx="2033506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Explicit Regime Detection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95076" y="4401411"/>
            <a:ext cx="5124436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</a:t>
            </a:r>
            <a:r>
              <a:rPr lang="en-US" sz="1139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uncertainty-aware architectures</a:t>
            </a: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directly model predictive reliability rather than learning through auxiliary features.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8546" y="5052133"/>
            <a:ext cx="5287116" cy="976083"/>
          </a:xfrm>
          <a:custGeom>
            <a:avLst/>
            <a:gdLst/>
            <a:ahLst/>
            <a:cxnLst/>
            <a:rect l="l" t="t" r="r" b="b"/>
            <a:pathLst>
              <a:path w="5287116" h="976083">
                <a:moveTo>
                  <a:pt x="36151" y="0"/>
                </a:moveTo>
                <a:lnTo>
                  <a:pt x="5214818" y="0"/>
                </a:lnTo>
                <a:cubicBezTo>
                  <a:pt x="5254747" y="0"/>
                  <a:pt x="5287116" y="32369"/>
                  <a:pt x="5287116" y="72298"/>
                </a:cubicBezTo>
                <a:lnTo>
                  <a:pt x="5287116" y="903785"/>
                </a:lnTo>
                <a:cubicBezTo>
                  <a:pt x="5287116" y="943714"/>
                  <a:pt x="5254747" y="976083"/>
                  <a:pt x="5214818" y="976083"/>
                </a:cubicBezTo>
                <a:lnTo>
                  <a:pt x="36151" y="976083"/>
                </a:lnTo>
                <a:cubicBezTo>
                  <a:pt x="16185" y="976083"/>
                  <a:pt x="0" y="959898"/>
                  <a:pt x="0" y="939932"/>
                </a:cubicBezTo>
                <a:lnTo>
                  <a:pt x="0" y="36151"/>
                </a:lnTo>
                <a:cubicBezTo>
                  <a:pt x="0" y="16199"/>
                  <a:pt x="16199" y="0"/>
                  <a:pt x="3615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6368546" y="5052133"/>
            <a:ext cx="36151" cy="976083"/>
          </a:xfrm>
          <a:custGeom>
            <a:avLst/>
            <a:gdLst/>
            <a:ahLst/>
            <a:cxnLst/>
            <a:rect l="l" t="t" r="r" b="b"/>
            <a:pathLst>
              <a:path w="36151" h="976083">
                <a:moveTo>
                  <a:pt x="36151" y="0"/>
                </a:moveTo>
                <a:lnTo>
                  <a:pt x="36151" y="0"/>
                </a:lnTo>
                <a:lnTo>
                  <a:pt x="36151" y="976083"/>
                </a:lnTo>
                <a:lnTo>
                  <a:pt x="36151" y="976083"/>
                </a:lnTo>
                <a:cubicBezTo>
                  <a:pt x="16185" y="976083"/>
                  <a:pt x="0" y="959898"/>
                  <a:pt x="0" y="939932"/>
                </a:cubicBezTo>
                <a:lnTo>
                  <a:pt x="0" y="36151"/>
                </a:lnTo>
                <a:cubicBezTo>
                  <a:pt x="0" y="16199"/>
                  <a:pt x="16199" y="0"/>
                  <a:pt x="36151" y="0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6495076" y="5214814"/>
            <a:ext cx="180756" cy="144605"/>
          </a:xfrm>
          <a:custGeom>
            <a:avLst/>
            <a:gdLst/>
            <a:ahLst/>
            <a:cxnLst/>
            <a:rect l="l" t="t" r="r" b="b"/>
            <a:pathLst>
              <a:path w="180756" h="144605">
                <a:moveTo>
                  <a:pt x="99416" y="0"/>
                </a:moveTo>
                <a:cubicBezTo>
                  <a:pt x="99416" y="-4999"/>
                  <a:pt x="95377" y="-9038"/>
                  <a:pt x="90378" y="-9038"/>
                </a:cubicBezTo>
                <a:cubicBezTo>
                  <a:pt x="85379" y="-9038"/>
                  <a:pt x="81340" y="-4999"/>
                  <a:pt x="81340" y="0"/>
                </a:cubicBezTo>
                <a:lnTo>
                  <a:pt x="81340" y="18076"/>
                </a:lnTo>
                <a:lnTo>
                  <a:pt x="54227" y="18076"/>
                </a:lnTo>
                <a:cubicBezTo>
                  <a:pt x="39258" y="18076"/>
                  <a:pt x="27113" y="30220"/>
                  <a:pt x="27113" y="45189"/>
                </a:cubicBezTo>
                <a:lnTo>
                  <a:pt x="27113" y="108454"/>
                </a:lnTo>
                <a:cubicBezTo>
                  <a:pt x="27113" y="123423"/>
                  <a:pt x="39258" y="135567"/>
                  <a:pt x="54227" y="135567"/>
                </a:cubicBezTo>
                <a:lnTo>
                  <a:pt x="126529" y="135567"/>
                </a:lnTo>
                <a:cubicBezTo>
                  <a:pt x="141498" y="135567"/>
                  <a:pt x="153643" y="123423"/>
                  <a:pt x="153643" y="108454"/>
                </a:cubicBezTo>
                <a:lnTo>
                  <a:pt x="153643" y="45189"/>
                </a:lnTo>
                <a:cubicBezTo>
                  <a:pt x="153643" y="30220"/>
                  <a:pt x="141498" y="18076"/>
                  <a:pt x="126529" y="18076"/>
                </a:cubicBezTo>
                <a:lnTo>
                  <a:pt x="99416" y="18076"/>
                </a:lnTo>
                <a:lnTo>
                  <a:pt x="99416" y="0"/>
                </a:lnTo>
                <a:close/>
                <a:moveTo>
                  <a:pt x="45189" y="103935"/>
                </a:moveTo>
                <a:cubicBezTo>
                  <a:pt x="45189" y="100178"/>
                  <a:pt x="48211" y="97156"/>
                  <a:pt x="51967" y="97156"/>
                </a:cubicBezTo>
                <a:lnTo>
                  <a:pt x="61005" y="97156"/>
                </a:lnTo>
                <a:cubicBezTo>
                  <a:pt x="64762" y="97156"/>
                  <a:pt x="67784" y="100178"/>
                  <a:pt x="67784" y="103935"/>
                </a:cubicBezTo>
                <a:cubicBezTo>
                  <a:pt x="67784" y="107691"/>
                  <a:pt x="64762" y="110713"/>
                  <a:pt x="61005" y="110713"/>
                </a:cubicBezTo>
                <a:lnTo>
                  <a:pt x="51967" y="110713"/>
                </a:lnTo>
                <a:cubicBezTo>
                  <a:pt x="48211" y="110713"/>
                  <a:pt x="45189" y="107691"/>
                  <a:pt x="45189" y="103935"/>
                </a:cubicBezTo>
                <a:close/>
                <a:moveTo>
                  <a:pt x="79081" y="103935"/>
                </a:moveTo>
                <a:cubicBezTo>
                  <a:pt x="79081" y="100178"/>
                  <a:pt x="82103" y="97156"/>
                  <a:pt x="85859" y="97156"/>
                </a:cubicBezTo>
                <a:lnTo>
                  <a:pt x="94897" y="97156"/>
                </a:lnTo>
                <a:cubicBezTo>
                  <a:pt x="98653" y="97156"/>
                  <a:pt x="101675" y="100178"/>
                  <a:pt x="101675" y="103935"/>
                </a:cubicBezTo>
                <a:cubicBezTo>
                  <a:pt x="101675" y="107691"/>
                  <a:pt x="98653" y="110713"/>
                  <a:pt x="94897" y="110713"/>
                </a:cubicBezTo>
                <a:lnTo>
                  <a:pt x="85859" y="110713"/>
                </a:lnTo>
                <a:cubicBezTo>
                  <a:pt x="82103" y="110713"/>
                  <a:pt x="79081" y="107691"/>
                  <a:pt x="79081" y="103935"/>
                </a:cubicBezTo>
                <a:close/>
                <a:moveTo>
                  <a:pt x="112973" y="103935"/>
                </a:moveTo>
                <a:cubicBezTo>
                  <a:pt x="112973" y="100178"/>
                  <a:pt x="115995" y="97156"/>
                  <a:pt x="119751" y="97156"/>
                </a:cubicBezTo>
                <a:lnTo>
                  <a:pt x="128789" y="97156"/>
                </a:lnTo>
                <a:cubicBezTo>
                  <a:pt x="132545" y="97156"/>
                  <a:pt x="135567" y="100178"/>
                  <a:pt x="135567" y="103935"/>
                </a:cubicBezTo>
                <a:cubicBezTo>
                  <a:pt x="135567" y="107691"/>
                  <a:pt x="132545" y="110713"/>
                  <a:pt x="128789" y="110713"/>
                </a:cubicBezTo>
                <a:lnTo>
                  <a:pt x="119751" y="110713"/>
                </a:lnTo>
                <a:cubicBezTo>
                  <a:pt x="115995" y="110713"/>
                  <a:pt x="112973" y="107691"/>
                  <a:pt x="112973" y="103935"/>
                </a:cubicBezTo>
                <a:close/>
                <a:moveTo>
                  <a:pt x="63265" y="49708"/>
                </a:moveTo>
                <a:cubicBezTo>
                  <a:pt x="70747" y="49708"/>
                  <a:pt x="76821" y="55782"/>
                  <a:pt x="76821" y="63265"/>
                </a:cubicBezTo>
                <a:cubicBezTo>
                  <a:pt x="76821" y="70747"/>
                  <a:pt x="70747" y="76821"/>
                  <a:pt x="63265" y="76821"/>
                </a:cubicBezTo>
                <a:cubicBezTo>
                  <a:pt x="55782" y="76821"/>
                  <a:pt x="49708" y="70747"/>
                  <a:pt x="49708" y="63265"/>
                </a:cubicBezTo>
                <a:cubicBezTo>
                  <a:pt x="49708" y="55782"/>
                  <a:pt x="55782" y="49708"/>
                  <a:pt x="63265" y="49708"/>
                </a:cubicBezTo>
                <a:close/>
                <a:moveTo>
                  <a:pt x="103935" y="63265"/>
                </a:moveTo>
                <a:cubicBezTo>
                  <a:pt x="103935" y="55782"/>
                  <a:pt x="110009" y="49708"/>
                  <a:pt x="117491" y="49708"/>
                </a:cubicBezTo>
                <a:cubicBezTo>
                  <a:pt x="124974" y="49708"/>
                  <a:pt x="131048" y="55782"/>
                  <a:pt x="131048" y="63265"/>
                </a:cubicBezTo>
                <a:cubicBezTo>
                  <a:pt x="131048" y="70747"/>
                  <a:pt x="124974" y="76821"/>
                  <a:pt x="117491" y="76821"/>
                </a:cubicBezTo>
                <a:cubicBezTo>
                  <a:pt x="110009" y="76821"/>
                  <a:pt x="103935" y="70747"/>
                  <a:pt x="103935" y="63265"/>
                </a:cubicBezTo>
                <a:close/>
                <a:moveTo>
                  <a:pt x="18076" y="63265"/>
                </a:moveTo>
                <a:cubicBezTo>
                  <a:pt x="18076" y="58266"/>
                  <a:pt x="14037" y="54227"/>
                  <a:pt x="9038" y="54227"/>
                </a:cubicBezTo>
                <a:cubicBezTo>
                  <a:pt x="4039" y="54227"/>
                  <a:pt x="0" y="58266"/>
                  <a:pt x="0" y="63265"/>
                </a:cubicBezTo>
                <a:lnTo>
                  <a:pt x="0" y="90378"/>
                </a:lnTo>
                <a:cubicBezTo>
                  <a:pt x="0" y="95377"/>
                  <a:pt x="4039" y="99416"/>
                  <a:pt x="9038" y="99416"/>
                </a:cubicBezTo>
                <a:cubicBezTo>
                  <a:pt x="14037" y="99416"/>
                  <a:pt x="18076" y="95377"/>
                  <a:pt x="18076" y="90378"/>
                </a:cubicBezTo>
                <a:lnTo>
                  <a:pt x="18076" y="63265"/>
                </a:lnTo>
                <a:close/>
                <a:moveTo>
                  <a:pt x="171718" y="54227"/>
                </a:moveTo>
                <a:cubicBezTo>
                  <a:pt x="166719" y="54227"/>
                  <a:pt x="162681" y="58266"/>
                  <a:pt x="162681" y="63265"/>
                </a:cubicBezTo>
                <a:lnTo>
                  <a:pt x="162681" y="90378"/>
                </a:lnTo>
                <a:cubicBezTo>
                  <a:pt x="162681" y="95377"/>
                  <a:pt x="166719" y="99416"/>
                  <a:pt x="171718" y="99416"/>
                </a:cubicBezTo>
                <a:cubicBezTo>
                  <a:pt x="176717" y="99416"/>
                  <a:pt x="180756" y="95377"/>
                  <a:pt x="180756" y="90378"/>
                </a:cubicBezTo>
                <a:lnTo>
                  <a:pt x="180756" y="63265"/>
                </a:lnTo>
                <a:cubicBezTo>
                  <a:pt x="180756" y="58266"/>
                  <a:pt x="176717" y="54227"/>
                  <a:pt x="171718" y="54227"/>
                </a:cubicBez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748134" y="5160587"/>
            <a:ext cx="1888901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95076" y="5485948"/>
            <a:ext cx="5124436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 as </a:t>
            </a:r>
            <a:r>
              <a:rPr lang="en-US" sz="1139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continuously adaptive decision process</a:t>
            </a:r>
            <a:r>
              <a:rPr lang="en-US" sz="113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RL for dynamic allocation, online calibration, and regime-dependent model selection.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druva.com/2188b066338b021978efd0fbe398cdc038e34965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21868" b="21868"/>
          <a:stretch/>
        </p:blipFill>
        <p:spPr>
          <a:xfrm>
            <a:off x="0" y="0"/>
            <a:ext cx="12192000" cy="685973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736"/>
          </a:xfrm>
          <a:custGeom>
            <a:avLst/>
            <a:gdLst/>
            <a:ahLst/>
            <a:cxnLst/>
            <a:rect l="l" t="t" r="r" b="b"/>
            <a:pathLst>
              <a:path w="12192000" h="6859736">
                <a:moveTo>
                  <a:pt x="0" y="0"/>
                </a:moveTo>
                <a:lnTo>
                  <a:pt x="12192000" y="0"/>
                </a:lnTo>
                <a:lnTo>
                  <a:pt x="12192000" y="6859736"/>
                </a:lnTo>
                <a:lnTo>
                  <a:pt x="0" y="685973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4A5568">
                  <a:alpha val="8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5266884" y="-97203"/>
            <a:ext cx="1657075" cy="481385"/>
          </a:xfrm>
          <a:custGeom>
            <a:avLst/>
            <a:gdLst/>
            <a:ahLst/>
            <a:cxnLst/>
            <a:rect l="l" t="t" r="r" b="b"/>
            <a:pathLst>
              <a:path w="1657075" h="481385">
                <a:moveTo>
                  <a:pt x="240692" y="0"/>
                </a:moveTo>
                <a:lnTo>
                  <a:pt x="1416383" y="0"/>
                </a:lnTo>
                <a:cubicBezTo>
                  <a:pt x="1549224" y="0"/>
                  <a:pt x="1657075" y="107851"/>
                  <a:pt x="1657075" y="240692"/>
                </a:cubicBezTo>
                <a:lnTo>
                  <a:pt x="1657075" y="240692"/>
                </a:lnTo>
                <a:cubicBezTo>
                  <a:pt x="1657075" y="373534"/>
                  <a:pt x="1549224" y="481385"/>
                  <a:pt x="1416383" y="481385"/>
                </a:cubicBezTo>
                <a:lnTo>
                  <a:pt x="240692" y="481385"/>
                </a:lnTo>
                <a:cubicBezTo>
                  <a:pt x="107851" y="481385"/>
                  <a:pt x="0" y="373534"/>
                  <a:pt x="0" y="240692"/>
                </a:cubicBezTo>
                <a:lnTo>
                  <a:pt x="0" y="240692"/>
                </a:lnTo>
                <a:cubicBezTo>
                  <a:pt x="0" y="107851"/>
                  <a:pt x="107851" y="0"/>
                  <a:pt x="240692" y="0"/>
                </a:cubicBezTo>
                <a:close/>
              </a:path>
            </a:pathLst>
          </a:custGeom>
          <a:solidFill>
            <a:srgbClr val="63B3ED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442774" y="13886"/>
            <a:ext cx="1305294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8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9207" y="606360"/>
            <a:ext cx="11673585" cy="1110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499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prediction must be evaluated as 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499" b="1" dirty="0">
                <a:solidFill>
                  <a:srgbClr val="63B3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system</a:t>
            </a:r>
            <a:r>
              <a:rPr lang="en-US" sz="3499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a classification task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70296" y="2235663"/>
            <a:ext cx="3665932" cy="2277321"/>
          </a:xfrm>
          <a:custGeom>
            <a:avLst/>
            <a:gdLst/>
            <a:ahLst/>
            <a:cxnLst/>
            <a:rect l="l" t="t" r="r" b="b"/>
            <a:pathLst>
              <a:path w="3665932" h="2277321">
                <a:moveTo>
                  <a:pt x="111088" y="0"/>
                </a:moveTo>
                <a:lnTo>
                  <a:pt x="3554844" y="0"/>
                </a:lnTo>
                <a:cubicBezTo>
                  <a:pt x="3616196" y="0"/>
                  <a:pt x="3665932" y="49736"/>
                  <a:pt x="3665932" y="111088"/>
                </a:cubicBezTo>
                <a:lnTo>
                  <a:pt x="3665932" y="2166233"/>
                </a:lnTo>
                <a:cubicBezTo>
                  <a:pt x="3665932" y="2227586"/>
                  <a:pt x="3616196" y="2277321"/>
                  <a:pt x="3554844" y="2277321"/>
                </a:cubicBezTo>
                <a:lnTo>
                  <a:pt x="111088" y="2277321"/>
                </a:lnTo>
                <a:cubicBezTo>
                  <a:pt x="49736" y="2277321"/>
                  <a:pt x="0" y="2227586"/>
                  <a:pt x="0" y="2166233"/>
                </a:cubicBezTo>
                <a:lnTo>
                  <a:pt x="0" y="111088"/>
                </a:lnTo>
                <a:cubicBezTo>
                  <a:pt x="0" y="49777"/>
                  <a:pt x="49777" y="0"/>
                  <a:pt x="11108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1909050" y="2457841"/>
            <a:ext cx="592474" cy="592474"/>
          </a:xfrm>
          <a:custGeom>
            <a:avLst/>
            <a:gdLst/>
            <a:ahLst/>
            <a:cxnLst/>
            <a:rect l="l" t="t" r="r" b="b"/>
            <a:pathLst>
              <a:path w="592474" h="592474">
                <a:moveTo>
                  <a:pt x="296237" y="0"/>
                </a:moveTo>
                <a:lnTo>
                  <a:pt x="296237" y="0"/>
                </a:lnTo>
                <a:cubicBezTo>
                  <a:pt x="459734" y="0"/>
                  <a:pt x="592474" y="132739"/>
                  <a:pt x="592474" y="296237"/>
                </a:cubicBezTo>
                <a:lnTo>
                  <a:pt x="592474" y="296237"/>
                </a:lnTo>
                <a:cubicBezTo>
                  <a:pt x="592474" y="459734"/>
                  <a:pt x="459734" y="592474"/>
                  <a:pt x="296237" y="592474"/>
                </a:cubicBezTo>
                <a:lnTo>
                  <a:pt x="296237" y="592474"/>
                </a:lnTo>
                <a:cubicBezTo>
                  <a:pt x="132739" y="592474"/>
                  <a:pt x="0" y="459734"/>
                  <a:pt x="0" y="296237"/>
                </a:cubicBezTo>
                <a:lnTo>
                  <a:pt x="0" y="296237"/>
                </a:lnTo>
                <a:cubicBezTo>
                  <a:pt x="0" y="132739"/>
                  <a:pt x="132739" y="0"/>
                  <a:pt x="296237" y="0"/>
                </a:cubicBezTo>
                <a:close/>
              </a:path>
            </a:pathLst>
          </a:custGeom>
          <a:solidFill>
            <a:srgbClr val="63B3ED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2068740" y="2615216"/>
            <a:ext cx="277722" cy="277722"/>
          </a:xfrm>
          <a:custGeom>
            <a:avLst/>
            <a:gdLst/>
            <a:ahLst/>
            <a:cxnLst/>
            <a:rect l="l" t="t" r="r" b="b"/>
            <a:pathLst>
              <a:path w="277722" h="277722">
                <a:moveTo>
                  <a:pt x="121503" y="0"/>
                </a:moveTo>
                <a:cubicBezTo>
                  <a:pt x="140651" y="0"/>
                  <a:pt x="156219" y="11662"/>
                  <a:pt x="156219" y="26036"/>
                </a:cubicBezTo>
                <a:cubicBezTo>
                  <a:pt x="156219" y="31678"/>
                  <a:pt x="153832" y="36885"/>
                  <a:pt x="149710" y="41170"/>
                </a:cubicBezTo>
                <a:cubicBezTo>
                  <a:pt x="146130" y="44913"/>
                  <a:pt x="143200" y="49469"/>
                  <a:pt x="143200" y="54677"/>
                </a:cubicBezTo>
                <a:cubicBezTo>
                  <a:pt x="143200" y="62813"/>
                  <a:pt x="149818" y="69431"/>
                  <a:pt x="157954" y="69431"/>
                </a:cubicBezTo>
                <a:lnTo>
                  <a:pt x="182255" y="69431"/>
                </a:lnTo>
                <a:cubicBezTo>
                  <a:pt x="196629" y="69431"/>
                  <a:pt x="208292" y="81093"/>
                  <a:pt x="208292" y="95467"/>
                </a:cubicBezTo>
                <a:lnTo>
                  <a:pt x="208292" y="119768"/>
                </a:lnTo>
                <a:cubicBezTo>
                  <a:pt x="208292" y="127904"/>
                  <a:pt x="214909" y="134522"/>
                  <a:pt x="223046" y="134522"/>
                </a:cubicBezTo>
                <a:cubicBezTo>
                  <a:pt x="228199" y="134522"/>
                  <a:pt x="232809" y="131593"/>
                  <a:pt x="236552" y="128013"/>
                </a:cubicBezTo>
                <a:cubicBezTo>
                  <a:pt x="240837" y="123944"/>
                  <a:pt x="246044" y="121503"/>
                  <a:pt x="251686" y="121503"/>
                </a:cubicBezTo>
                <a:cubicBezTo>
                  <a:pt x="266060" y="121503"/>
                  <a:pt x="277722" y="137071"/>
                  <a:pt x="277722" y="156219"/>
                </a:cubicBezTo>
                <a:cubicBezTo>
                  <a:pt x="277722" y="175366"/>
                  <a:pt x="266060" y="190934"/>
                  <a:pt x="251686" y="190934"/>
                </a:cubicBezTo>
                <a:cubicBezTo>
                  <a:pt x="246044" y="190934"/>
                  <a:pt x="240783" y="188547"/>
                  <a:pt x="236552" y="184425"/>
                </a:cubicBezTo>
                <a:cubicBezTo>
                  <a:pt x="232809" y="180845"/>
                  <a:pt x="228253" y="177916"/>
                  <a:pt x="223046" y="177916"/>
                </a:cubicBezTo>
                <a:cubicBezTo>
                  <a:pt x="214909" y="177916"/>
                  <a:pt x="208292" y="184533"/>
                  <a:pt x="208292" y="192670"/>
                </a:cubicBezTo>
                <a:lnTo>
                  <a:pt x="208292" y="251686"/>
                </a:lnTo>
                <a:cubicBezTo>
                  <a:pt x="208292" y="266060"/>
                  <a:pt x="196629" y="277722"/>
                  <a:pt x="182255" y="277722"/>
                </a:cubicBezTo>
                <a:lnTo>
                  <a:pt x="151445" y="277722"/>
                </a:lnTo>
                <a:cubicBezTo>
                  <a:pt x="144502" y="277722"/>
                  <a:pt x="138861" y="272081"/>
                  <a:pt x="138861" y="265138"/>
                </a:cubicBezTo>
                <a:cubicBezTo>
                  <a:pt x="138861" y="260147"/>
                  <a:pt x="142007" y="255754"/>
                  <a:pt x="146021" y="252771"/>
                </a:cubicBezTo>
                <a:cubicBezTo>
                  <a:pt x="152313" y="248051"/>
                  <a:pt x="156219" y="241542"/>
                  <a:pt x="156219" y="234328"/>
                </a:cubicBezTo>
                <a:cubicBezTo>
                  <a:pt x="156219" y="219954"/>
                  <a:pt x="140651" y="208292"/>
                  <a:pt x="121503" y="208292"/>
                </a:cubicBezTo>
                <a:cubicBezTo>
                  <a:pt x="102356" y="208292"/>
                  <a:pt x="86788" y="219954"/>
                  <a:pt x="86788" y="234328"/>
                </a:cubicBezTo>
                <a:cubicBezTo>
                  <a:pt x="86788" y="241542"/>
                  <a:pt x="90694" y="248051"/>
                  <a:pt x="96986" y="252771"/>
                </a:cubicBezTo>
                <a:cubicBezTo>
                  <a:pt x="101000" y="255754"/>
                  <a:pt x="104146" y="260093"/>
                  <a:pt x="104146" y="265138"/>
                </a:cubicBezTo>
                <a:cubicBezTo>
                  <a:pt x="104146" y="272081"/>
                  <a:pt x="98505" y="277722"/>
                  <a:pt x="91562" y="277722"/>
                </a:cubicBezTo>
                <a:lnTo>
                  <a:pt x="26036" y="277722"/>
                </a:lnTo>
                <a:cubicBezTo>
                  <a:pt x="11662" y="277722"/>
                  <a:pt x="0" y="266060"/>
                  <a:pt x="0" y="251686"/>
                </a:cubicBezTo>
                <a:lnTo>
                  <a:pt x="0" y="186161"/>
                </a:lnTo>
                <a:cubicBezTo>
                  <a:pt x="0" y="179218"/>
                  <a:pt x="5641" y="173576"/>
                  <a:pt x="12584" y="173576"/>
                </a:cubicBezTo>
                <a:cubicBezTo>
                  <a:pt x="17575" y="173576"/>
                  <a:pt x="21968" y="176722"/>
                  <a:pt x="24952" y="180736"/>
                </a:cubicBezTo>
                <a:cubicBezTo>
                  <a:pt x="29671" y="187028"/>
                  <a:pt x="36180" y="190934"/>
                  <a:pt x="43394" y="190934"/>
                </a:cubicBezTo>
                <a:cubicBezTo>
                  <a:pt x="57768" y="190934"/>
                  <a:pt x="69431" y="175366"/>
                  <a:pt x="69431" y="156219"/>
                </a:cubicBezTo>
                <a:cubicBezTo>
                  <a:pt x="69431" y="137071"/>
                  <a:pt x="57768" y="121503"/>
                  <a:pt x="43394" y="121503"/>
                </a:cubicBezTo>
                <a:cubicBezTo>
                  <a:pt x="36180" y="121503"/>
                  <a:pt x="29671" y="125409"/>
                  <a:pt x="24952" y="131701"/>
                </a:cubicBezTo>
                <a:cubicBezTo>
                  <a:pt x="21968" y="135715"/>
                  <a:pt x="17629" y="138861"/>
                  <a:pt x="12584" y="138861"/>
                </a:cubicBezTo>
                <a:cubicBezTo>
                  <a:pt x="5641" y="138861"/>
                  <a:pt x="0" y="133220"/>
                  <a:pt x="0" y="126277"/>
                </a:cubicBezTo>
                <a:lnTo>
                  <a:pt x="0" y="95467"/>
                </a:lnTo>
                <a:cubicBezTo>
                  <a:pt x="0" y="81093"/>
                  <a:pt x="11662" y="69431"/>
                  <a:pt x="26036" y="69431"/>
                </a:cubicBezTo>
                <a:lnTo>
                  <a:pt x="85052" y="69431"/>
                </a:lnTo>
                <a:cubicBezTo>
                  <a:pt x="93189" y="69431"/>
                  <a:pt x="99806" y="62813"/>
                  <a:pt x="99806" y="54677"/>
                </a:cubicBezTo>
                <a:cubicBezTo>
                  <a:pt x="99806" y="49523"/>
                  <a:pt x="96877" y="44913"/>
                  <a:pt x="93297" y="41170"/>
                </a:cubicBezTo>
                <a:cubicBezTo>
                  <a:pt x="89229" y="36885"/>
                  <a:pt x="86788" y="31678"/>
                  <a:pt x="86788" y="26036"/>
                </a:cubicBezTo>
                <a:cubicBezTo>
                  <a:pt x="86788" y="11662"/>
                  <a:pt x="102356" y="0"/>
                  <a:pt x="121503" y="0"/>
                </a:cubicBez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46187" y="3198433"/>
            <a:ext cx="3314150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Framework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5444" y="3568729"/>
            <a:ext cx="3295636" cy="72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6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Bridged prediction and investment through calibration, meta-features, and principled allocation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62456" y="2235663"/>
            <a:ext cx="3665932" cy="2277321"/>
          </a:xfrm>
          <a:custGeom>
            <a:avLst/>
            <a:gdLst/>
            <a:ahLst/>
            <a:cxnLst/>
            <a:rect l="l" t="t" r="r" b="b"/>
            <a:pathLst>
              <a:path w="3665932" h="2277321">
                <a:moveTo>
                  <a:pt x="111088" y="0"/>
                </a:moveTo>
                <a:lnTo>
                  <a:pt x="3554844" y="0"/>
                </a:lnTo>
                <a:cubicBezTo>
                  <a:pt x="3616196" y="0"/>
                  <a:pt x="3665932" y="49736"/>
                  <a:pt x="3665932" y="111088"/>
                </a:cubicBezTo>
                <a:lnTo>
                  <a:pt x="3665932" y="2166233"/>
                </a:lnTo>
                <a:cubicBezTo>
                  <a:pt x="3665932" y="2227586"/>
                  <a:pt x="3616196" y="2277321"/>
                  <a:pt x="3554844" y="2277321"/>
                </a:cubicBezTo>
                <a:lnTo>
                  <a:pt x="111088" y="2277321"/>
                </a:lnTo>
                <a:cubicBezTo>
                  <a:pt x="49736" y="2277321"/>
                  <a:pt x="0" y="2227586"/>
                  <a:pt x="0" y="2166233"/>
                </a:cubicBezTo>
                <a:lnTo>
                  <a:pt x="0" y="111088"/>
                </a:lnTo>
                <a:cubicBezTo>
                  <a:pt x="0" y="49777"/>
                  <a:pt x="49777" y="0"/>
                  <a:pt x="11108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5801210" y="2457841"/>
            <a:ext cx="592474" cy="592474"/>
          </a:xfrm>
          <a:custGeom>
            <a:avLst/>
            <a:gdLst/>
            <a:ahLst/>
            <a:cxnLst/>
            <a:rect l="l" t="t" r="r" b="b"/>
            <a:pathLst>
              <a:path w="592474" h="592474">
                <a:moveTo>
                  <a:pt x="296237" y="0"/>
                </a:moveTo>
                <a:lnTo>
                  <a:pt x="296237" y="0"/>
                </a:lnTo>
                <a:cubicBezTo>
                  <a:pt x="459734" y="0"/>
                  <a:pt x="592474" y="132739"/>
                  <a:pt x="592474" y="296237"/>
                </a:cubicBezTo>
                <a:lnTo>
                  <a:pt x="592474" y="296237"/>
                </a:lnTo>
                <a:cubicBezTo>
                  <a:pt x="592474" y="459734"/>
                  <a:pt x="459734" y="592474"/>
                  <a:pt x="296237" y="592474"/>
                </a:cubicBezTo>
                <a:lnTo>
                  <a:pt x="296237" y="592474"/>
                </a:lnTo>
                <a:cubicBezTo>
                  <a:pt x="132739" y="592474"/>
                  <a:pt x="0" y="459734"/>
                  <a:pt x="0" y="296237"/>
                </a:cubicBezTo>
                <a:lnTo>
                  <a:pt x="0" y="296237"/>
                </a:lnTo>
                <a:cubicBezTo>
                  <a:pt x="0" y="132739"/>
                  <a:pt x="132739" y="0"/>
                  <a:pt x="296237" y="0"/>
                </a:cubicBezTo>
                <a:close/>
              </a:path>
            </a:pathLst>
          </a:custGeom>
          <a:solidFill>
            <a:srgbClr val="48BB78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5960900" y="2615216"/>
            <a:ext cx="277722" cy="277722"/>
          </a:xfrm>
          <a:custGeom>
            <a:avLst/>
            <a:gdLst/>
            <a:ahLst/>
            <a:cxnLst/>
            <a:rect l="l" t="t" r="r" b="b"/>
            <a:pathLst>
              <a:path w="277722" h="277722">
                <a:moveTo>
                  <a:pt x="34715" y="34715"/>
                </a:moveTo>
                <a:cubicBezTo>
                  <a:pt x="34715" y="25114"/>
                  <a:pt x="26959" y="17358"/>
                  <a:pt x="17358" y="17358"/>
                </a:cubicBezTo>
                <a:cubicBezTo>
                  <a:pt x="7757" y="17358"/>
                  <a:pt x="0" y="25114"/>
                  <a:pt x="0" y="34715"/>
                </a:cubicBezTo>
                <a:lnTo>
                  <a:pt x="0" y="216970"/>
                </a:lnTo>
                <a:cubicBezTo>
                  <a:pt x="0" y="240946"/>
                  <a:pt x="19419" y="260364"/>
                  <a:pt x="43394" y="260364"/>
                </a:cubicBezTo>
                <a:lnTo>
                  <a:pt x="260364" y="260364"/>
                </a:lnTo>
                <a:cubicBezTo>
                  <a:pt x="269965" y="260364"/>
                  <a:pt x="277722" y="252608"/>
                  <a:pt x="277722" y="243007"/>
                </a:cubicBezTo>
                <a:cubicBezTo>
                  <a:pt x="277722" y="233406"/>
                  <a:pt x="269965" y="225649"/>
                  <a:pt x="260364" y="225649"/>
                </a:cubicBezTo>
                <a:lnTo>
                  <a:pt x="43394" y="225649"/>
                </a:lnTo>
                <a:cubicBezTo>
                  <a:pt x="38621" y="225649"/>
                  <a:pt x="34715" y="221744"/>
                  <a:pt x="34715" y="216970"/>
                </a:cubicBezTo>
                <a:lnTo>
                  <a:pt x="34715" y="34715"/>
                </a:lnTo>
                <a:close/>
                <a:moveTo>
                  <a:pt x="255266" y="81689"/>
                </a:moveTo>
                <a:cubicBezTo>
                  <a:pt x="262046" y="74909"/>
                  <a:pt x="262046" y="63898"/>
                  <a:pt x="255266" y="57117"/>
                </a:cubicBezTo>
                <a:cubicBezTo>
                  <a:pt x="248485" y="50337"/>
                  <a:pt x="237474" y="50337"/>
                  <a:pt x="230694" y="57117"/>
                </a:cubicBezTo>
                <a:lnTo>
                  <a:pt x="173576" y="114289"/>
                </a:lnTo>
                <a:lnTo>
                  <a:pt x="142441" y="83208"/>
                </a:lnTo>
                <a:cubicBezTo>
                  <a:pt x="135661" y="76428"/>
                  <a:pt x="124649" y="76428"/>
                  <a:pt x="117869" y="83208"/>
                </a:cubicBezTo>
                <a:lnTo>
                  <a:pt x="65796" y="135281"/>
                </a:lnTo>
                <a:cubicBezTo>
                  <a:pt x="59016" y="142061"/>
                  <a:pt x="59016" y="153073"/>
                  <a:pt x="65796" y="159853"/>
                </a:cubicBezTo>
                <a:cubicBezTo>
                  <a:pt x="72577" y="166633"/>
                  <a:pt x="83588" y="166633"/>
                  <a:pt x="90368" y="159853"/>
                </a:cubicBezTo>
                <a:lnTo>
                  <a:pt x="130182" y="120039"/>
                </a:lnTo>
                <a:lnTo>
                  <a:pt x="161317" y="151174"/>
                </a:lnTo>
                <a:cubicBezTo>
                  <a:pt x="168098" y="157954"/>
                  <a:pt x="179109" y="157954"/>
                  <a:pt x="185889" y="151174"/>
                </a:cubicBezTo>
                <a:lnTo>
                  <a:pt x="255320" y="81744"/>
                </a:lnTo>
                <a:close/>
              </a:path>
            </a:pathLst>
          </a:cu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438346" y="3198433"/>
            <a:ext cx="3314150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Economic Outcomes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47604" y="3568729"/>
            <a:ext cx="3295636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6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12.47% return with Sharpe 4.34, demonstrating practical value beyond accuracy metrics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54615" y="2235663"/>
            <a:ext cx="3665932" cy="2277321"/>
          </a:xfrm>
          <a:custGeom>
            <a:avLst/>
            <a:gdLst/>
            <a:ahLst/>
            <a:cxnLst/>
            <a:rect l="l" t="t" r="r" b="b"/>
            <a:pathLst>
              <a:path w="3665932" h="2277321">
                <a:moveTo>
                  <a:pt x="111088" y="0"/>
                </a:moveTo>
                <a:lnTo>
                  <a:pt x="3554844" y="0"/>
                </a:lnTo>
                <a:cubicBezTo>
                  <a:pt x="3616196" y="0"/>
                  <a:pt x="3665932" y="49736"/>
                  <a:pt x="3665932" y="111088"/>
                </a:cubicBezTo>
                <a:lnTo>
                  <a:pt x="3665932" y="2166233"/>
                </a:lnTo>
                <a:cubicBezTo>
                  <a:pt x="3665932" y="2227586"/>
                  <a:pt x="3616196" y="2277321"/>
                  <a:pt x="3554844" y="2277321"/>
                </a:cubicBezTo>
                <a:lnTo>
                  <a:pt x="111088" y="2277321"/>
                </a:lnTo>
                <a:cubicBezTo>
                  <a:pt x="49736" y="2277321"/>
                  <a:pt x="0" y="2227586"/>
                  <a:pt x="0" y="2166233"/>
                </a:cubicBezTo>
                <a:lnTo>
                  <a:pt x="0" y="111088"/>
                </a:lnTo>
                <a:cubicBezTo>
                  <a:pt x="0" y="49777"/>
                  <a:pt x="49777" y="0"/>
                  <a:pt x="11108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9693369" y="2457841"/>
            <a:ext cx="592474" cy="592474"/>
          </a:xfrm>
          <a:custGeom>
            <a:avLst/>
            <a:gdLst/>
            <a:ahLst/>
            <a:cxnLst/>
            <a:rect l="l" t="t" r="r" b="b"/>
            <a:pathLst>
              <a:path w="592474" h="592474">
                <a:moveTo>
                  <a:pt x="296237" y="0"/>
                </a:moveTo>
                <a:lnTo>
                  <a:pt x="296237" y="0"/>
                </a:lnTo>
                <a:cubicBezTo>
                  <a:pt x="459734" y="0"/>
                  <a:pt x="592474" y="132739"/>
                  <a:pt x="592474" y="296237"/>
                </a:cubicBezTo>
                <a:lnTo>
                  <a:pt x="592474" y="296237"/>
                </a:lnTo>
                <a:cubicBezTo>
                  <a:pt x="592474" y="459734"/>
                  <a:pt x="459734" y="592474"/>
                  <a:pt x="296237" y="592474"/>
                </a:cubicBezTo>
                <a:lnTo>
                  <a:pt x="296237" y="592474"/>
                </a:lnTo>
                <a:cubicBezTo>
                  <a:pt x="132739" y="592474"/>
                  <a:pt x="0" y="459734"/>
                  <a:pt x="0" y="296237"/>
                </a:cubicBezTo>
                <a:lnTo>
                  <a:pt x="0" y="296237"/>
                </a:lnTo>
                <a:cubicBezTo>
                  <a:pt x="0" y="132739"/>
                  <a:pt x="132739" y="0"/>
                  <a:pt x="296237" y="0"/>
                </a:cubicBezTo>
                <a:close/>
              </a:path>
            </a:pathLst>
          </a:custGeom>
          <a:solidFill>
            <a:srgbClr val="63B3ED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9853059" y="2615216"/>
            <a:ext cx="277722" cy="277722"/>
          </a:xfrm>
          <a:custGeom>
            <a:avLst/>
            <a:gdLst/>
            <a:ahLst/>
            <a:cxnLst/>
            <a:rect l="l" t="t" r="r" b="b"/>
            <a:pathLst>
              <a:path w="277722" h="277722">
                <a:moveTo>
                  <a:pt x="138861" y="0"/>
                </a:moveTo>
                <a:cubicBezTo>
                  <a:pt x="141356" y="0"/>
                  <a:pt x="143851" y="542"/>
                  <a:pt x="146130" y="1573"/>
                </a:cubicBezTo>
                <a:lnTo>
                  <a:pt x="248323" y="44913"/>
                </a:lnTo>
                <a:cubicBezTo>
                  <a:pt x="260256" y="49957"/>
                  <a:pt x="269152" y="61728"/>
                  <a:pt x="269098" y="75940"/>
                </a:cubicBezTo>
                <a:cubicBezTo>
                  <a:pt x="268826" y="129748"/>
                  <a:pt x="246695" y="228199"/>
                  <a:pt x="153235" y="272949"/>
                </a:cubicBezTo>
                <a:cubicBezTo>
                  <a:pt x="144177" y="277288"/>
                  <a:pt x="133654" y="277288"/>
                  <a:pt x="124595" y="272949"/>
                </a:cubicBezTo>
                <a:cubicBezTo>
                  <a:pt x="31081" y="228199"/>
                  <a:pt x="9004" y="129748"/>
                  <a:pt x="8733" y="75940"/>
                </a:cubicBezTo>
                <a:cubicBezTo>
                  <a:pt x="8679" y="61728"/>
                  <a:pt x="17575" y="49957"/>
                  <a:pt x="29508" y="44913"/>
                </a:cubicBezTo>
                <a:lnTo>
                  <a:pt x="131647" y="1573"/>
                </a:lnTo>
                <a:cubicBezTo>
                  <a:pt x="133925" y="542"/>
                  <a:pt x="136366" y="0"/>
                  <a:pt x="138861" y="0"/>
                </a:cubicBezTo>
                <a:close/>
                <a:moveTo>
                  <a:pt x="138861" y="36234"/>
                </a:moveTo>
                <a:lnTo>
                  <a:pt x="138861" y="241325"/>
                </a:lnTo>
                <a:cubicBezTo>
                  <a:pt x="213716" y="205091"/>
                  <a:pt x="233840" y="124812"/>
                  <a:pt x="234328" y="76753"/>
                </a:cubicBezTo>
                <a:lnTo>
                  <a:pt x="138861" y="36288"/>
                </a:lnTo>
                <a:lnTo>
                  <a:pt x="138861" y="36288"/>
                </a:lnTo>
                <a:close/>
              </a:path>
            </a:pathLst>
          </a:custGeom>
          <a:solidFill>
            <a:srgbClr val="63B3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8330506" y="3198433"/>
            <a:ext cx="3314150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Trust-Aware Design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39763" y="3568729"/>
            <a:ext cx="3295636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6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learn when to trust themselves through meta-features and reliability modeling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70296" y="4809221"/>
            <a:ext cx="11451408" cy="1259007"/>
          </a:xfrm>
          <a:custGeom>
            <a:avLst/>
            <a:gdLst/>
            <a:ahLst/>
            <a:cxnLst/>
            <a:rect l="l" t="t" r="r" b="b"/>
            <a:pathLst>
              <a:path w="11451408" h="1259007">
                <a:moveTo>
                  <a:pt x="111095" y="0"/>
                </a:moveTo>
                <a:lnTo>
                  <a:pt x="11340313" y="0"/>
                </a:lnTo>
                <a:cubicBezTo>
                  <a:pt x="11401669" y="0"/>
                  <a:pt x="11451408" y="49739"/>
                  <a:pt x="11451408" y="111095"/>
                </a:cubicBezTo>
                <a:lnTo>
                  <a:pt x="11451408" y="1147912"/>
                </a:lnTo>
                <a:cubicBezTo>
                  <a:pt x="11451408" y="1209268"/>
                  <a:pt x="11401669" y="1259007"/>
                  <a:pt x="11340313" y="1259007"/>
                </a:cubicBezTo>
                <a:lnTo>
                  <a:pt x="111095" y="1259007"/>
                </a:lnTo>
                <a:cubicBezTo>
                  <a:pt x="49739" y="1259007"/>
                  <a:pt x="0" y="1209268"/>
                  <a:pt x="0" y="1147912"/>
                </a:cubicBezTo>
                <a:lnTo>
                  <a:pt x="0" y="111095"/>
                </a:lnTo>
                <a:cubicBezTo>
                  <a:pt x="0" y="49780"/>
                  <a:pt x="49780" y="0"/>
                  <a:pt x="111095" y="0"/>
                </a:cubicBezTo>
                <a:close/>
              </a:path>
            </a:pathLst>
          </a:custGeom>
          <a:gradFill flip="none" rotWithShape="1">
            <a:gsLst>
              <a:gs pos="0">
                <a:srgbClr val="63B3ED">
                  <a:alpha val="20000"/>
                </a:srgbClr>
              </a:gs>
              <a:gs pos="100000">
                <a:srgbClr val="48BB78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119022" y="5031399"/>
            <a:ext cx="1944055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MCC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3086621" y="5290606"/>
            <a:ext cx="2008856" cy="33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7" b="1" dirty="0">
                <a:solidFill>
                  <a:srgbClr val="63B3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0.086 → 0.152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119022" y="5623872"/>
            <a:ext cx="1944055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1-day to 5-day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324453" y="5142487"/>
            <a:ext cx="9257" cy="592474"/>
          </a:xfrm>
          <a:custGeom>
            <a:avLst/>
            <a:gdLst/>
            <a:ahLst/>
            <a:cxnLst/>
            <a:rect l="l" t="t" r="r" b="b"/>
            <a:pathLst>
              <a:path w="9257" h="592474">
                <a:moveTo>
                  <a:pt x="0" y="0"/>
                </a:moveTo>
                <a:lnTo>
                  <a:pt x="9257" y="0"/>
                </a:lnTo>
                <a:lnTo>
                  <a:pt x="9257" y="592474"/>
                </a:lnTo>
                <a:lnTo>
                  <a:pt x="0" y="592474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5592918" y="5031399"/>
            <a:ext cx="103682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Return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5560517" y="5290606"/>
            <a:ext cx="1101631" cy="33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7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12.47%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592918" y="5623872"/>
            <a:ext cx="103682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MPT + Meta 5D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890401" y="5142487"/>
            <a:ext cx="9257" cy="592474"/>
          </a:xfrm>
          <a:custGeom>
            <a:avLst/>
            <a:gdLst/>
            <a:ahLst/>
            <a:cxnLst/>
            <a:rect l="l" t="t" r="r" b="b"/>
            <a:pathLst>
              <a:path w="9257" h="592474">
                <a:moveTo>
                  <a:pt x="0" y="0"/>
                </a:moveTo>
                <a:lnTo>
                  <a:pt x="9257" y="0"/>
                </a:lnTo>
                <a:lnTo>
                  <a:pt x="9257" y="592474"/>
                </a:lnTo>
                <a:lnTo>
                  <a:pt x="0" y="592474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7158866" y="5031399"/>
            <a:ext cx="191628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Drawdown Reduction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2" name="Text 29"/>
          <p:cNvSpPr/>
          <p:nvPr/>
        </p:nvSpPr>
        <p:spPr>
          <a:xfrm>
            <a:off x="7126465" y="5290606"/>
            <a:ext cx="1981084" cy="33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7" b="1" dirty="0">
                <a:solidFill>
                  <a:srgbClr val="48BB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-3.5% → -1.1%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158866" y="5623872"/>
            <a:ext cx="191628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early exit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4" name="Text 31"/>
          <p:cNvSpPr/>
          <p:nvPr/>
        </p:nvSpPr>
        <p:spPr>
          <a:xfrm>
            <a:off x="319380" y="6160802"/>
            <a:ext cx="11543982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324009" y="6470926"/>
            <a:ext cx="11534724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2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1573</Words>
  <Application>Microsoft Macintosh PowerPoint</Application>
  <PresentationFormat>Widescreen</PresentationFormat>
  <Paragraphs>317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Liter</vt:lpstr>
      <vt:lpstr>MiSans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Trust-Aware Stock Trend Prediction and Investment Strategy Optimisation</dc:title>
  <dc:subject>Trust-Aware Stock Trend Prediction and Investment Strategy Optimisation</dc:subject>
  <dc:creator>Kimi</dc:creator>
  <cp:lastModifiedBy>Dylan Huang</cp:lastModifiedBy>
  <cp:revision>2</cp:revision>
  <dcterms:created xsi:type="dcterms:W3CDTF">2026-03-17T16:21:33Z</dcterms:created>
  <dcterms:modified xsi:type="dcterms:W3CDTF">2026-03-17T19:03:18Z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{"Label":"Trust-Aware Stock Trend Prediction and Investment Strategy Optimisation","ContentProducer":"001191110108MACG2KBH8F10000","ProduceID":"19cfc948-5e62-8666-8000-000026bdbdee","ReservedCode1":"","ContentPropagator":"001191110108MACG2KBH8F20000","PropagateID":"19cfc948-5e62-8666-8000-000026bdbdee","ReservedCode2":""}</vt:lpwstr>
  </property>
</Properties>
</file>